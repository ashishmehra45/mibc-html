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1" d="100"/>
          <a:sy n="81" d="100"/>
        </p:scale>
        <p:origin x="6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6385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date. This moved from 29 July; say it once, plainly, no apology. Then set the shape: first what the bottle costs, then the three gates. Today closes Phase 2. Wednesday the twelfth opens Phase 3 on pricing.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Numbers, never names. Everything is healthy except the last figure. State it, do not scold, move on. This slide earns you the chase later.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them out once, briskly. Point at four as the practical centre and eight as the one that takes longest in real life. Do not linger.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certain number in their whole India cost, and it is the same for everyone in the room. Say it, then warn them: if freight is not evidenced on a separate invoice, customs imputes it at twenty per cent of FOB, and at one hundred and fifty per cent duty that mistake costs thirty per cent of FOB.</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them find their own column. Walk the ten dollar one once, slowly: FOB ten, CIF ten thirty-six, duty fifteen fifty on a ten dollar bottle, twenty-five ninety at the port, two thousand four hundred and seventy-five rupees. Then move on. This is not where the money goes.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changes how a premium house thinks. Above roughly fifteen dollars FOB, extra cost comes out of their margin and not out of the Indian shelf price, because the market anchors against Don Julio. Say the line: cheap bottles are priced by the tax floor, premium bottles are priced by Don Julio.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plan-at figure, not a range, so they can actually work with it. These are retail shelf prices. Trade sources from mid to late 2025, so present them as indicative and say so.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right down. This is the most commercially valuable slide in the session and the one they will remember. The formula is published by the state; it is not our interpretation. Do not put the formula on stage and do not give a target number.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points, no more. Then close with the ask: this is why we need the pricing sheet, and why Phase 3 cannot be personalised without 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two is new and it is the one the old checklist missed: it tests the legal band, not the tolerance. Two, five and six are decided in Mexico months before anyone in India sees the bottle. Invite anyone unsure to send artwork before Friday.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for the rest of the session. Say the sequencing rule out loud, because getting the order wrong is the most expensive avoidable mistake in the whole route: they pay twice, once for artwork and once for re-filing.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minutes, no more. The Irish whiskey case is the story that lands. Add for the mezcal houses that Tequila has been a protected Geographical Indication in India since 2013 but mezcal has no protection at all, so their own filing matters more, not less. Then make the Council offer plainly.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rectification rule the right way round: a short list of exclusions, not a short list of permissions. Houses that think only four items are fixable over-print their Mexican label and pay for artwork they never needed. The vegetarian mark line is a correction to what we circulated earlier: deliver it briefly, without drama.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constitutional reason in one sentence: alcohol sits in the State List, so every state legislates for itself and there is no mutual recognition. Then the three rules. One SKU and one pack size, because every fee is per label and per pack size. File in the first half of the excise year. And do not register in Tamil Nadu early, because it makes you undertake your price is the lowest in India and that becomes a permanent national floor.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this one land hard, then say it plainly: three SKUs in this cohort are above the band today. Do not name the houses from the stage. Say three SKUs, invite them to speak to you privately, and have the names ready for the one-to-ones.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of the eighteen labelled houses in this cohort are not selling tequila. They will discover the classification problem at a port if we do not tell them here, so say it without softening.</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sends, one date. Be specific that the pricing sheet is the blocker. Name the two houses with unreadable artwork privately, not from the stage.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warm and short. Anyone with a high-proof expression, an unreadable artwork file, or no pricing sheet should stay behind or book a call this week.</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hyperlink" Target="mailto:ceo@mexicoindia.org" TargetMode="External"/><Relationship Id="rId4" Type="http://schemas.openxmlformats.org/officeDocument/2006/relationships/hyperlink" Target="mailto:office.ceo@mexicoindia.org"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8F1"/>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366760" y="2103120"/>
            <a:ext cx="3383280" cy="3383280"/>
          </a:xfrm>
          <a:prstGeom prst="rect">
            <a:avLst/>
          </a:prstGeom>
        </p:spPr>
      </p:pic>
      <p:sp>
        <p:nvSpPr>
          <p:cNvPr id="3" name="Shape 0"/>
          <p:cNvSpPr/>
          <p:nvPr/>
        </p:nvSpPr>
        <p:spPr>
          <a:xfrm>
            <a:off x="5001768" y="566928"/>
            <a:ext cx="2194560" cy="0"/>
          </a:xfrm>
          <a:prstGeom prst="line">
            <a:avLst/>
          </a:prstGeom>
          <a:noFill/>
          <a:ln w="12700">
            <a:solidFill>
              <a:srgbClr val="6E5630"/>
            </a:solidFill>
            <a:prstDash val="solid"/>
          </a:ln>
        </p:spPr>
      </p:sp>
      <p:sp>
        <p:nvSpPr>
          <p:cNvPr id="4" name="Text 1"/>
          <p:cNvSpPr/>
          <p:nvPr/>
        </p:nvSpPr>
        <p:spPr>
          <a:xfrm>
            <a:off x="3813048" y="640080"/>
            <a:ext cx="4572000" cy="365760"/>
          </a:xfrm>
          <a:prstGeom prst="rect">
            <a:avLst/>
          </a:prstGeom>
          <a:noFill/>
          <a:ln/>
        </p:spPr>
        <p:txBody>
          <a:bodyPr wrap="square" lIns="0" tIns="0" rIns="0" bIns="0" rtlCol="0" anchor="ctr"/>
          <a:lstStyle/>
          <a:p>
            <a:pPr marL="0" indent="0" algn="ctr">
              <a:buNone/>
            </a:pPr>
            <a:r>
              <a:rPr lang="en-US" sz="1700" b="1" kern="0" spc="340" dirty="0">
                <a:solidFill>
                  <a:srgbClr val="26221C"/>
                </a:solidFill>
                <a:latin typeface="Bookman Old Style" pitchFamily="34" charset="0"/>
                <a:ea typeface="Bookman Old Style" pitchFamily="34" charset="-122"/>
                <a:cs typeface="Bookman Old Style" pitchFamily="34" charset="-120"/>
              </a:rPr>
              <a:t>MÉXICO–INDIA</a:t>
            </a:r>
            <a:endParaRPr lang="en-US" sz="1700" dirty="0"/>
          </a:p>
        </p:txBody>
      </p:sp>
      <p:sp>
        <p:nvSpPr>
          <p:cNvPr id="5" name="Text 2"/>
          <p:cNvSpPr/>
          <p:nvPr/>
        </p:nvSpPr>
        <p:spPr>
          <a:xfrm>
            <a:off x="3813048" y="969264"/>
            <a:ext cx="4572000" cy="256032"/>
          </a:xfrm>
          <a:prstGeom prst="rect">
            <a:avLst/>
          </a:prstGeom>
          <a:noFill/>
          <a:ln/>
        </p:spPr>
        <p:txBody>
          <a:bodyPr wrap="square" lIns="0" tIns="0" rIns="0" bIns="0" rtlCol="0" anchor="ctr"/>
          <a:lstStyle/>
          <a:p>
            <a:pPr marL="0" indent="0" algn="ctr">
              <a:buNone/>
            </a:pPr>
            <a:r>
              <a:rPr lang="en-US" sz="850" kern="0" spc="240" dirty="0">
                <a:solidFill>
                  <a:srgbClr val="4A4338"/>
                </a:solidFill>
                <a:latin typeface="Calibri" pitchFamily="34" charset="0"/>
                <a:ea typeface="Calibri" pitchFamily="34" charset="-122"/>
                <a:cs typeface="Calibri" pitchFamily="34" charset="-120"/>
              </a:rPr>
              <a:t>B U S I N E S S   C O U N C I L</a:t>
            </a:r>
            <a:endParaRPr lang="en-US" sz="850" dirty="0"/>
          </a:p>
        </p:txBody>
      </p:sp>
      <p:sp>
        <p:nvSpPr>
          <p:cNvPr id="6" name="Shape 3"/>
          <p:cNvSpPr/>
          <p:nvPr/>
        </p:nvSpPr>
        <p:spPr>
          <a:xfrm>
            <a:off x="5001768" y="1261872"/>
            <a:ext cx="2194560" cy="0"/>
          </a:xfrm>
          <a:prstGeom prst="line">
            <a:avLst/>
          </a:prstGeom>
          <a:noFill/>
          <a:ln w="12700">
            <a:solidFill>
              <a:srgbClr val="6E5630"/>
            </a:solidFill>
            <a:prstDash val="solid"/>
          </a:ln>
        </p:spPr>
      </p:sp>
      <p:sp>
        <p:nvSpPr>
          <p:cNvPr id="7" name="Text 4"/>
          <p:cNvSpPr/>
          <p:nvPr/>
        </p:nvSpPr>
        <p:spPr>
          <a:xfrm>
            <a:off x="822960" y="2286000"/>
            <a:ext cx="9601200" cy="320040"/>
          </a:xfrm>
          <a:prstGeom prst="rect">
            <a:avLst/>
          </a:prstGeom>
          <a:noFill/>
          <a:ln/>
        </p:spPr>
        <p:txBody>
          <a:bodyPr wrap="square" lIns="0" tIns="0" rIns="0" bIns="0" rtlCol="0" anchor="ctr"/>
          <a:lstStyle/>
          <a:p>
            <a:pPr marL="0" indent="0">
              <a:buNone/>
            </a:pPr>
            <a:r>
              <a:rPr lang="en-US" sz="1100" b="1" kern="0" spc="260" dirty="0">
                <a:solidFill>
                  <a:srgbClr val="8B6E3D"/>
                </a:solidFill>
                <a:latin typeface="Calibri" pitchFamily="34" charset="0"/>
                <a:ea typeface="Calibri" pitchFamily="34" charset="-122"/>
                <a:cs typeface="Calibri" pitchFamily="34" charset="-120"/>
              </a:rPr>
              <a:t>C O H O R T   1      ·      S E S S I O N   4   O F   8</a:t>
            </a:r>
            <a:endParaRPr lang="en-US" sz="1100" dirty="0"/>
          </a:p>
        </p:txBody>
      </p:sp>
      <p:sp>
        <p:nvSpPr>
          <p:cNvPr id="8" name="Text 5"/>
          <p:cNvSpPr/>
          <p:nvPr/>
        </p:nvSpPr>
        <p:spPr>
          <a:xfrm>
            <a:off x="822960" y="2651760"/>
            <a:ext cx="7406640" cy="1600200"/>
          </a:xfrm>
          <a:prstGeom prst="rect">
            <a:avLst/>
          </a:prstGeom>
          <a:noFill/>
          <a:ln/>
        </p:spPr>
        <p:txBody>
          <a:bodyPr wrap="square" lIns="0" tIns="0" rIns="0" bIns="0" rtlCol="0" anchor="ctr"/>
          <a:lstStyle/>
          <a:p>
            <a:pPr marL="0" indent="0">
              <a:lnSpc>
                <a:spcPts val="5200"/>
              </a:lnSpc>
              <a:buNone/>
            </a:pPr>
            <a:r>
              <a:rPr lang="en-US" sz="4000" dirty="0">
                <a:solidFill>
                  <a:srgbClr val="26221C"/>
                </a:solidFill>
                <a:latin typeface="Bookman Old Style" pitchFamily="34" charset="0"/>
                <a:ea typeface="Bookman Old Style" pitchFamily="34" charset="-122"/>
                <a:cs typeface="Bookman Old Style" pitchFamily="34" charset="-120"/>
              </a:rPr>
              <a:t>Labelling, Import</a:t>
            </a:r>
            <a:endParaRPr lang="en-US" sz="4000" dirty="0"/>
          </a:p>
          <a:p>
            <a:pPr marL="0" indent="0">
              <a:lnSpc>
                <a:spcPts val="5200"/>
              </a:lnSpc>
              <a:buNone/>
            </a:pPr>
            <a:r>
              <a:rPr lang="en-US" sz="4000" dirty="0">
                <a:solidFill>
                  <a:srgbClr val="26221C"/>
                </a:solidFill>
                <a:latin typeface="Bookman Old Style" pitchFamily="34" charset="0"/>
                <a:ea typeface="Bookman Old Style" pitchFamily="34" charset="-122"/>
                <a:cs typeface="Bookman Old Style" pitchFamily="34" charset="-120"/>
              </a:rPr>
              <a:t>&amp; Customs</a:t>
            </a:r>
            <a:endParaRPr lang="en-US" sz="4000" dirty="0"/>
          </a:p>
        </p:txBody>
      </p:sp>
      <p:sp>
        <p:nvSpPr>
          <p:cNvPr id="9" name="Shape 6"/>
          <p:cNvSpPr/>
          <p:nvPr/>
        </p:nvSpPr>
        <p:spPr>
          <a:xfrm>
            <a:off x="850392" y="4434840"/>
            <a:ext cx="2926080" cy="0"/>
          </a:xfrm>
          <a:prstGeom prst="line">
            <a:avLst/>
          </a:prstGeom>
          <a:noFill/>
          <a:ln w="12700">
            <a:solidFill>
              <a:srgbClr val="6E5630"/>
            </a:solidFill>
            <a:prstDash val="solid"/>
          </a:ln>
        </p:spPr>
      </p:sp>
      <p:sp>
        <p:nvSpPr>
          <p:cNvPr id="10" name="Text 7"/>
          <p:cNvSpPr/>
          <p:nvPr/>
        </p:nvSpPr>
        <p:spPr>
          <a:xfrm>
            <a:off x="822960" y="4709160"/>
            <a:ext cx="7040880" cy="731520"/>
          </a:xfrm>
          <a:prstGeom prst="rect">
            <a:avLst/>
          </a:prstGeom>
          <a:noFill/>
          <a:ln/>
        </p:spPr>
        <p:txBody>
          <a:bodyPr wrap="square" lIns="0" tIns="0" rIns="0" bIns="0" rtlCol="0" anchor="ctr"/>
          <a:lstStyle/>
          <a:p>
            <a:pPr marL="0" indent="0">
              <a:lnSpc>
                <a:spcPts val="2100"/>
              </a:lnSpc>
              <a:buNone/>
            </a:pPr>
            <a:r>
              <a:rPr lang="en-US" sz="1450" dirty="0">
                <a:solidFill>
                  <a:srgbClr val="4A4338"/>
                </a:solidFill>
                <a:latin typeface="Calibri" pitchFamily="34" charset="0"/>
                <a:ea typeface="Calibri" pitchFamily="34" charset="-122"/>
                <a:cs typeface="Calibri" pitchFamily="34" charset="-120"/>
              </a:rPr>
              <a:t>What your bottle costs to land in India, and the three gates it has to pass.</a:t>
            </a:r>
            <a:endParaRPr lang="en-US" sz="1450" dirty="0"/>
          </a:p>
        </p:txBody>
      </p:sp>
      <p:sp>
        <p:nvSpPr>
          <p:cNvPr id="11" name="Text 8"/>
          <p:cNvSpPr/>
          <p:nvPr/>
        </p:nvSpPr>
        <p:spPr>
          <a:xfrm>
            <a:off x="822960" y="6172200"/>
            <a:ext cx="7315200" cy="274320"/>
          </a:xfrm>
          <a:prstGeom prst="rect">
            <a:avLst/>
          </a:prstGeom>
          <a:noFill/>
          <a:ln/>
        </p:spPr>
        <p:txBody>
          <a:bodyPr wrap="square" lIns="0" tIns="0" rIns="0" bIns="0" rtlCol="0" anchor="ctr"/>
          <a:lstStyle/>
          <a:p>
            <a:pPr marL="0" indent="0">
              <a:buNone/>
            </a:pPr>
            <a:r>
              <a:rPr lang="en-US" sz="1250" b="1" dirty="0">
                <a:solidFill>
                  <a:srgbClr val="26221C"/>
                </a:solidFill>
                <a:latin typeface="Calibri" pitchFamily="34" charset="0"/>
                <a:ea typeface="Calibri" pitchFamily="34" charset="-122"/>
                <a:cs typeface="Calibri" pitchFamily="34" charset="-120"/>
              </a:rPr>
              <a:t>Session 4  ·  Phase 2: Compliance &amp; Market Navigation  ·  </a:t>
            </a:r>
            <a:r>
              <a:rPr lang="en-US" sz="1250" b="1" dirty="0" smtClean="0">
                <a:solidFill>
                  <a:srgbClr val="26221C"/>
                </a:solidFill>
                <a:latin typeface="Calibri" pitchFamily="34" charset="0"/>
                <a:ea typeface="Calibri" pitchFamily="34" charset="-122"/>
                <a:cs typeface="Calibri" pitchFamily="34" charset="-120"/>
              </a:rPr>
              <a:t>1 </a:t>
            </a:r>
            <a:r>
              <a:rPr lang="en-US" sz="1250" b="1" dirty="0">
                <a:solidFill>
                  <a:srgbClr val="26221C"/>
                </a:solidFill>
                <a:latin typeface="Calibri" pitchFamily="34" charset="0"/>
                <a:ea typeface="Calibri" pitchFamily="34" charset="-122"/>
                <a:cs typeface="Calibri" pitchFamily="34" charset="-120"/>
              </a:rPr>
              <a:t>August 2026</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8F1"/>
        </a:solidFill>
        <a:effectLst/>
      </p:bgPr>
    </p:bg>
    <p:spTree>
      <p:nvGrpSpPr>
        <p:cNvPr id="1" name=""/>
        <p:cNvGrpSpPr/>
        <p:nvPr/>
      </p:nvGrpSpPr>
      <p:grpSpPr>
        <a:xfrm>
          <a:off x="0" y="0"/>
          <a:ext cx="0" cy="0"/>
          <a:chOff x="0" y="0"/>
          <a:chExt cx="0" cy="0"/>
        </a:xfrm>
      </p:grpSpPr>
      <p:sp>
        <p:nvSpPr>
          <p:cNvPr id="2" name="Text 0"/>
          <p:cNvSpPr/>
          <p:nvPr/>
        </p:nvSpPr>
        <p:spPr>
          <a:xfrm>
            <a:off x="822960" y="502920"/>
            <a:ext cx="9601200" cy="310896"/>
          </a:xfrm>
          <a:prstGeom prst="rect">
            <a:avLst/>
          </a:prstGeom>
          <a:noFill/>
          <a:ln/>
        </p:spPr>
        <p:txBody>
          <a:bodyPr wrap="square" lIns="0" tIns="0" rIns="0" bIns="0" rtlCol="0" anchor="ctr"/>
          <a:lstStyle/>
          <a:p>
            <a:pPr marL="0" indent="0">
              <a:buNone/>
            </a:pPr>
            <a:r>
              <a:rPr lang="en-US" sz="1100" b="1" kern="0" spc="340" dirty="0">
                <a:solidFill>
                  <a:srgbClr val="8B6E3D"/>
                </a:solidFill>
                <a:latin typeface="Calibri" pitchFamily="34" charset="0"/>
                <a:ea typeface="Calibri" pitchFamily="34" charset="-122"/>
                <a:cs typeface="Calibri" pitchFamily="34" charset="-120"/>
              </a:rPr>
              <a:t>T H I S   W E E K      ·      W H E R E   W E   S T A N D</a:t>
            </a:r>
            <a:endParaRPr lang="en-US" sz="1100" dirty="0"/>
          </a:p>
        </p:txBody>
      </p:sp>
      <p:sp>
        <p:nvSpPr>
          <p:cNvPr id="3" name="Text 1"/>
          <p:cNvSpPr/>
          <p:nvPr/>
        </p:nvSpPr>
        <p:spPr>
          <a:xfrm>
            <a:off x="822960" y="877824"/>
            <a:ext cx="10515600" cy="914400"/>
          </a:xfrm>
          <a:prstGeom prst="rect">
            <a:avLst/>
          </a:prstGeom>
          <a:noFill/>
          <a:ln/>
        </p:spPr>
        <p:txBody>
          <a:bodyPr wrap="square" lIns="0" tIns="0" rIns="0" bIns="0" rtlCol="0" anchor="ctr"/>
          <a:lstStyle/>
          <a:p>
            <a:pPr marL="0" indent="0">
              <a:lnSpc>
                <a:spcPts val="3240"/>
              </a:lnSpc>
              <a:buNone/>
            </a:pPr>
            <a:r>
              <a:rPr lang="en-US" sz="2700" dirty="0">
                <a:solidFill>
                  <a:srgbClr val="26221C"/>
                </a:solidFill>
                <a:latin typeface="Bookman Old Style" pitchFamily="34" charset="0"/>
                <a:ea typeface="Bookman Old Style" pitchFamily="34" charset="-122"/>
                <a:cs typeface="Bookman Old Style" pitchFamily="34" charset="-120"/>
              </a:rPr>
              <a:t>Everything is ready except the pricing.</a:t>
            </a:r>
            <a:endParaRPr lang="en-US" sz="2700" dirty="0"/>
          </a:p>
        </p:txBody>
      </p:sp>
      <p:sp>
        <p:nvSpPr>
          <p:cNvPr id="4" name="Shape 2"/>
          <p:cNvSpPr/>
          <p:nvPr/>
        </p:nvSpPr>
        <p:spPr>
          <a:xfrm>
            <a:off x="822960" y="1847088"/>
            <a:ext cx="10545775" cy="0"/>
          </a:xfrm>
          <a:prstGeom prst="line">
            <a:avLst/>
          </a:prstGeom>
          <a:noFill/>
          <a:ln w="15875">
            <a:solidFill>
              <a:srgbClr val="26221C"/>
            </a:solidFill>
            <a:prstDash val="solid"/>
          </a:ln>
        </p:spPr>
      </p:sp>
      <p:sp>
        <p:nvSpPr>
          <p:cNvPr id="5" name="Text 3"/>
          <p:cNvSpPr/>
          <p:nvPr/>
        </p:nvSpPr>
        <p:spPr>
          <a:xfrm>
            <a:off x="822960" y="2103120"/>
            <a:ext cx="1743395" cy="960120"/>
          </a:xfrm>
          <a:prstGeom prst="rect">
            <a:avLst/>
          </a:prstGeom>
          <a:noFill/>
          <a:ln/>
        </p:spPr>
        <p:txBody>
          <a:bodyPr wrap="square" lIns="0" tIns="0" rIns="0" bIns="0" rtlCol="0" anchor="ctr"/>
          <a:lstStyle/>
          <a:p>
            <a:pPr marL="0" indent="0">
              <a:buNone/>
            </a:pPr>
            <a:r>
              <a:rPr lang="en-US" sz="5200" dirty="0">
                <a:solidFill>
                  <a:srgbClr val="26221C"/>
                </a:solidFill>
                <a:latin typeface="Bookman Old Style" pitchFamily="34" charset="0"/>
                <a:ea typeface="Bookman Old Style" pitchFamily="34" charset="-122"/>
                <a:cs typeface="Bookman Old Style" pitchFamily="34" charset="-120"/>
              </a:rPr>
              <a:t>30</a:t>
            </a:r>
            <a:endParaRPr lang="en-US" sz="5200" dirty="0"/>
          </a:p>
        </p:txBody>
      </p:sp>
      <p:sp>
        <p:nvSpPr>
          <p:cNvPr id="6" name="Text 4"/>
          <p:cNvSpPr/>
          <p:nvPr/>
        </p:nvSpPr>
        <p:spPr>
          <a:xfrm>
            <a:off x="822960" y="3108960"/>
            <a:ext cx="1651955" cy="822960"/>
          </a:xfrm>
          <a:prstGeom prst="rect">
            <a:avLst/>
          </a:prstGeom>
          <a:noFill/>
          <a:ln/>
        </p:spPr>
        <p:txBody>
          <a:bodyPr wrap="square" lIns="0" tIns="0" rIns="0" bIns="0" rtlCol="0" anchor="t"/>
          <a:lstStyle/>
          <a:p>
            <a:pPr marL="0" indent="0">
              <a:lnSpc>
                <a:spcPts val="1600"/>
              </a:lnSpc>
              <a:buNone/>
            </a:pPr>
            <a:r>
              <a:rPr lang="en-US" sz="1150" dirty="0">
                <a:solidFill>
                  <a:srgbClr val="4A4338"/>
                </a:solidFill>
                <a:latin typeface="Calibri" pitchFamily="34" charset="0"/>
                <a:ea typeface="Calibri" pitchFamily="34" charset="-122"/>
                <a:cs typeface="Calibri" pitchFamily="34" charset="-120"/>
              </a:rPr>
              <a:t>questionnaires returned</a:t>
            </a:r>
            <a:endParaRPr lang="en-US" sz="1150" dirty="0"/>
          </a:p>
        </p:txBody>
      </p:sp>
      <p:sp>
        <p:nvSpPr>
          <p:cNvPr id="7" name="Shape 5"/>
          <p:cNvSpPr/>
          <p:nvPr/>
        </p:nvSpPr>
        <p:spPr>
          <a:xfrm>
            <a:off x="2676083" y="2194560"/>
            <a:ext cx="0" cy="1417320"/>
          </a:xfrm>
          <a:prstGeom prst="line">
            <a:avLst/>
          </a:prstGeom>
          <a:noFill/>
          <a:ln w="9525">
            <a:solidFill>
              <a:srgbClr val="D8CDB6"/>
            </a:solidFill>
            <a:prstDash val="solid"/>
          </a:ln>
        </p:spPr>
      </p:sp>
      <p:sp>
        <p:nvSpPr>
          <p:cNvPr id="8" name="Text 6"/>
          <p:cNvSpPr/>
          <p:nvPr/>
        </p:nvSpPr>
        <p:spPr>
          <a:xfrm>
            <a:off x="2932115" y="2103120"/>
            <a:ext cx="1743395" cy="960120"/>
          </a:xfrm>
          <a:prstGeom prst="rect">
            <a:avLst/>
          </a:prstGeom>
          <a:noFill/>
          <a:ln/>
        </p:spPr>
        <p:txBody>
          <a:bodyPr wrap="square" lIns="0" tIns="0" rIns="0" bIns="0" rtlCol="0" anchor="ctr"/>
          <a:lstStyle/>
          <a:p>
            <a:pPr marL="0" indent="0">
              <a:buNone/>
            </a:pPr>
            <a:r>
              <a:rPr lang="en-US" sz="5200" dirty="0">
                <a:solidFill>
                  <a:srgbClr val="26221C"/>
                </a:solidFill>
                <a:latin typeface="Bookman Old Style" pitchFamily="34" charset="0"/>
                <a:ea typeface="Bookman Old Style" pitchFamily="34" charset="-122"/>
                <a:cs typeface="Bookman Old Style" pitchFamily="34" charset="-120"/>
              </a:rPr>
              <a:t>19</a:t>
            </a:r>
            <a:endParaRPr lang="en-US" sz="5200" dirty="0"/>
          </a:p>
        </p:txBody>
      </p:sp>
      <p:sp>
        <p:nvSpPr>
          <p:cNvPr id="9" name="Text 7"/>
          <p:cNvSpPr/>
          <p:nvPr/>
        </p:nvSpPr>
        <p:spPr>
          <a:xfrm>
            <a:off x="2932115" y="3108960"/>
            <a:ext cx="1651955" cy="822960"/>
          </a:xfrm>
          <a:prstGeom prst="rect">
            <a:avLst/>
          </a:prstGeom>
          <a:noFill/>
          <a:ln/>
        </p:spPr>
        <p:txBody>
          <a:bodyPr wrap="square" lIns="0" tIns="0" rIns="0" bIns="0" rtlCol="0" anchor="t"/>
          <a:lstStyle/>
          <a:p>
            <a:pPr marL="0" indent="0">
              <a:lnSpc>
                <a:spcPts val="1600"/>
              </a:lnSpc>
              <a:buNone/>
            </a:pPr>
            <a:r>
              <a:rPr lang="en-US" sz="1150" dirty="0">
                <a:solidFill>
                  <a:srgbClr val="4A4338"/>
                </a:solidFill>
                <a:latin typeface="Calibri" pitchFamily="34" charset="0"/>
                <a:ea typeface="Calibri" pitchFamily="34" charset="-122"/>
                <a:cs typeface="Calibri" pitchFamily="34" charset="-120"/>
              </a:rPr>
              <a:t>document folders in</a:t>
            </a:r>
            <a:endParaRPr lang="en-US" sz="1150" dirty="0"/>
          </a:p>
        </p:txBody>
      </p:sp>
      <p:sp>
        <p:nvSpPr>
          <p:cNvPr id="10" name="Shape 8"/>
          <p:cNvSpPr/>
          <p:nvPr/>
        </p:nvSpPr>
        <p:spPr>
          <a:xfrm>
            <a:off x="4785238" y="2194560"/>
            <a:ext cx="0" cy="1417320"/>
          </a:xfrm>
          <a:prstGeom prst="line">
            <a:avLst/>
          </a:prstGeom>
          <a:noFill/>
          <a:ln w="9525">
            <a:solidFill>
              <a:srgbClr val="D8CDB6"/>
            </a:solidFill>
            <a:prstDash val="solid"/>
          </a:ln>
        </p:spPr>
      </p:sp>
      <p:sp>
        <p:nvSpPr>
          <p:cNvPr id="11" name="Text 9"/>
          <p:cNvSpPr/>
          <p:nvPr/>
        </p:nvSpPr>
        <p:spPr>
          <a:xfrm>
            <a:off x="5041270" y="2103120"/>
            <a:ext cx="1743395" cy="960120"/>
          </a:xfrm>
          <a:prstGeom prst="rect">
            <a:avLst/>
          </a:prstGeom>
          <a:noFill/>
          <a:ln/>
        </p:spPr>
        <p:txBody>
          <a:bodyPr wrap="square" lIns="0" tIns="0" rIns="0" bIns="0" rtlCol="0" anchor="ctr"/>
          <a:lstStyle/>
          <a:p>
            <a:pPr marL="0" indent="0">
              <a:buNone/>
            </a:pPr>
            <a:r>
              <a:rPr lang="en-US" sz="5200" dirty="0">
                <a:solidFill>
                  <a:srgbClr val="26221C"/>
                </a:solidFill>
                <a:latin typeface="Bookman Old Style" pitchFamily="34" charset="0"/>
                <a:ea typeface="Bookman Old Style" pitchFamily="34" charset="-122"/>
                <a:cs typeface="Bookman Old Style" pitchFamily="34" charset="-120"/>
              </a:rPr>
              <a:t>22</a:t>
            </a:r>
            <a:endParaRPr lang="en-US" sz="5200" dirty="0"/>
          </a:p>
        </p:txBody>
      </p:sp>
      <p:sp>
        <p:nvSpPr>
          <p:cNvPr id="12" name="Text 10"/>
          <p:cNvSpPr/>
          <p:nvPr/>
        </p:nvSpPr>
        <p:spPr>
          <a:xfrm>
            <a:off x="5041270" y="3108960"/>
            <a:ext cx="1651955" cy="822960"/>
          </a:xfrm>
          <a:prstGeom prst="rect">
            <a:avLst/>
          </a:prstGeom>
          <a:noFill/>
          <a:ln/>
        </p:spPr>
        <p:txBody>
          <a:bodyPr wrap="square" lIns="0" tIns="0" rIns="0" bIns="0" rtlCol="0" anchor="t"/>
          <a:lstStyle/>
          <a:p>
            <a:pPr marL="0" indent="0">
              <a:lnSpc>
                <a:spcPts val="1600"/>
              </a:lnSpc>
              <a:buNone/>
            </a:pPr>
            <a:r>
              <a:rPr lang="en-US" sz="1150" dirty="0">
                <a:solidFill>
                  <a:srgbClr val="4A4338"/>
                </a:solidFill>
                <a:latin typeface="Calibri" pitchFamily="34" charset="0"/>
                <a:ea typeface="Calibri" pitchFamily="34" charset="-122"/>
                <a:cs typeface="Calibri" pitchFamily="34" charset="-120"/>
              </a:rPr>
              <a:t>label sets received</a:t>
            </a:r>
            <a:endParaRPr lang="en-US" sz="1150" dirty="0"/>
          </a:p>
        </p:txBody>
      </p:sp>
      <p:sp>
        <p:nvSpPr>
          <p:cNvPr id="13" name="Shape 11"/>
          <p:cNvSpPr/>
          <p:nvPr/>
        </p:nvSpPr>
        <p:spPr>
          <a:xfrm>
            <a:off x="6894393" y="2194560"/>
            <a:ext cx="0" cy="1417320"/>
          </a:xfrm>
          <a:prstGeom prst="line">
            <a:avLst/>
          </a:prstGeom>
          <a:noFill/>
          <a:ln w="9525">
            <a:solidFill>
              <a:srgbClr val="D8CDB6"/>
            </a:solidFill>
            <a:prstDash val="solid"/>
          </a:ln>
        </p:spPr>
      </p:sp>
      <p:sp>
        <p:nvSpPr>
          <p:cNvPr id="14" name="Text 12"/>
          <p:cNvSpPr/>
          <p:nvPr/>
        </p:nvSpPr>
        <p:spPr>
          <a:xfrm>
            <a:off x="7150425" y="2103120"/>
            <a:ext cx="1743395" cy="960120"/>
          </a:xfrm>
          <a:prstGeom prst="rect">
            <a:avLst/>
          </a:prstGeom>
          <a:noFill/>
          <a:ln/>
        </p:spPr>
        <p:txBody>
          <a:bodyPr wrap="square" lIns="0" tIns="0" rIns="0" bIns="0" rtlCol="0" anchor="ctr"/>
          <a:lstStyle/>
          <a:p>
            <a:pPr marL="0" indent="0">
              <a:buNone/>
            </a:pPr>
            <a:r>
              <a:rPr lang="en-US" sz="5200" dirty="0">
                <a:solidFill>
                  <a:srgbClr val="26221C"/>
                </a:solidFill>
                <a:latin typeface="Bookman Old Style" pitchFamily="34" charset="0"/>
                <a:ea typeface="Bookman Old Style" pitchFamily="34" charset="-122"/>
                <a:cs typeface="Bookman Old Style" pitchFamily="34" charset="-120"/>
              </a:rPr>
              <a:t>24</a:t>
            </a:r>
            <a:endParaRPr lang="en-US" sz="5200" dirty="0"/>
          </a:p>
        </p:txBody>
      </p:sp>
      <p:sp>
        <p:nvSpPr>
          <p:cNvPr id="15" name="Text 13"/>
          <p:cNvSpPr/>
          <p:nvPr/>
        </p:nvSpPr>
        <p:spPr>
          <a:xfrm>
            <a:off x="7150425" y="3108960"/>
            <a:ext cx="1651955" cy="822960"/>
          </a:xfrm>
          <a:prstGeom prst="rect">
            <a:avLst/>
          </a:prstGeom>
          <a:noFill/>
          <a:ln/>
        </p:spPr>
        <p:txBody>
          <a:bodyPr wrap="square" lIns="0" tIns="0" rIns="0" bIns="0" rtlCol="0" anchor="t"/>
          <a:lstStyle/>
          <a:p>
            <a:pPr marL="0" indent="0">
              <a:lnSpc>
                <a:spcPts val="1600"/>
              </a:lnSpc>
              <a:buNone/>
            </a:pPr>
            <a:r>
              <a:rPr lang="en-US" sz="1150" dirty="0">
                <a:solidFill>
                  <a:srgbClr val="4A4338"/>
                </a:solidFill>
                <a:latin typeface="Calibri" pitchFamily="34" charset="0"/>
                <a:ea typeface="Calibri" pitchFamily="34" charset="-122"/>
                <a:cs typeface="Calibri" pitchFamily="34" charset="-120"/>
              </a:rPr>
              <a:t>one-to-one calls held</a:t>
            </a:r>
            <a:endParaRPr lang="en-US" sz="1150" dirty="0"/>
          </a:p>
        </p:txBody>
      </p:sp>
      <p:sp>
        <p:nvSpPr>
          <p:cNvPr id="16" name="Shape 14"/>
          <p:cNvSpPr/>
          <p:nvPr/>
        </p:nvSpPr>
        <p:spPr>
          <a:xfrm>
            <a:off x="9003548" y="2194560"/>
            <a:ext cx="0" cy="1417320"/>
          </a:xfrm>
          <a:prstGeom prst="line">
            <a:avLst/>
          </a:prstGeom>
          <a:noFill/>
          <a:ln w="9525">
            <a:solidFill>
              <a:srgbClr val="D8CDB6"/>
            </a:solidFill>
            <a:prstDash val="solid"/>
          </a:ln>
        </p:spPr>
      </p:sp>
      <p:sp>
        <p:nvSpPr>
          <p:cNvPr id="17" name="Text 15"/>
          <p:cNvSpPr/>
          <p:nvPr/>
        </p:nvSpPr>
        <p:spPr>
          <a:xfrm>
            <a:off x="9259580" y="2103120"/>
            <a:ext cx="1743395" cy="960120"/>
          </a:xfrm>
          <a:prstGeom prst="rect">
            <a:avLst/>
          </a:prstGeom>
          <a:noFill/>
          <a:ln/>
        </p:spPr>
        <p:txBody>
          <a:bodyPr wrap="square" lIns="0" tIns="0" rIns="0" bIns="0" rtlCol="0" anchor="ctr"/>
          <a:lstStyle/>
          <a:p>
            <a:pPr marL="0" indent="0">
              <a:buNone/>
            </a:pPr>
            <a:r>
              <a:rPr lang="en-US" sz="5200" dirty="0">
                <a:solidFill>
                  <a:srgbClr val="26221C"/>
                </a:solidFill>
                <a:latin typeface="Bookman Old Style" pitchFamily="34" charset="0"/>
                <a:ea typeface="Bookman Old Style" pitchFamily="34" charset="-122"/>
                <a:cs typeface="Bookman Old Style" pitchFamily="34" charset="-120"/>
              </a:rPr>
              <a:t>13</a:t>
            </a:r>
            <a:endParaRPr lang="en-US" sz="5200" dirty="0"/>
          </a:p>
        </p:txBody>
      </p:sp>
      <p:sp>
        <p:nvSpPr>
          <p:cNvPr id="18" name="Text 16"/>
          <p:cNvSpPr/>
          <p:nvPr/>
        </p:nvSpPr>
        <p:spPr>
          <a:xfrm>
            <a:off x="9259580" y="3108960"/>
            <a:ext cx="1651955" cy="822960"/>
          </a:xfrm>
          <a:prstGeom prst="rect">
            <a:avLst/>
          </a:prstGeom>
          <a:noFill/>
          <a:ln/>
        </p:spPr>
        <p:txBody>
          <a:bodyPr wrap="square" lIns="0" tIns="0" rIns="0" bIns="0" rtlCol="0" anchor="t"/>
          <a:lstStyle/>
          <a:p>
            <a:pPr marL="0" indent="0">
              <a:lnSpc>
                <a:spcPts val="1600"/>
              </a:lnSpc>
              <a:buNone/>
            </a:pPr>
            <a:r>
              <a:rPr lang="en-US" sz="1150" dirty="0">
                <a:solidFill>
                  <a:srgbClr val="4A4338"/>
                </a:solidFill>
                <a:latin typeface="Calibri" pitchFamily="34" charset="0"/>
                <a:ea typeface="Calibri" pitchFamily="34" charset="-122"/>
                <a:cs typeface="Calibri" pitchFamily="34" charset="-120"/>
              </a:rPr>
              <a:t>pricing sheets</a:t>
            </a:r>
            <a:endParaRPr lang="en-US" sz="1150" dirty="0"/>
          </a:p>
        </p:txBody>
      </p:sp>
      <p:sp>
        <p:nvSpPr>
          <p:cNvPr id="19" name="Shape 17"/>
          <p:cNvSpPr/>
          <p:nvPr/>
        </p:nvSpPr>
        <p:spPr>
          <a:xfrm>
            <a:off x="822960" y="4041648"/>
            <a:ext cx="10545775" cy="0"/>
          </a:xfrm>
          <a:prstGeom prst="line">
            <a:avLst/>
          </a:prstGeom>
          <a:noFill/>
          <a:ln w="9525">
            <a:solidFill>
              <a:srgbClr val="D8CDB6"/>
            </a:solidFill>
            <a:prstDash val="solid"/>
          </a:ln>
        </p:spPr>
      </p:sp>
      <p:sp>
        <p:nvSpPr>
          <p:cNvPr id="20" name="Text 18"/>
          <p:cNvSpPr/>
          <p:nvPr/>
        </p:nvSpPr>
        <p:spPr>
          <a:xfrm>
            <a:off x="822960" y="4279392"/>
            <a:ext cx="10515600" cy="384048"/>
          </a:xfrm>
          <a:prstGeom prst="rect">
            <a:avLst/>
          </a:prstGeom>
          <a:noFill/>
          <a:ln/>
        </p:spPr>
        <p:txBody>
          <a:bodyPr wrap="square" lIns="0" tIns="0" rIns="0" bIns="0" rtlCol="0" anchor="ctr"/>
          <a:lstStyle/>
          <a:p>
            <a:pPr marL="0" indent="0">
              <a:buNone/>
            </a:pPr>
            <a:r>
              <a:rPr lang="en-US" sz="1400" dirty="0">
                <a:solidFill>
                  <a:srgbClr val="4A4338"/>
                </a:solidFill>
                <a:latin typeface="Calibri" pitchFamily="34" charset="0"/>
                <a:ea typeface="Calibri" pitchFamily="34" charset="-122"/>
                <a:cs typeface="Calibri" pitchFamily="34" charset="-120"/>
              </a:rPr>
              <a:t>Ten houses filed full evidence. The labelling dossier runs to sixty-one records. That work closes today.</a:t>
            </a:r>
            <a:endParaRPr lang="en-US" sz="1400" dirty="0"/>
          </a:p>
        </p:txBody>
      </p:sp>
      <p:sp>
        <p:nvSpPr>
          <p:cNvPr id="21" name="Text 19"/>
          <p:cNvSpPr/>
          <p:nvPr/>
        </p:nvSpPr>
        <p:spPr>
          <a:xfrm>
            <a:off x="822960" y="4700016"/>
            <a:ext cx="10515600" cy="731520"/>
          </a:xfrm>
          <a:prstGeom prst="rect">
            <a:avLst/>
          </a:prstGeom>
          <a:noFill/>
          <a:ln/>
        </p:spPr>
        <p:txBody>
          <a:bodyPr wrap="square" lIns="0" tIns="0" rIns="0" bIns="0" rtlCol="0" anchor="ctr"/>
          <a:lstStyle/>
          <a:p>
            <a:pPr marL="0" indent="0">
              <a:lnSpc>
                <a:spcPts val="2600"/>
              </a:lnSpc>
              <a:buNone/>
            </a:pPr>
            <a:r>
              <a:rPr lang="en-US" sz="1900" dirty="0">
                <a:solidFill>
                  <a:srgbClr val="26221C"/>
                </a:solidFill>
                <a:latin typeface="Bookman Old Style" pitchFamily="34" charset="0"/>
                <a:ea typeface="Bookman Old Style" pitchFamily="34" charset="-122"/>
                <a:cs typeface="Bookman Old Style" pitchFamily="34" charset="-120"/>
              </a:rPr>
              <a:t>Thirteen of thirty-seven is the number that blocks Phase 3. Send your pricing sheet before Wednesday and your session is built on your own figures.</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bg>
      <p:bgPr>
        <a:solidFill>
          <a:srgbClr val="FBF8F1"/>
        </a:solidFill>
        <a:effectLst/>
      </p:bgPr>
    </p:bg>
    <p:spTree>
      <p:nvGrpSpPr>
        <p:cNvPr id="1" name=""/>
        <p:cNvGrpSpPr/>
        <p:nvPr/>
      </p:nvGrpSpPr>
      <p:grpSpPr>
        <a:xfrm>
          <a:off x="0" y="0"/>
          <a:ext cx="0" cy="0"/>
          <a:chOff x="0" y="0"/>
          <a:chExt cx="0" cy="0"/>
        </a:xfrm>
      </p:grpSpPr>
      <p:sp>
        <p:nvSpPr>
          <p:cNvPr id="2" name="Text 0"/>
          <p:cNvSpPr/>
          <p:nvPr/>
        </p:nvSpPr>
        <p:spPr>
          <a:xfrm>
            <a:off x="822960" y="502920"/>
            <a:ext cx="9601200" cy="310896"/>
          </a:xfrm>
          <a:prstGeom prst="rect">
            <a:avLst/>
          </a:prstGeom>
          <a:noFill/>
          <a:ln/>
        </p:spPr>
        <p:txBody>
          <a:bodyPr wrap="square" lIns="0" tIns="0" rIns="0" bIns="0" rtlCol="0" anchor="ctr"/>
          <a:lstStyle/>
          <a:p>
            <a:pPr marL="0" indent="0">
              <a:buNone/>
            </a:pPr>
            <a:r>
              <a:rPr lang="en-US" sz="1100" b="1" kern="0" spc="340" dirty="0">
                <a:solidFill>
                  <a:srgbClr val="8B6E3D"/>
                </a:solidFill>
                <a:latin typeface="Calibri" pitchFamily="34" charset="0"/>
                <a:ea typeface="Calibri" pitchFamily="34" charset="-122"/>
                <a:cs typeface="Calibri" pitchFamily="34" charset="-120"/>
              </a:rPr>
              <a:t>S E S S I O N   4</a:t>
            </a:r>
            <a:endParaRPr lang="en-US" sz="1100" dirty="0"/>
          </a:p>
        </p:txBody>
      </p:sp>
      <p:sp>
        <p:nvSpPr>
          <p:cNvPr id="3" name="Text 1"/>
          <p:cNvSpPr/>
          <p:nvPr/>
        </p:nvSpPr>
        <p:spPr>
          <a:xfrm>
            <a:off x="822960" y="877824"/>
            <a:ext cx="10515600" cy="914400"/>
          </a:xfrm>
          <a:prstGeom prst="rect">
            <a:avLst/>
          </a:prstGeom>
          <a:noFill/>
          <a:ln/>
        </p:spPr>
        <p:txBody>
          <a:bodyPr wrap="square" lIns="0" tIns="0" rIns="0" bIns="0" rtlCol="0" anchor="ctr"/>
          <a:lstStyle/>
          <a:p>
            <a:pPr marL="0" indent="0">
              <a:lnSpc>
                <a:spcPts val="3240"/>
              </a:lnSpc>
              <a:buNone/>
            </a:pPr>
            <a:r>
              <a:rPr lang="en-US" sz="2700" dirty="0">
                <a:solidFill>
                  <a:srgbClr val="26221C"/>
                </a:solidFill>
                <a:latin typeface="Bookman Old Style" pitchFamily="34" charset="0"/>
                <a:ea typeface="Bookman Old Style" pitchFamily="34" charset="-122"/>
                <a:cs typeface="Bookman Old Style" pitchFamily="34" charset="-120"/>
              </a:rPr>
              <a:t>Today, step by step</a:t>
            </a:r>
            <a:endParaRPr lang="en-US" sz="2700" dirty="0"/>
          </a:p>
        </p:txBody>
      </p:sp>
      <p:sp>
        <p:nvSpPr>
          <p:cNvPr id="4" name="Shape 2"/>
          <p:cNvSpPr/>
          <p:nvPr/>
        </p:nvSpPr>
        <p:spPr>
          <a:xfrm>
            <a:off x="822960" y="1847088"/>
            <a:ext cx="10545775" cy="0"/>
          </a:xfrm>
          <a:prstGeom prst="line">
            <a:avLst/>
          </a:prstGeom>
          <a:noFill/>
          <a:ln w="15875">
            <a:solidFill>
              <a:srgbClr val="26221C"/>
            </a:solidFill>
            <a:prstDash val="solid"/>
          </a:ln>
        </p:spPr>
      </p:sp>
      <p:sp>
        <p:nvSpPr>
          <p:cNvPr id="5" name="Text 3"/>
          <p:cNvSpPr/>
          <p:nvPr/>
        </p:nvSpPr>
        <p:spPr>
          <a:xfrm>
            <a:off x="822960" y="2139696"/>
            <a:ext cx="457200" cy="457200"/>
          </a:xfrm>
          <a:prstGeom prst="rect">
            <a:avLst/>
          </a:prstGeom>
          <a:noFill/>
          <a:ln/>
        </p:spPr>
        <p:txBody>
          <a:bodyPr wrap="square" lIns="0" tIns="0" rIns="0" bIns="0" rtlCol="0" anchor="ctr"/>
          <a:lstStyle/>
          <a:p>
            <a:pPr marL="0" indent="0">
              <a:buNone/>
            </a:pPr>
            <a:r>
              <a:rPr lang="en-US" sz="2300" dirty="0">
                <a:solidFill>
                  <a:srgbClr val="8B6E3D"/>
                </a:solidFill>
                <a:latin typeface="Bookman Old Style" pitchFamily="34" charset="0"/>
                <a:ea typeface="Bookman Old Style" pitchFamily="34" charset="-122"/>
                <a:cs typeface="Bookman Old Style" pitchFamily="34" charset="-120"/>
              </a:rPr>
              <a:t>1</a:t>
            </a:r>
            <a:endParaRPr lang="en-US" sz="2300" dirty="0"/>
          </a:p>
        </p:txBody>
      </p:sp>
      <p:sp>
        <p:nvSpPr>
          <p:cNvPr id="6" name="Text 4"/>
          <p:cNvSpPr/>
          <p:nvPr/>
        </p:nvSpPr>
        <p:spPr>
          <a:xfrm>
            <a:off x="1353312" y="2203704"/>
            <a:ext cx="4358488" cy="384048"/>
          </a:xfrm>
          <a:prstGeom prst="rect">
            <a:avLst/>
          </a:prstGeom>
          <a:noFill/>
          <a:ln/>
        </p:spPr>
        <p:txBody>
          <a:bodyPr wrap="square" lIns="0" tIns="0" rIns="0" bIns="0" rtlCol="0" anchor="ctr"/>
          <a:lstStyle/>
          <a:p>
            <a:pPr marL="0" indent="0">
              <a:buNone/>
            </a:pPr>
            <a:r>
              <a:rPr lang="en-US" sz="1500" dirty="0">
                <a:solidFill>
                  <a:srgbClr val="26221C"/>
                </a:solidFill>
                <a:latin typeface="Calibri" pitchFamily="34" charset="0"/>
                <a:ea typeface="Calibri" pitchFamily="34" charset="-122"/>
                <a:cs typeface="Calibri" pitchFamily="34" charset="-120"/>
              </a:rPr>
              <a:t>What it costs to land</a:t>
            </a:r>
            <a:endParaRPr lang="en-US" sz="1500" dirty="0"/>
          </a:p>
        </p:txBody>
      </p:sp>
      <p:sp>
        <p:nvSpPr>
          <p:cNvPr id="7" name="Shape 5"/>
          <p:cNvSpPr/>
          <p:nvPr/>
        </p:nvSpPr>
        <p:spPr>
          <a:xfrm>
            <a:off x="822960" y="2743200"/>
            <a:ext cx="4888840" cy="0"/>
          </a:xfrm>
          <a:prstGeom prst="line">
            <a:avLst/>
          </a:prstGeom>
          <a:noFill/>
          <a:ln w="9525">
            <a:solidFill>
              <a:srgbClr val="D8CDB6"/>
            </a:solidFill>
            <a:prstDash val="solid"/>
          </a:ln>
        </p:spPr>
      </p:sp>
      <p:sp>
        <p:nvSpPr>
          <p:cNvPr id="8" name="Text 6"/>
          <p:cNvSpPr/>
          <p:nvPr/>
        </p:nvSpPr>
        <p:spPr>
          <a:xfrm>
            <a:off x="822960" y="2926080"/>
            <a:ext cx="457200" cy="457200"/>
          </a:xfrm>
          <a:prstGeom prst="rect">
            <a:avLst/>
          </a:prstGeom>
          <a:noFill/>
          <a:ln/>
        </p:spPr>
        <p:txBody>
          <a:bodyPr wrap="square" lIns="0" tIns="0" rIns="0" bIns="0" rtlCol="0" anchor="ctr"/>
          <a:lstStyle/>
          <a:p>
            <a:pPr marL="0" indent="0">
              <a:buNone/>
            </a:pPr>
            <a:r>
              <a:rPr lang="en-US" sz="2300" dirty="0">
                <a:solidFill>
                  <a:srgbClr val="8B6E3D"/>
                </a:solidFill>
                <a:latin typeface="Bookman Old Style" pitchFamily="34" charset="0"/>
                <a:ea typeface="Bookman Old Style" pitchFamily="34" charset="-122"/>
                <a:cs typeface="Bookman Old Style" pitchFamily="34" charset="-120"/>
              </a:rPr>
              <a:t>2</a:t>
            </a:r>
            <a:endParaRPr lang="en-US" sz="2300" dirty="0"/>
          </a:p>
        </p:txBody>
      </p:sp>
      <p:sp>
        <p:nvSpPr>
          <p:cNvPr id="9" name="Text 7"/>
          <p:cNvSpPr/>
          <p:nvPr/>
        </p:nvSpPr>
        <p:spPr>
          <a:xfrm>
            <a:off x="1353312" y="2990088"/>
            <a:ext cx="4358488" cy="384048"/>
          </a:xfrm>
          <a:prstGeom prst="rect">
            <a:avLst/>
          </a:prstGeom>
          <a:noFill/>
          <a:ln/>
        </p:spPr>
        <p:txBody>
          <a:bodyPr wrap="square" lIns="0" tIns="0" rIns="0" bIns="0" rtlCol="0" anchor="ctr"/>
          <a:lstStyle/>
          <a:p>
            <a:pPr marL="0" indent="0">
              <a:buNone/>
            </a:pPr>
            <a:r>
              <a:rPr lang="en-US" sz="1500" dirty="0">
                <a:solidFill>
                  <a:srgbClr val="26221C"/>
                </a:solidFill>
                <a:latin typeface="Calibri" pitchFamily="34" charset="0"/>
                <a:ea typeface="Calibri" pitchFamily="34" charset="-122"/>
                <a:cs typeface="Calibri" pitchFamily="34" charset="-120"/>
              </a:rPr>
              <a:t>From the port to the shelf</a:t>
            </a:r>
            <a:endParaRPr lang="en-US" sz="1500" dirty="0"/>
          </a:p>
        </p:txBody>
      </p:sp>
      <p:sp>
        <p:nvSpPr>
          <p:cNvPr id="10" name="Shape 8"/>
          <p:cNvSpPr/>
          <p:nvPr/>
        </p:nvSpPr>
        <p:spPr>
          <a:xfrm>
            <a:off x="822960" y="3529584"/>
            <a:ext cx="4888840" cy="0"/>
          </a:xfrm>
          <a:prstGeom prst="line">
            <a:avLst/>
          </a:prstGeom>
          <a:noFill/>
          <a:ln w="9525">
            <a:solidFill>
              <a:srgbClr val="D8CDB6"/>
            </a:solidFill>
            <a:prstDash val="solid"/>
          </a:ln>
        </p:spPr>
      </p:sp>
      <p:sp>
        <p:nvSpPr>
          <p:cNvPr id="11" name="Text 9"/>
          <p:cNvSpPr/>
          <p:nvPr/>
        </p:nvSpPr>
        <p:spPr>
          <a:xfrm>
            <a:off x="822960" y="3712464"/>
            <a:ext cx="457200" cy="457200"/>
          </a:xfrm>
          <a:prstGeom prst="rect">
            <a:avLst/>
          </a:prstGeom>
          <a:noFill/>
          <a:ln/>
        </p:spPr>
        <p:txBody>
          <a:bodyPr wrap="square" lIns="0" tIns="0" rIns="0" bIns="0" rtlCol="0" anchor="ctr"/>
          <a:lstStyle/>
          <a:p>
            <a:pPr marL="0" indent="0">
              <a:buNone/>
            </a:pPr>
            <a:r>
              <a:rPr lang="en-US" sz="2300" dirty="0">
                <a:solidFill>
                  <a:srgbClr val="8B6E3D"/>
                </a:solidFill>
                <a:latin typeface="Bookman Old Style" pitchFamily="34" charset="0"/>
                <a:ea typeface="Bookman Old Style" pitchFamily="34" charset="-122"/>
                <a:cs typeface="Bookman Old Style" pitchFamily="34" charset="-120"/>
              </a:rPr>
              <a:t>3</a:t>
            </a:r>
            <a:endParaRPr lang="en-US" sz="2300" dirty="0"/>
          </a:p>
        </p:txBody>
      </p:sp>
      <p:sp>
        <p:nvSpPr>
          <p:cNvPr id="12" name="Text 10"/>
          <p:cNvSpPr/>
          <p:nvPr/>
        </p:nvSpPr>
        <p:spPr>
          <a:xfrm>
            <a:off x="1353312" y="3776472"/>
            <a:ext cx="4358488" cy="384048"/>
          </a:xfrm>
          <a:prstGeom prst="rect">
            <a:avLst/>
          </a:prstGeom>
          <a:noFill/>
          <a:ln/>
        </p:spPr>
        <p:txBody>
          <a:bodyPr wrap="square" lIns="0" tIns="0" rIns="0" bIns="0" rtlCol="0" anchor="ctr"/>
          <a:lstStyle/>
          <a:p>
            <a:pPr marL="0" indent="0">
              <a:buNone/>
            </a:pPr>
            <a:r>
              <a:rPr lang="en-US" sz="1500" dirty="0">
                <a:solidFill>
                  <a:srgbClr val="26221C"/>
                </a:solidFill>
                <a:latin typeface="Calibri" pitchFamily="34" charset="0"/>
                <a:ea typeface="Calibri" pitchFamily="34" charset="-122"/>
                <a:cs typeface="Calibri" pitchFamily="34" charset="-120"/>
              </a:rPr>
              <a:t>The one number you control</a:t>
            </a:r>
            <a:endParaRPr lang="en-US" sz="1500" dirty="0"/>
          </a:p>
        </p:txBody>
      </p:sp>
      <p:sp>
        <p:nvSpPr>
          <p:cNvPr id="13" name="Shape 11"/>
          <p:cNvSpPr/>
          <p:nvPr/>
        </p:nvSpPr>
        <p:spPr>
          <a:xfrm>
            <a:off x="822960" y="4315968"/>
            <a:ext cx="4888840" cy="0"/>
          </a:xfrm>
          <a:prstGeom prst="line">
            <a:avLst/>
          </a:prstGeom>
          <a:noFill/>
          <a:ln w="9525">
            <a:solidFill>
              <a:srgbClr val="D8CDB6"/>
            </a:solidFill>
            <a:prstDash val="solid"/>
          </a:ln>
        </p:spPr>
      </p:sp>
      <p:sp>
        <p:nvSpPr>
          <p:cNvPr id="14" name="Text 12"/>
          <p:cNvSpPr/>
          <p:nvPr/>
        </p:nvSpPr>
        <p:spPr>
          <a:xfrm>
            <a:off x="822960" y="4498848"/>
            <a:ext cx="457200" cy="457200"/>
          </a:xfrm>
          <a:prstGeom prst="rect">
            <a:avLst/>
          </a:prstGeom>
          <a:noFill/>
          <a:ln/>
        </p:spPr>
        <p:txBody>
          <a:bodyPr wrap="square" lIns="0" tIns="0" rIns="0" bIns="0" rtlCol="0" anchor="ctr"/>
          <a:lstStyle/>
          <a:p>
            <a:pPr marL="0" indent="0">
              <a:buNone/>
            </a:pPr>
            <a:r>
              <a:rPr lang="en-US" sz="2300" dirty="0">
                <a:solidFill>
                  <a:srgbClr val="8B6E3D"/>
                </a:solidFill>
                <a:latin typeface="Bookman Old Style" pitchFamily="34" charset="0"/>
                <a:ea typeface="Bookman Old Style" pitchFamily="34" charset="-122"/>
                <a:cs typeface="Bookman Old Style" pitchFamily="34" charset="-120"/>
              </a:rPr>
              <a:t>4</a:t>
            </a:r>
            <a:endParaRPr lang="en-US" sz="2300" dirty="0"/>
          </a:p>
        </p:txBody>
      </p:sp>
      <p:sp>
        <p:nvSpPr>
          <p:cNvPr id="15" name="Text 13"/>
          <p:cNvSpPr/>
          <p:nvPr/>
        </p:nvSpPr>
        <p:spPr>
          <a:xfrm>
            <a:off x="1353312" y="4562856"/>
            <a:ext cx="4358488" cy="384048"/>
          </a:xfrm>
          <a:prstGeom prst="rect">
            <a:avLst/>
          </a:prstGeom>
          <a:noFill/>
          <a:ln/>
        </p:spPr>
        <p:txBody>
          <a:bodyPr wrap="square" lIns="0" tIns="0" rIns="0" bIns="0" rtlCol="0" anchor="ctr"/>
          <a:lstStyle/>
          <a:p>
            <a:pPr marL="0" indent="0">
              <a:buNone/>
            </a:pPr>
            <a:r>
              <a:rPr lang="en-US" sz="1500" dirty="0">
                <a:solidFill>
                  <a:srgbClr val="26221C"/>
                </a:solidFill>
                <a:latin typeface="Calibri" pitchFamily="34" charset="0"/>
                <a:ea typeface="Calibri" pitchFamily="34" charset="-122"/>
                <a:cs typeface="Calibri" pitchFamily="34" charset="-120"/>
              </a:rPr>
              <a:t>The check on your bottle</a:t>
            </a:r>
            <a:endParaRPr lang="en-US" sz="1500" dirty="0"/>
          </a:p>
        </p:txBody>
      </p:sp>
      <p:sp>
        <p:nvSpPr>
          <p:cNvPr id="16" name="Text 14"/>
          <p:cNvSpPr/>
          <p:nvPr/>
        </p:nvSpPr>
        <p:spPr>
          <a:xfrm>
            <a:off x="6095848" y="2139696"/>
            <a:ext cx="457200" cy="457200"/>
          </a:xfrm>
          <a:prstGeom prst="rect">
            <a:avLst/>
          </a:prstGeom>
          <a:noFill/>
          <a:ln/>
        </p:spPr>
        <p:txBody>
          <a:bodyPr wrap="square" lIns="0" tIns="0" rIns="0" bIns="0" rtlCol="0" anchor="ctr"/>
          <a:lstStyle/>
          <a:p>
            <a:pPr marL="0" indent="0">
              <a:buNone/>
            </a:pPr>
            <a:r>
              <a:rPr lang="en-US" sz="2300" dirty="0">
                <a:solidFill>
                  <a:srgbClr val="8B6E3D"/>
                </a:solidFill>
                <a:latin typeface="Bookman Old Style" pitchFamily="34" charset="0"/>
                <a:ea typeface="Bookman Old Style" pitchFamily="34" charset="-122"/>
                <a:cs typeface="Bookman Old Style" pitchFamily="34" charset="-120"/>
              </a:rPr>
              <a:t>5</a:t>
            </a:r>
            <a:endParaRPr lang="en-US" sz="2300" dirty="0"/>
          </a:p>
        </p:txBody>
      </p:sp>
      <p:sp>
        <p:nvSpPr>
          <p:cNvPr id="17" name="Text 15"/>
          <p:cNvSpPr/>
          <p:nvPr/>
        </p:nvSpPr>
        <p:spPr>
          <a:xfrm>
            <a:off x="6626200" y="2203704"/>
            <a:ext cx="4358488" cy="384048"/>
          </a:xfrm>
          <a:prstGeom prst="rect">
            <a:avLst/>
          </a:prstGeom>
          <a:noFill/>
          <a:ln/>
        </p:spPr>
        <p:txBody>
          <a:bodyPr wrap="square" lIns="0" tIns="0" rIns="0" bIns="0" rtlCol="0" anchor="ctr"/>
          <a:lstStyle/>
          <a:p>
            <a:pPr marL="0" indent="0">
              <a:buNone/>
            </a:pPr>
            <a:r>
              <a:rPr lang="en-US" sz="1500" dirty="0">
                <a:solidFill>
                  <a:srgbClr val="26221C"/>
                </a:solidFill>
                <a:latin typeface="Calibri" pitchFamily="34" charset="0"/>
                <a:ea typeface="Calibri" pitchFamily="34" charset="-122"/>
                <a:cs typeface="Calibri" pitchFamily="34" charset="-120"/>
              </a:rPr>
              <a:t>Three gates, in order</a:t>
            </a:r>
            <a:endParaRPr lang="en-US" sz="1500" dirty="0"/>
          </a:p>
        </p:txBody>
      </p:sp>
      <p:sp>
        <p:nvSpPr>
          <p:cNvPr id="18" name="Shape 16"/>
          <p:cNvSpPr/>
          <p:nvPr/>
        </p:nvSpPr>
        <p:spPr>
          <a:xfrm>
            <a:off x="6095848" y="2743200"/>
            <a:ext cx="4888840" cy="0"/>
          </a:xfrm>
          <a:prstGeom prst="line">
            <a:avLst/>
          </a:prstGeom>
          <a:noFill/>
          <a:ln w="9525">
            <a:solidFill>
              <a:srgbClr val="D8CDB6"/>
            </a:solidFill>
            <a:prstDash val="solid"/>
          </a:ln>
        </p:spPr>
      </p:sp>
      <p:sp>
        <p:nvSpPr>
          <p:cNvPr id="19" name="Text 17"/>
          <p:cNvSpPr/>
          <p:nvPr/>
        </p:nvSpPr>
        <p:spPr>
          <a:xfrm>
            <a:off x="6095848" y="2926080"/>
            <a:ext cx="457200" cy="457200"/>
          </a:xfrm>
          <a:prstGeom prst="rect">
            <a:avLst/>
          </a:prstGeom>
          <a:noFill/>
          <a:ln/>
        </p:spPr>
        <p:txBody>
          <a:bodyPr wrap="square" lIns="0" tIns="0" rIns="0" bIns="0" rtlCol="0" anchor="ctr"/>
          <a:lstStyle/>
          <a:p>
            <a:pPr marL="0" indent="0">
              <a:buNone/>
            </a:pPr>
            <a:r>
              <a:rPr lang="en-US" sz="2300" dirty="0">
                <a:solidFill>
                  <a:srgbClr val="8B6E3D"/>
                </a:solidFill>
                <a:latin typeface="Bookman Old Style" pitchFamily="34" charset="0"/>
                <a:ea typeface="Bookman Old Style" pitchFamily="34" charset="-122"/>
                <a:cs typeface="Bookman Old Style" pitchFamily="34" charset="-120"/>
              </a:rPr>
              <a:t>6</a:t>
            </a:r>
            <a:endParaRPr lang="en-US" sz="2300" dirty="0"/>
          </a:p>
        </p:txBody>
      </p:sp>
      <p:sp>
        <p:nvSpPr>
          <p:cNvPr id="20" name="Text 18"/>
          <p:cNvSpPr/>
          <p:nvPr/>
        </p:nvSpPr>
        <p:spPr>
          <a:xfrm>
            <a:off x="6626200" y="2990088"/>
            <a:ext cx="4358488" cy="384048"/>
          </a:xfrm>
          <a:prstGeom prst="rect">
            <a:avLst/>
          </a:prstGeom>
          <a:noFill/>
          <a:ln/>
        </p:spPr>
        <p:txBody>
          <a:bodyPr wrap="square" lIns="0" tIns="0" rIns="0" bIns="0" rtlCol="0" anchor="ctr"/>
          <a:lstStyle/>
          <a:p>
            <a:pPr marL="0" indent="0">
              <a:buNone/>
            </a:pPr>
            <a:r>
              <a:rPr lang="en-US" sz="1500" dirty="0">
                <a:solidFill>
                  <a:srgbClr val="26221C"/>
                </a:solidFill>
                <a:latin typeface="Calibri" pitchFamily="34" charset="0"/>
                <a:ea typeface="Calibri" pitchFamily="34" charset="-122"/>
                <a:cs typeface="Calibri" pitchFamily="34" charset="-120"/>
              </a:rPr>
              <a:t>Gate one: your trademark</a:t>
            </a:r>
            <a:endParaRPr lang="en-US" sz="1500" dirty="0"/>
          </a:p>
        </p:txBody>
      </p:sp>
      <p:sp>
        <p:nvSpPr>
          <p:cNvPr id="21" name="Shape 19"/>
          <p:cNvSpPr/>
          <p:nvPr/>
        </p:nvSpPr>
        <p:spPr>
          <a:xfrm>
            <a:off x="6095848" y="3529584"/>
            <a:ext cx="4888840" cy="0"/>
          </a:xfrm>
          <a:prstGeom prst="line">
            <a:avLst/>
          </a:prstGeom>
          <a:noFill/>
          <a:ln w="9525">
            <a:solidFill>
              <a:srgbClr val="D8CDB6"/>
            </a:solidFill>
            <a:prstDash val="solid"/>
          </a:ln>
        </p:spPr>
      </p:sp>
      <p:sp>
        <p:nvSpPr>
          <p:cNvPr id="22" name="Text 20"/>
          <p:cNvSpPr/>
          <p:nvPr/>
        </p:nvSpPr>
        <p:spPr>
          <a:xfrm>
            <a:off x="6095848" y="3712464"/>
            <a:ext cx="457200" cy="457200"/>
          </a:xfrm>
          <a:prstGeom prst="rect">
            <a:avLst/>
          </a:prstGeom>
          <a:noFill/>
          <a:ln/>
        </p:spPr>
        <p:txBody>
          <a:bodyPr wrap="square" lIns="0" tIns="0" rIns="0" bIns="0" rtlCol="0" anchor="ctr"/>
          <a:lstStyle/>
          <a:p>
            <a:pPr marL="0" indent="0">
              <a:buNone/>
            </a:pPr>
            <a:r>
              <a:rPr lang="en-US" sz="2300" dirty="0">
                <a:solidFill>
                  <a:srgbClr val="8B6E3D"/>
                </a:solidFill>
                <a:latin typeface="Bookman Old Style" pitchFamily="34" charset="0"/>
                <a:ea typeface="Bookman Old Style" pitchFamily="34" charset="-122"/>
                <a:cs typeface="Bookman Old Style" pitchFamily="34" charset="-120"/>
              </a:rPr>
              <a:t>7</a:t>
            </a:r>
            <a:endParaRPr lang="en-US" sz="2300" dirty="0"/>
          </a:p>
        </p:txBody>
      </p:sp>
      <p:sp>
        <p:nvSpPr>
          <p:cNvPr id="23" name="Text 21"/>
          <p:cNvSpPr/>
          <p:nvPr/>
        </p:nvSpPr>
        <p:spPr>
          <a:xfrm>
            <a:off x="6626200" y="3776472"/>
            <a:ext cx="4358488" cy="384048"/>
          </a:xfrm>
          <a:prstGeom prst="rect">
            <a:avLst/>
          </a:prstGeom>
          <a:noFill/>
          <a:ln/>
        </p:spPr>
        <p:txBody>
          <a:bodyPr wrap="square" lIns="0" tIns="0" rIns="0" bIns="0" rtlCol="0" anchor="ctr"/>
          <a:lstStyle/>
          <a:p>
            <a:pPr marL="0" indent="0">
              <a:buNone/>
            </a:pPr>
            <a:r>
              <a:rPr lang="en-US" sz="1500" dirty="0">
                <a:solidFill>
                  <a:srgbClr val="26221C"/>
                </a:solidFill>
                <a:latin typeface="Calibri" pitchFamily="34" charset="0"/>
                <a:ea typeface="Calibri" pitchFamily="34" charset="-122"/>
                <a:cs typeface="Calibri" pitchFamily="34" charset="-120"/>
              </a:rPr>
              <a:t>Gate two: FSSAI and your label</a:t>
            </a:r>
            <a:endParaRPr lang="en-US" sz="1500" dirty="0"/>
          </a:p>
        </p:txBody>
      </p:sp>
      <p:sp>
        <p:nvSpPr>
          <p:cNvPr id="24" name="Shape 22"/>
          <p:cNvSpPr/>
          <p:nvPr/>
        </p:nvSpPr>
        <p:spPr>
          <a:xfrm>
            <a:off x="6095848" y="4315968"/>
            <a:ext cx="4888840" cy="0"/>
          </a:xfrm>
          <a:prstGeom prst="line">
            <a:avLst/>
          </a:prstGeom>
          <a:noFill/>
          <a:ln w="9525">
            <a:solidFill>
              <a:srgbClr val="D8CDB6"/>
            </a:solidFill>
            <a:prstDash val="solid"/>
          </a:ln>
        </p:spPr>
      </p:sp>
      <p:sp>
        <p:nvSpPr>
          <p:cNvPr id="25" name="Text 23"/>
          <p:cNvSpPr/>
          <p:nvPr/>
        </p:nvSpPr>
        <p:spPr>
          <a:xfrm>
            <a:off x="6095848" y="4498848"/>
            <a:ext cx="457200" cy="457200"/>
          </a:xfrm>
          <a:prstGeom prst="rect">
            <a:avLst/>
          </a:prstGeom>
          <a:noFill/>
          <a:ln/>
        </p:spPr>
        <p:txBody>
          <a:bodyPr wrap="square" lIns="0" tIns="0" rIns="0" bIns="0" rtlCol="0" anchor="ctr"/>
          <a:lstStyle/>
          <a:p>
            <a:pPr marL="0" indent="0">
              <a:buNone/>
            </a:pPr>
            <a:r>
              <a:rPr lang="en-US" sz="2300" dirty="0">
                <a:solidFill>
                  <a:srgbClr val="8B6E3D"/>
                </a:solidFill>
                <a:latin typeface="Bookman Old Style" pitchFamily="34" charset="0"/>
                <a:ea typeface="Bookman Old Style" pitchFamily="34" charset="-122"/>
                <a:cs typeface="Bookman Old Style" pitchFamily="34" charset="-120"/>
              </a:rPr>
              <a:t>8</a:t>
            </a:r>
            <a:endParaRPr lang="en-US" sz="2300" dirty="0"/>
          </a:p>
        </p:txBody>
      </p:sp>
      <p:sp>
        <p:nvSpPr>
          <p:cNvPr id="26" name="Text 24"/>
          <p:cNvSpPr/>
          <p:nvPr/>
        </p:nvSpPr>
        <p:spPr>
          <a:xfrm>
            <a:off x="6626200" y="4562856"/>
            <a:ext cx="4358488" cy="384048"/>
          </a:xfrm>
          <a:prstGeom prst="rect">
            <a:avLst/>
          </a:prstGeom>
          <a:noFill/>
          <a:ln/>
        </p:spPr>
        <p:txBody>
          <a:bodyPr wrap="square" lIns="0" tIns="0" rIns="0" bIns="0" rtlCol="0" anchor="ctr"/>
          <a:lstStyle/>
          <a:p>
            <a:pPr marL="0" indent="0">
              <a:buNone/>
            </a:pPr>
            <a:r>
              <a:rPr lang="en-US" sz="1500" dirty="0">
                <a:solidFill>
                  <a:srgbClr val="26221C"/>
                </a:solidFill>
                <a:latin typeface="Calibri" pitchFamily="34" charset="0"/>
                <a:ea typeface="Calibri" pitchFamily="34" charset="-122"/>
                <a:cs typeface="Calibri" pitchFamily="34" charset="-120"/>
              </a:rPr>
              <a:t>Gate three: the states</a:t>
            </a:r>
            <a:endParaRPr lang="en-US" sz="1500" dirty="0"/>
          </a:p>
        </p:txBody>
      </p:sp>
      <p:sp>
        <p:nvSpPr>
          <p:cNvPr id="27" name="Shape 25"/>
          <p:cNvSpPr/>
          <p:nvPr/>
        </p:nvSpPr>
        <p:spPr>
          <a:xfrm>
            <a:off x="822960" y="5413248"/>
            <a:ext cx="10545775" cy="0"/>
          </a:xfrm>
          <a:prstGeom prst="line">
            <a:avLst/>
          </a:prstGeom>
          <a:noFill/>
          <a:ln w="9525">
            <a:solidFill>
              <a:srgbClr val="D8CDB6"/>
            </a:solidFill>
            <a:prstDash val="solid"/>
          </a:ln>
        </p:spPr>
      </p:sp>
      <p:sp>
        <p:nvSpPr>
          <p:cNvPr id="28" name="Text 26"/>
          <p:cNvSpPr/>
          <p:nvPr/>
        </p:nvSpPr>
        <p:spPr>
          <a:xfrm>
            <a:off x="822960" y="5632704"/>
            <a:ext cx="10515600" cy="365760"/>
          </a:xfrm>
          <a:prstGeom prst="rect">
            <a:avLst/>
          </a:prstGeom>
          <a:noFill/>
          <a:ln/>
        </p:spPr>
        <p:txBody>
          <a:bodyPr wrap="square" lIns="0" tIns="0" rIns="0" bIns="0" rtlCol="0" anchor="ctr"/>
          <a:lstStyle/>
          <a:p>
            <a:pPr marL="0" indent="0">
              <a:buNone/>
            </a:pPr>
            <a:r>
              <a:rPr lang="en-US" sz="1350" dirty="0">
                <a:solidFill>
                  <a:srgbClr val="4A4338"/>
                </a:solidFill>
                <a:latin typeface="Calibri" pitchFamily="34" charset="0"/>
                <a:ea typeface="Calibri" pitchFamily="34" charset="-122"/>
                <a:cs typeface="Calibri" pitchFamily="34" charset="-120"/>
              </a:rPr>
              <a:t>Then the hard stop, your three sends, and Phase 3 opens on Wednesday </a:t>
            </a:r>
            <a:r>
              <a:rPr lang="en-US" sz="1350" dirty="0" smtClean="0">
                <a:solidFill>
                  <a:srgbClr val="4A4338"/>
                </a:solidFill>
                <a:latin typeface="Calibri" pitchFamily="34" charset="0"/>
                <a:ea typeface="Calibri" pitchFamily="34" charset="-122"/>
                <a:cs typeface="Calibri" pitchFamily="34" charset="-120"/>
              </a:rPr>
              <a:t>5</a:t>
            </a:r>
            <a:r>
              <a:rPr lang="en-US" sz="1350" baseline="30000" dirty="0" smtClean="0">
                <a:solidFill>
                  <a:srgbClr val="4A4338"/>
                </a:solidFill>
                <a:latin typeface="Calibri" pitchFamily="34" charset="0"/>
                <a:ea typeface="Calibri" pitchFamily="34" charset="-122"/>
                <a:cs typeface="Calibri" pitchFamily="34" charset="-120"/>
              </a:rPr>
              <a:t>th</a:t>
            </a:r>
            <a:r>
              <a:rPr lang="en-US" sz="1350" dirty="0" smtClean="0">
                <a:solidFill>
                  <a:srgbClr val="4A4338"/>
                </a:solidFill>
                <a:latin typeface="Calibri" pitchFamily="34" charset="0"/>
                <a:ea typeface="Calibri" pitchFamily="34" charset="-122"/>
                <a:cs typeface="Calibri" pitchFamily="34" charset="-120"/>
              </a:rPr>
              <a:t> August</a:t>
            </a:r>
            <a:r>
              <a:rPr lang="en-US" sz="1350" dirty="0">
                <a:solidFill>
                  <a:srgbClr val="4A4338"/>
                </a:solidFill>
                <a:latin typeface="Calibri" pitchFamily="34" charset="0"/>
                <a:ea typeface="Calibri" pitchFamily="34" charset="-122"/>
                <a:cs typeface="Calibri" pitchFamily="34" charset="-120"/>
              </a:rPr>
              <a:t>.</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FBF8F1"/>
        </a:solidFill>
        <a:effectLst/>
      </p:bgPr>
    </p:bg>
    <p:spTree>
      <p:nvGrpSpPr>
        <p:cNvPr id="1" name=""/>
        <p:cNvGrpSpPr/>
        <p:nvPr/>
      </p:nvGrpSpPr>
      <p:grpSpPr>
        <a:xfrm>
          <a:off x="0" y="0"/>
          <a:ext cx="0" cy="0"/>
          <a:chOff x="0" y="0"/>
          <a:chExt cx="0" cy="0"/>
        </a:xfrm>
      </p:grpSpPr>
      <p:sp>
        <p:nvSpPr>
          <p:cNvPr id="2" name="Text 0"/>
          <p:cNvSpPr/>
          <p:nvPr/>
        </p:nvSpPr>
        <p:spPr>
          <a:xfrm>
            <a:off x="822960" y="502920"/>
            <a:ext cx="9601200" cy="310896"/>
          </a:xfrm>
          <a:prstGeom prst="rect">
            <a:avLst/>
          </a:prstGeom>
          <a:noFill/>
          <a:ln/>
        </p:spPr>
        <p:txBody>
          <a:bodyPr wrap="square" lIns="0" tIns="0" rIns="0" bIns="0" rtlCol="0" anchor="ctr"/>
          <a:lstStyle/>
          <a:p>
            <a:pPr marL="0" indent="0">
              <a:buNone/>
            </a:pPr>
            <a:r>
              <a:rPr lang="en-US" sz="1100" b="1" kern="0" spc="340" dirty="0">
                <a:solidFill>
                  <a:srgbClr val="8B6E3D"/>
                </a:solidFill>
                <a:latin typeface="Calibri" pitchFamily="34" charset="0"/>
                <a:ea typeface="Calibri" pitchFamily="34" charset="-122"/>
                <a:cs typeface="Calibri" pitchFamily="34" charset="-120"/>
              </a:rPr>
              <a:t>S T E P   1      ·      W H A T   I T   C O S T S   T O   L A N D</a:t>
            </a:r>
            <a:endParaRPr lang="en-US" sz="1100" dirty="0"/>
          </a:p>
        </p:txBody>
      </p:sp>
      <p:sp>
        <p:nvSpPr>
          <p:cNvPr id="3" name="Text 1"/>
          <p:cNvSpPr/>
          <p:nvPr/>
        </p:nvSpPr>
        <p:spPr>
          <a:xfrm>
            <a:off x="822960" y="1481328"/>
            <a:ext cx="10515600" cy="2651760"/>
          </a:xfrm>
          <a:prstGeom prst="rect">
            <a:avLst/>
          </a:prstGeom>
          <a:noFill/>
          <a:ln/>
        </p:spPr>
        <p:txBody>
          <a:bodyPr wrap="square" lIns="0" tIns="0" rIns="0" bIns="0" rtlCol="0" anchor="ctr"/>
          <a:lstStyle/>
          <a:p>
            <a:pPr marL="0" indent="0">
              <a:lnSpc>
                <a:spcPts val="19380"/>
              </a:lnSpc>
              <a:buNone/>
            </a:pPr>
            <a:r>
              <a:rPr lang="en-US" sz="19000" dirty="0">
                <a:solidFill>
                  <a:srgbClr val="8B6E3D"/>
                </a:solidFill>
                <a:latin typeface="Bookman Old Style" pitchFamily="34" charset="0"/>
                <a:ea typeface="Bookman Old Style" pitchFamily="34" charset="-122"/>
                <a:cs typeface="Bookman Old Style" pitchFamily="34" charset="-120"/>
              </a:rPr>
              <a:t>2.5×</a:t>
            </a:r>
            <a:endParaRPr lang="en-US" sz="19000" dirty="0"/>
          </a:p>
        </p:txBody>
      </p:sp>
      <p:sp>
        <p:nvSpPr>
          <p:cNvPr id="4" name="Shape 2"/>
          <p:cNvSpPr/>
          <p:nvPr/>
        </p:nvSpPr>
        <p:spPr>
          <a:xfrm>
            <a:off x="822960" y="4443984"/>
            <a:ext cx="2971800" cy="0"/>
          </a:xfrm>
          <a:prstGeom prst="line">
            <a:avLst/>
          </a:prstGeom>
          <a:noFill/>
          <a:ln w="15875">
            <a:solidFill>
              <a:srgbClr val="6E5630"/>
            </a:solidFill>
            <a:prstDash val="solid"/>
          </a:ln>
        </p:spPr>
      </p:sp>
      <p:sp>
        <p:nvSpPr>
          <p:cNvPr id="5" name="Text 3"/>
          <p:cNvSpPr/>
          <p:nvPr/>
        </p:nvSpPr>
        <p:spPr>
          <a:xfrm>
            <a:off x="822960" y="4663440"/>
            <a:ext cx="10515600" cy="868680"/>
          </a:xfrm>
          <a:prstGeom prst="rect">
            <a:avLst/>
          </a:prstGeom>
          <a:noFill/>
          <a:ln/>
        </p:spPr>
        <p:txBody>
          <a:bodyPr wrap="square" lIns="0" tIns="0" rIns="0" bIns="0" rtlCol="0" anchor="ctr"/>
          <a:lstStyle/>
          <a:p>
            <a:pPr marL="0" indent="0">
              <a:lnSpc>
                <a:spcPts val="3300"/>
              </a:lnSpc>
              <a:buNone/>
            </a:pPr>
            <a:r>
              <a:rPr lang="en-US" sz="2600" dirty="0">
                <a:solidFill>
                  <a:srgbClr val="26221C"/>
                </a:solidFill>
                <a:latin typeface="Bookman Old Style" pitchFamily="34" charset="0"/>
                <a:ea typeface="Bookman Old Style" pitchFamily="34" charset="-122"/>
                <a:cs typeface="Bookman Old Style" pitchFamily="34" charset="-120"/>
              </a:rPr>
              <a:t>Whatever your FOB is, this is what lands at the port.</a:t>
            </a:r>
            <a:endParaRPr lang="en-US" sz="2600" dirty="0"/>
          </a:p>
        </p:txBody>
      </p:sp>
      <p:sp>
        <p:nvSpPr>
          <p:cNvPr id="6" name="Text 4"/>
          <p:cNvSpPr/>
          <p:nvPr/>
        </p:nvSpPr>
        <p:spPr>
          <a:xfrm>
            <a:off x="822960" y="5541264"/>
            <a:ext cx="10058400" cy="457200"/>
          </a:xfrm>
          <a:prstGeom prst="rect">
            <a:avLst/>
          </a:prstGeom>
          <a:noFill/>
          <a:ln/>
        </p:spPr>
        <p:txBody>
          <a:bodyPr wrap="square" lIns="0" tIns="0" rIns="0" bIns="0" rtlCol="0" anchor="ctr"/>
          <a:lstStyle/>
          <a:p>
            <a:pPr marL="0" indent="0">
              <a:lnSpc>
                <a:spcPts val="1800"/>
              </a:lnSpc>
              <a:buNone/>
            </a:pPr>
            <a:r>
              <a:rPr lang="en-US" sz="1300" dirty="0">
                <a:solidFill>
                  <a:srgbClr val="4A4338"/>
                </a:solidFill>
                <a:latin typeface="Calibri" pitchFamily="34" charset="0"/>
                <a:ea typeface="Calibri" pitchFamily="34" charset="-122"/>
                <a:cs typeface="Calibri" pitchFamily="34" charset="-120"/>
              </a:rPr>
              <a:t>Duty is charged on CIF: your goods, plus actual freight, plus actual insurance. No landing charge is added.</a:t>
            </a:r>
            <a:endParaRPr lang="en-US" sz="1300" dirty="0"/>
          </a:p>
        </p:txBody>
      </p:sp>
      <p:sp>
        <p:nvSpPr>
          <p:cNvPr id="7" name="Text 5"/>
          <p:cNvSpPr/>
          <p:nvPr/>
        </p:nvSpPr>
        <p:spPr>
          <a:xfrm>
            <a:off x="822960" y="6382512"/>
            <a:ext cx="10515600" cy="274320"/>
          </a:xfrm>
          <a:prstGeom prst="rect">
            <a:avLst/>
          </a:prstGeom>
          <a:noFill/>
          <a:ln/>
        </p:spPr>
        <p:txBody>
          <a:bodyPr wrap="square" lIns="0" tIns="0" rIns="0" bIns="0" rtlCol="0" anchor="ctr"/>
          <a:lstStyle/>
          <a:p>
            <a:pPr marL="0" indent="0">
              <a:buNone/>
            </a:pPr>
            <a:r>
              <a:rPr lang="en-US" sz="900" b="1" dirty="0">
                <a:solidFill>
                  <a:srgbClr val="8B6E3D"/>
                </a:solidFill>
                <a:latin typeface="Calibri" pitchFamily="34" charset="0"/>
                <a:ea typeface="Calibri" pitchFamily="34" charset="-122"/>
                <a:cs typeface="Calibri" pitchFamily="34" charset="-120"/>
              </a:rPr>
              <a:t>I N   T H I S   W E E K ' S   F I L E   S E T</a:t>
            </a:r>
            <a:r>
              <a:rPr lang="en-US" sz="1050" i="1" dirty="0">
                <a:solidFill>
                  <a:srgbClr val="6E5630"/>
                </a:solidFill>
                <a:latin typeface="Calibri" pitchFamily="34" charset="0"/>
                <a:ea typeface="Calibri" pitchFamily="34" charset="-122"/>
                <a:cs typeface="Calibri" pitchFamily="34" charset="-120"/>
              </a:rPr>
              <a:t>      No. 12 · The Three Gates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BF8F1"/>
        </a:solidFill>
        <a:effectLst/>
      </p:bgPr>
    </p:bg>
    <p:spTree>
      <p:nvGrpSpPr>
        <p:cNvPr id="1" name=""/>
        <p:cNvGrpSpPr/>
        <p:nvPr/>
      </p:nvGrpSpPr>
      <p:grpSpPr>
        <a:xfrm>
          <a:off x="0" y="0"/>
          <a:ext cx="0" cy="0"/>
          <a:chOff x="0" y="0"/>
          <a:chExt cx="0" cy="0"/>
        </a:xfrm>
      </p:grpSpPr>
      <p:sp>
        <p:nvSpPr>
          <p:cNvPr id="2" name="Text 0"/>
          <p:cNvSpPr/>
          <p:nvPr/>
        </p:nvSpPr>
        <p:spPr>
          <a:xfrm>
            <a:off x="822960" y="502920"/>
            <a:ext cx="9601200" cy="310896"/>
          </a:xfrm>
          <a:prstGeom prst="rect">
            <a:avLst/>
          </a:prstGeom>
          <a:noFill/>
          <a:ln/>
        </p:spPr>
        <p:txBody>
          <a:bodyPr wrap="square" lIns="0" tIns="0" rIns="0" bIns="0" rtlCol="0" anchor="ctr"/>
          <a:lstStyle/>
          <a:p>
            <a:pPr marL="0" indent="0">
              <a:buNone/>
            </a:pPr>
            <a:r>
              <a:rPr lang="en-US" sz="1100" b="1" kern="0" spc="340" dirty="0">
                <a:solidFill>
                  <a:srgbClr val="8B6E3D"/>
                </a:solidFill>
                <a:latin typeface="Calibri" pitchFamily="34" charset="0"/>
                <a:ea typeface="Calibri" pitchFamily="34" charset="-122"/>
                <a:cs typeface="Calibri" pitchFamily="34" charset="-120"/>
              </a:rPr>
              <a:t>S T E P   1      ·      F O U R   B O T T L E S ,   F O U R   A N S W E R S</a:t>
            </a:r>
            <a:endParaRPr lang="en-US" sz="1100" dirty="0"/>
          </a:p>
        </p:txBody>
      </p:sp>
      <p:sp>
        <p:nvSpPr>
          <p:cNvPr id="3" name="Text 1"/>
          <p:cNvSpPr/>
          <p:nvPr/>
        </p:nvSpPr>
        <p:spPr>
          <a:xfrm>
            <a:off x="822960" y="877824"/>
            <a:ext cx="10515600" cy="914400"/>
          </a:xfrm>
          <a:prstGeom prst="rect">
            <a:avLst/>
          </a:prstGeom>
          <a:noFill/>
          <a:ln/>
        </p:spPr>
        <p:txBody>
          <a:bodyPr wrap="square" lIns="0" tIns="0" rIns="0" bIns="0" rtlCol="0" anchor="ctr"/>
          <a:lstStyle/>
          <a:p>
            <a:pPr marL="0" indent="0">
              <a:lnSpc>
                <a:spcPts val="3240"/>
              </a:lnSpc>
              <a:buNone/>
            </a:pPr>
            <a:r>
              <a:rPr lang="en-US" sz="2700" dirty="0">
                <a:solidFill>
                  <a:srgbClr val="26221C"/>
                </a:solidFill>
                <a:latin typeface="Bookman Old Style" pitchFamily="34" charset="0"/>
                <a:ea typeface="Bookman Old Style" pitchFamily="34" charset="-122"/>
                <a:cs typeface="Bookman Old Style" pitchFamily="34" charset="-120"/>
              </a:rPr>
              <a:t>Find your bottle. This is what it costs at the port.</a:t>
            </a:r>
            <a:endParaRPr lang="en-US" sz="2700" dirty="0"/>
          </a:p>
        </p:txBody>
      </p:sp>
      <p:sp>
        <p:nvSpPr>
          <p:cNvPr id="4" name="Shape 2"/>
          <p:cNvSpPr/>
          <p:nvPr/>
        </p:nvSpPr>
        <p:spPr>
          <a:xfrm>
            <a:off x="822960" y="1847088"/>
            <a:ext cx="10545775" cy="0"/>
          </a:xfrm>
          <a:prstGeom prst="line">
            <a:avLst/>
          </a:prstGeom>
          <a:noFill/>
          <a:ln w="15875">
            <a:solidFill>
              <a:srgbClr val="26221C"/>
            </a:solidFill>
            <a:prstDash val="solid"/>
          </a:ln>
        </p:spPr>
      </p:sp>
      <p:sp>
        <p:nvSpPr>
          <p:cNvPr id="5" name="Text 3"/>
          <p:cNvSpPr/>
          <p:nvPr/>
        </p:nvSpPr>
        <p:spPr>
          <a:xfrm>
            <a:off x="822960" y="2139696"/>
            <a:ext cx="2179244" cy="274320"/>
          </a:xfrm>
          <a:prstGeom prst="rect">
            <a:avLst/>
          </a:prstGeom>
          <a:noFill/>
          <a:ln/>
        </p:spPr>
        <p:txBody>
          <a:bodyPr wrap="square" lIns="0" tIns="0" rIns="0" bIns="0" rtlCol="0" anchor="ctr"/>
          <a:lstStyle/>
          <a:p>
            <a:pPr marL="0" indent="0">
              <a:buNone/>
            </a:pPr>
            <a:r>
              <a:rPr lang="en-US" sz="1050" b="1" kern="0" spc="200" dirty="0">
                <a:solidFill>
                  <a:srgbClr val="8B6E3D"/>
                </a:solidFill>
                <a:latin typeface="Calibri" pitchFamily="34" charset="0"/>
                <a:ea typeface="Calibri" pitchFamily="34" charset="-122"/>
                <a:cs typeface="Calibri" pitchFamily="34" charset="-120"/>
              </a:rPr>
              <a:t>$ 5   F O B</a:t>
            </a:r>
            <a:endParaRPr lang="en-US" sz="1050" dirty="0"/>
          </a:p>
        </p:txBody>
      </p:sp>
      <p:sp>
        <p:nvSpPr>
          <p:cNvPr id="6" name="Text 4"/>
          <p:cNvSpPr/>
          <p:nvPr/>
        </p:nvSpPr>
        <p:spPr>
          <a:xfrm>
            <a:off x="822960" y="2450592"/>
            <a:ext cx="2270684" cy="960120"/>
          </a:xfrm>
          <a:prstGeom prst="rect">
            <a:avLst/>
          </a:prstGeom>
          <a:noFill/>
          <a:ln/>
        </p:spPr>
        <p:txBody>
          <a:bodyPr wrap="square" lIns="0" tIns="0" rIns="0" bIns="0" rtlCol="0" anchor="ctr"/>
          <a:lstStyle/>
          <a:p>
            <a:pPr marL="0" indent="0">
              <a:buNone/>
            </a:pPr>
            <a:r>
              <a:rPr lang="en-US" sz="5000" dirty="0">
                <a:solidFill>
                  <a:srgbClr val="26221C"/>
                </a:solidFill>
                <a:latin typeface="Bookman Old Style" pitchFamily="34" charset="0"/>
                <a:ea typeface="Bookman Old Style" pitchFamily="34" charset="-122"/>
                <a:cs typeface="Bookman Old Style" pitchFamily="34" charset="-120"/>
              </a:rPr>
              <a:t>₹1,268</a:t>
            </a:r>
            <a:endParaRPr lang="en-US" sz="5000" dirty="0"/>
          </a:p>
        </p:txBody>
      </p:sp>
      <p:sp>
        <p:nvSpPr>
          <p:cNvPr id="7" name="Text 5"/>
          <p:cNvSpPr/>
          <p:nvPr/>
        </p:nvSpPr>
        <p:spPr>
          <a:xfrm>
            <a:off x="822960" y="3438144"/>
            <a:ext cx="2179244" cy="822960"/>
          </a:xfrm>
          <a:prstGeom prst="rect">
            <a:avLst/>
          </a:prstGeom>
          <a:noFill/>
          <a:ln/>
        </p:spPr>
        <p:txBody>
          <a:bodyPr wrap="square" lIns="0" tIns="0" rIns="0" bIns="0" rtlCol="0" anchor="t"/>
          <a:lstStyle/>
          <a:p>
            <a:pPr marL="0" indent="0">
              <a:lnSpc>
                <a:spcPts val="1600"/>
              </a:lnSpc>
              <a:buNone/>
            </a:pPr>
            <a:r>
              <a:rPr lang="en-US" sz="1150" dirty="0">
                <a:solidFill>
                  <a:srgbClr val="4A4338"/>
                </a:solidFill>
                <a:latin typeface="Calibri" pitchFamily="34" charset="0"/>
                <a:ea typeface="Calibri" pitchFamily="34" charset="-122"/>
                <a:cs typeface="Calibri" pitchFamily="34" charset="-120"/>
              </a:rPr>
              <a:t>per 750 ml bottle, duty paid</a:t>
            </a:r>
            <a:endParaRPr lang="en-US" sz="1150" dirty="0"/>
          </a:p>
        </p:txBody>
      </p:sp>
      <p:sp>
        <p:nvSpPr>
          <p:cNvPr id="8" name="Shape 6"/>
          <p:cNvSpPr/>
          <p:nvPr/>
        </p:nvSpPr>
        <p:spPr>
          <a:xfrm>
            <a:off x="3203372" y="2231136"/>
            <a:ext cx="0" cy="1417320"/>
          </a:xfrm>
          <a:prstGeom prst="line">
            <a:avLst/>
          </a:prstGeom>
          <a:noFill/>
          <a:ln w="9525">
            <a:solidFill>
              <a:srgbClr val="D8CDB6"/>
            </a:solidFill>
            <a:prstDash val="solid"/>
          </a:ln>
        </p:spPr>
      </p:sp>
      <p:sp>
        <p:nvSpPr>
          <p:cNvPr id="9" name="Text 7"/>
          <p:cNvSpPr/>
          <p:nvPr/>
        </p:nvSpPr>
        <p:spPr>
          <a:xfrm>
            <a:off x="3459404" y="2139696"/>
            <a:ext cx="2179244" cy="274320"/>
          </a:xfrm>
          <a:prstGeom prst="rect">
            <a:avLst/>
          </a:prstGeom>
          <a:noFill/>
          <a:ln/>
        </p:spPr>
        <p:txBody>
          <a:bodyPr wrap="square" lIns="0" tIns="0" rIns="0" bIns="0" rtlCol="0" anchor="ctr"/>
          <a:lstStyle/>
          <a:p>
            <a:pPr marL="0" indent="0">
              <a:buNone/>
            </a:pPr>
            <a:r>
              <a:rPr lang="en-US" sz="1050" b="1" kern="0" spc="200" dirty="0">
                <a:solidFill>
                  <a:srgbClr val="8B6E3D"/>
                </a:solidFill>
                <a:latin typeface="Calibri" pitchFamily="34" charset="0"/>
                <a:ea typeface="Calibri" pitchFamily="34" charset="-122"/>
                <a:cs typeface="Calibri" pitchFamily="34" charset="-120"/>
              </a:rPr>
              <a:t>$ 1 0   F O B</a:t>
            </a:r>
            <a:endParaRPr lang="en-US" sz="1050" dirty="0"/>
          </a:p>
        </p:txBody>
      </p:sp>
      <p:sp>
        <p:nvSpPr>
          <p:cNvPr id="10" name="Text 8"/>
          <p:cNvSpPr/>
          <p:nvPr/>
        </p:nvSpPr>
        <p:spPr>
          <a:xfrm>
            <a:off x="3459404" y="2450592"/>
            <a:ext cx="2270684" cy="960120"/>
          </a:xfrm>
          <a:prstGeom prst="rect">
            <a:avLst/>
          </a:prstGeom>
          <a:noFill/>
          <a:ln/>
        </p:spPr>
        <p:txBody>
          <a:bodyPr wrap="square" lIns="0" tIns="0" rIns="0" bIns="0" rtlCol="0" anchor="ctr"/>
          <a:lstStyle/>
          <a:p>
            <a:pPr marL="0" indent="0">
              <a:buNone/>
            </a:pPr>
            <a:r>
              <a:rPr lang="en-US" sz="5000" dirty="0">
                <a:solidFill>
                  <a:srgbClr val="26221C"/>
                </a:solidFill>
                <a:latin typeface="Bookman Old Style" pitchFamily="34" charset="0"/>
                <a:ea typeface="Bookman Old Style" pitchFamily="34" charset="-122"/>
                <a:cs typeface="Bookman Old Style" pitchFamily="34" charset="-120"/>
              </a:rPr>
              <a:t>₹2,475</a:t>
            </a:r>
            <a:endParaRPr lang="en-US" sz="5000" dirty="0"/>
          </a:p>
        </p:txBody>
      </p:sp>
      <p:sp>
        <p:nvSpPr>
          <p:cNvPr id="11" name="Text 9"/>
          <p:cNvSpPr/>
          <p:nvPr/>
        </p:nvSpPr>
        <p:spPr>
          <a:xfrm>
            <a:off x="3459404" y="3438144"/>
            <a:ext cx="2179244" cy="822960"/>
          </a:xfrm>
          <a:prstGeom prst="rect">
            <a:avLst/>
          </a:prstGeom>
          <a:noFill/>
          <a:ln/>
        </p:spPr>
        <p:txBody>
          <a:bodyPr wrap="square" lIns="0" tIns="0" rIns="0" bIns="0" rtlCol="0" anchor="t"/>
          <a:lstStyle/>
          <a:p>
            <a:pPr marL="0" indent="0">
              <a:lnSpc>
                <a:spcPts val="1600"/>
              </a:lnSpc>
              <a:buNone/>
            </a:pPr>
            <a:r>
              <a:rPr lang="en-US" sz="1150" dirty="0">
                <a:solidFill>
                  <a:srgbClr val="4A4338"/>
                </a:solidFill>
                <a:latin typeface="Calibri" pitchFamily="34" charset="0"/>
                <a:ea typeface="Calibri" pitchFamily="34" charset="-122"/>
                <a:cs typeface="Calibri" pitchFamily="34" charset="-120"/>
              </a:rPr>
              <a:t>per 750 ml bottle, duty paid</a:t>
            </a:r>
            <a:endParaRPr lang="en-US" sz="1150" dirty="0"/>
          </a:p>
        </p:txBody>
      </p:sp>
      <p:sp>
        <p:nvSpPr>
          <p:cNvPr id="12" name="Shape 10"/>
          <p:cNvSpPr/>
          <p:nvPr/>
        </p:nvSpPr>
        <p:spPr>
          <a:xfrm>
            <a:off x="5839816" y="2231136"/>
            <a:ext cx="0" cy="1417320"/>
          </a:xfrm>
          <a:prstGeom prst="line">
            <a:avLst/>
          </a:prstGeom>
          <a:noFill/>
          <a:ln w="9525">
            <a:solidFill>
              <a:srgbClr val="D8CDB6"/>
            </a:solidFill>
            <a:prstDash val="solid"/>
          </a:ln>
        </p:spPr>
      </p:sp>
      <p:sp>
        <p:nvSpPr>
          <p:cNvPr id="13" name="Text 11"/>
          <p:cNvSpPr/>
          <p:nvPr/>
        </p:nvSpPr>
        <p:spPr>
          <a:xfrm>
            <a:off x="6095848" y="2139696"/>
            <a:ext cx="2179244" cy="274320"/>
          </a:xfrm>
          <a:prstGeom prst="rect">
            <a:avLst/>
          </a:prstGeom>
          <a:noFill/>
          <a:ln/>
        </p:spPr>
        <p:txBody>
          <a:bodyPr wrap="square" lIns="0" tIns="0" rIns="0" bIns="0" rtlCol="0" anchor="ctr"/>
          <a:lstStyle/>
          <a:p>
            <a:pPr marL="0" indent="0">
              <a:buNone/>
            </a:pPr>
            <a:r>
              <a:rPr lang="en-US" sz="1050" b="1" kern="0" spc="200" dirty="0">
                <a:solidFill>
                  <a:srgbClr val="8B6E3D"/>
                </a:solidFill>
                <a:latin typeface="Calibri" pitchFamily="34" charset="0"/>
                <a:ea typeface="Calibri" pitchFamily="34" charset="-122"/>
                <a:cs typeface="Calibri" pitchFamily="34" charset="-120"/>
              </a:rPr>
              <a:t>$ 1 5   F O B</a:t>
            </a:r>
            <a:endParaRPr lang="en-US" sz="1050" dirty="0"/>
          </a:p>
        </p:txBody>
      </p:sp>
      <p:sp>
        <p:nvSpPr>
          <p:cNvPr id="14" name="Text 12"/>
          <p:cNvSpPr/>
          <p:nvPr/>
        </p:nvSpPr>
        <p:spPr>
          <a:xfrm>
            <a:off x="6095848" y="2450592"/>
            <a:ext cx="2270684" cy="960120"/>
          </a:xfrm>
          <a:prstGeom prst="rect">
            <a:avLst/>
          </a:prstGeom>
          <a:noFill/>
          <a:ln/>
        </p:spPr>
        <p:txBody>
          <a:bodyPr wrap="square" lIns="0" tIns="0" rIns="0" bIns="0" rtlCol="0" anchor="ctr"/>
          <a:lstStyle/>
          <a:p>
            <a:pPr marL="0" indent="0">
              <a:buNone/>
            </a:pPr>
            <a:r>
              <a:rPr lang="en-US" sz="5000" dirty="0">
                <a:solidFill>
                  <a:srgbClr val="26221C"/>
                </a:solidFill>
                <a:latin typeface="Bookman Old Style" pitchFamily="34" charset="0"/>
                <a:ea typeface="Bookman Old Style" pitchFamily="34" charset="-122"/>
                <a:cs typeface="Bookman Old Style" pitchFamily="34" charset="-120"/>
              </a:rPr>
              <a:t>₹3,683</a:t>
            </a:r>
            <a:endParaRPr lang="en-US" sz="5000" dirty="0"/>
          </a:p>
        </p:txBody>
      </p:sp>
      <p:sp>
        <p:nvSpPr>
          <p:cNvPr id="15" name="Text 13"/>
          <p:cNvSpPr/>
          <p:nvPr/>
        </p:nvSpPr>
        <p:spPr>
          <a:xfrm>
            <a:off x="6095848" y="3438144"/>
            <a:ext cx="2179244" cy="822960"/>
          </a:xfrm>
          <a:prstGeom prst="rect">
            <a:avLst/>
          </a:prstGeom>
          <a:noFill/>
          <a:ln/>
        </p:spPr>
        <p:txBody>
          <a:bodyPr wrap="square" lIns="0" tIns="0" rIns="0" bIns="0" rtlCol="0" anchor="t"/>
          <a:lstStyle/>
          <a:p>
            <a:pPr marL="0" indent="0">
              <a:lnSpc>
                <a:spcPts val="1600"/>
              </a:lnSpc>
              <a:buNone/>
            </a:pPr>
            <a:r>
              <a:rPr lang="en-US" sz="1150" dirty="0">
                <a:solidFill>
                  <a:srgbClr val="4A4338"/>
                </a:solidFill>
                <a:latin typeface="Calibri" pitchFamily="34" charset="0"/>
                <a:ea typeface="Calibri" pitchFamily="34" charset="-122"/>
                <a:cs typeface="Calibri" pitchFamily="34" charset="-120"/>
              </a:rPr>
              <a:t>per 750 ml bottle, duty paid</a:t>
            </a:r>
            <a:endParaRPr lang="en-US" sz="1150" dirty="0"/>
          </a:p>
        </p:txBody>
      </p:sp>
      <p:sp>
        <p:nvSpPr>
          <p:cNvPr id="16" name="Shape 14"/>
          <p:cNvSpPr/>
          <p:nvPr/>
        </p:nvSpPr>
        <p:spPr>
          <a:xfrm>
            <a:off x="8476259" y="2231136"/>
            <a:ext cx="0" cy="1417320"/>
          </a:xfrm>
          <a:prstGeom prst="line">
            <a:avLst/>
          </a:prstGeom>
          <a:noFill/>
          <a:ln w="9525">
            <a:solidFill>
              <a:srgbClr val="D8CDB6"/>
            </a:solidFill>
            <a:prstDash val="solid"/>
          </a:ln>
        </p:spPr>
      </p:sp>
      <p:sp>
        <p:nvSpPr>
          <p:cNvPr id="17" name="Text 15"/>
          <p:cNvSpPr/>
          <p:nvPr/>
        </p:nvSpPr>
        <p:spPr>
          <a:xfrm>
            <a:off x="8732291" y="2139696"/>
            <a:ext cx="2179244" cy="274320"/>
          </a:xfrm>
          <a:prstGeom prst="rect">
            <a:avLst/>
          </a:prstGeom>
          <a:noFill/>
          <a:ln/>
        </p:spPr>
        <p:txBody>
          <a:bodyPr wrap="square" lIns="0" tIns="0" rIns="0" bIns="0" rtlCol="0" anchor="ctr"/>
          <a:lstStyle/>
          <a:p>
            <a:pPr marL="0" indent="0">
              <a:buNone/>
            </a:pPr>
            <a:r>
              <a:rPr lang="en-US" sz="1050" b="1" kern="0" spc="200" dirty="0">
                <a:solidFill>
                  <a:srgbClr val="8B6E3D"/>
                </a:solidFill>
                <a:latin typeface="Calibri" pitchFamily="34" charset="0"/>
                <a:ea typeface="Calibri" pitchFamily="34" charset="-122"/>
                <a:cs typeface="Calibri" pitchFamily="34" charset="-120"/>
              </a:rPr>
              <a:t>$ 2 0   F O B</a:t>
            </a:r>
            <a:endParaRPr lang="en-US" sz="1050" dirty="0"/>
          </a:p>
        </p:txBody>
      </p:sp>
      <p:sp>
        <p:nvSpPr>
          <p:cNvPr id="18" name="Text 16"/>
          <p:cNvSpPr/>
          <p:nvPr/>
        </p:nvSpPr>
        <p:spPr>
          <a:xfrm>
            <a:off x="8732291" y="2450592"/>
            <a:ext cx="2270684" cy="960120"/>
          </a:xfrm>
          <a:prstGeom prst="rect">
            <a:avLst/>
          </a:prstGeom>
          <a:noFill/>
          <a:ln/>
        </p:spPr>
        <p:txBody>
          <a:bodyPr wrap="square" lIns="0" tIns="0" rIns="0" bIns="0" rtlCol="0" anchor="ctr"/>
          <a:lstStyle/>
          <a:p>
            <a:pPr marL="0" indent="0">
              <a:buNone/>
            </a:pPr>
            <a:r>
              <a:rPr lang="en-US" sz="5000" dirty="0">
                <a:solidFill>
                  <a:srgbClr val="26221C"/>
                </a:solidFill>
                <a:latin typeface="Bookman Old Style" pitchFamily="34" charset="0"/>
                <a:ea typeface="Bookman Old Style" pitchFamily="34" charset="-122"/>
                <a:cs typeface="Bookman Old Style" pitchFamily="34" charset="-120"/>
              </a:rPr>
              <a:t>₹4,891</a:t>
            </a:r>
            <a:endParaRPr lang="en-US" sz="5000" dirty="0"/>
          </a:p>
        </p:txBody>
      </p:sp>
      <p:sp>
        <p:nvSpPr>
          <p:cNvPr id="19" name="Text 17"/>
          <p:cNvSpPr/>
          <p:nvPr/>
        </p:nvSpPr>
        <p:spPr>
          <a:xfrm>
            <a:off x="8732291" y="3438144"/>
            <a:ext cx="2179244" cy="822960"/>
          </a:xfrm>
          <a:prstGeom prst="rect">
            <a:avLst/>
          </a:prstGeom>
          <a:noFill/>
          <a:ln/>
        </p:spPr>
        <p:txBody>
          <a:bodyPr wrap="square" lIns="0" tIns="0" rIns="0" bIns="0" rtlCol="0" anchor="t"/>
          <a:lstStyle/>
          <a:p>
            <a:pPr marL="0" indent="0">
              <a:lnSpc>
                <a:spcPts val="1600"/>
              </a:lnSpc>
              <a:buNone/>
            </a:pPr>
            <a:r>
              <a:rPr lang="en-US" sz="1150" dirty="0">
                <a:solidFill>
                  <a:srgbClr val="4A4338"/>
                </a:solidFill>
                <a:latin typeface="Calibri" pitchFamily="34" charset="0"/>
                <a:ea typeface="Calibri" pitchFamily="34" charset="-122"/>
                <a:cs typeface="Calibri" pitchFamily="34" charset="-120"/>
              </a:rPr>
              <a:t>per 750 ml bottle, duty paid</a:t>
            </a:r>
            <a:endParaRPr lang="en-US" sz="1150" dirty="0"/>
          </a:p>
        </p:txBody>
      </p:sp>
      <p:sp>
        <p:nvSpPr>
          <p:cNvPr id="20" name="Shape 18"/>
          <p:cNvSpPr/>
          <p:nvPr/>
        </p:nvSpPr>
        <p:spPr>
          <a:xfrm>
            <a:off x="822960" y="4279392"/>
            <a:ext cx="10545775" cy="0"/>
          </a:xfrm>
          <a:prstGeom prst="line">
            <a:avLst/>
          </a:prstGeom>
          <a:noFill/>
          <a:ln w="9525">
            <a:solidFill>
              <a:srgbClr val="D8CDB6"/>
            </a:solidFill>
            <a:prstDash val="solid"/>
          </a:ln>
        </p:spPr>
      </p:sp>
      <p:sp>
        <p:nvSpPr>
          <p:cNvPr id="21" name="Text 19"/>
          <p:cNvSpPr/>
          <p:nvPr/>
        </p:nvSpPr>
        <p:spPr>
          <a:xfrm>
            <a:off x="822960" y="4535424"/>
            <a:ext cx="10058400" cy="822960"/>
          </a:xfrm>
          <a:prstGeom prst="rect">
            <a:avLst/>
          </a:prstGeom>
          <a:noFill/>
          <a:ln/>
        </p:spPr>
        <p:txBody>
          <a:bodyPr wrap="square" lIns="0" tIns="0" rIns="0" bIns="0" rtlCol="0" anchor="ctr"/>
          <a:lstStyle/>
          <a:p>
            <a:pPr marL="0" indent="0">
              <a:lnSpc>
                <a:spcPts val="2800"/>
              </a:lnSpc>
              <a:buNone/>
            </a:pPr>
            <a:r>
              <a:rPr lang="en-US" sz="2100" dirty="0">
                <a:solidFill>
                  <a:srgbClr val="26221C"/>
                </a:solidFill>
                <a:latin typeface="Bookman Old Style" pitchFamily="34" charset="0"/>
                <a:ea typeface="Bookman Old Style" pitchFamily="34" charset="-122"/>
                <a:cs typeface="Bookman Old Style" pitchFamily="34" charset="-120"/>
              </a:rPr>
              <a:t>Freight is eighteen to forty-eight US cents a bottle in every realistic configuration. Freight is not your problem. Duty is.</a:t>
            </a:r>
            <a:endParaRPr lang="en-US" sz="2100" dirty="0"/>
          </a:p>
        </p:txBody>
      </p:sp>
      <p:sp>
        <p:nvSpPr>
          <p:cNvPr id="22" name="Text 20"/>
          <p:cNvSpPr/>
          <p:nvPr/>
        </p:nvSpPr>
        <p:spPr>
          <a:xfrm>
            <a:off x="822960" y="6382512"/>
            <a:ext cx="10515600" cy="274320"/>
          </a:xfrm>
          <a:prstGeom prst="rect">
            <a:avLst/>
          </a:prstGeom>
          <a:noFill/>
          <a:ln/>
        </p:spPr>
        <p:txBody>
          <a:bodyPr wrap="square" lIns="0" tIns="0" rIns="0" bIns="0" rtlCol="0" anchor="ctr"/>
          <a:lstStyle/>
          <a:p>
            <a:pPr marL="0" indent="0">
              <a:buNone/>
            </a:pPr>
            <a:r>
              <a:rPr lang="en-US" sz="900" b="1" dirty="0">
                <a:solidFill>
                  <a:srgbClr val="8B6E3D"/>
                </a:solidFill>
                <a:latin typeface="Calibri" pitchFamily="34" charset="0"/>
                <a:ea typeface="Calibri" pitchFamily="34" charset="-122"/>
                <a:cs typeface="Calibri" pitchFamily="34" charset="-120"/>
              </a:rPr>
              <a:t>I N   T H I S   W E E K ' S   F I L E   S E T</a:t>
            </a:r>
            <a:r>
              <a:rPr lang="en-US" sz="1050" i="1" dirty="0">
                <a:solidFill>
                  <a:srgbClr val="6E5630"/>
                </a:solidFill>
                <a:latin typeface="Calibri" pitchFamily="34" charset="0"/>
                <a:ea typeface="Calibri" pitchFamily="34" charset="-122"/>
                <a:cs typeface="Calibri" pitchFamily="34" charset="-120"/>
              </a:rPr>
              <a:t>      No. 12 · The Three Gates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BF8F1"/>
        </a:solidFill>
        <a:effectLst/>
      </p:bgPr>
    </p:bg>
    <p:spTree>
      <p:nvGrpSpPr>
        <p:cNvPr id="1" name=""/>
        <p:cNvGrpSpPr/>
        <p:nvPr/>
      </p:nvGrpSpPr>
      <p:grpSpPr>
        <a:xfrm>
          <a:off x="0" y="0"/>
          <a:ext cx="0" cy="0"/>
          <a:chOff x="0" y="0"/>
          <a:chExt cx="0" cy="0"/>
        </a:xfrm>
      </p:grpSpPr>
      <p:sp>
        <p:nvSpPr>
          <p:cNvPr id="2" name="Text 0"/>
          <p:cNvSpPr/>
          <p:nvPr/>
        </p:nvSpPr>
        <p:spPr>
          <a:xfrm>
            <a:off x="822960" y="502920"/>
            <a:ext cx="9601200" cy="310896"/>
          </a:xfrm>
          <a:prstGeom prst="rect">
            <a:avLst/>
          </a:prstGeom>
          <a:noFill/>
          <a:ln/>
        </p:spPr>
        <p:txBody>
          <a:bodyPr wrap="square" lIns="0" tIns="0" rIns="0" bIns="0" rtlCol="0" anchor="ctr"/>
          <a:lstStyle/>
          <a:p>
            <a:pPr marL="0" indent="0">
              <a:buNone/>
            </a:pPr>
            <a:r>
              <a:rPr lang="en-US" sz="1100" b="1" kern="0" spc="340" dirty="0">
                <a:solidFill>
                  <a:srgbClr val="8B6E3D"/>
                </a:solidFill>
                <a:latin typeface="Calibri" pitchFamily="34" charset="0"/>
                <a:ea typeface="Calibri" pitchFamily="34" charset="-122"/>
                <a:cs typeface="Calibri" pitchFamily="34" charset="-120"/>
              </a:rPr>
              <a:t>S T E P   2      ·      F R O M   T H E   P O R T   T O   T H E   S H E L F</a:t>
            </a:r>
            <a:endParaRPr lang="en-US" sz="1100" dirty="0"/>
          </a:p>
        </p:txBody>
      </p:sp>
      <p:sp>
        <p:nvSpPr>
          <p:cNvPr id="3" name="Text 1"/>
          <p:cNvSpPr/>
          <p:nvPr/>
        </p:nvSpPr>
        <p:spPr>
          <a:xfrm>
            <a:off x="822960" y="1481328"/>
            <a:ext cx="10515600" cy="2651760"/>
          </a:xfrm>
          <a:prstGeom prst="rect">
            <a:avLst/>
          </a:prstGeom>
          <a:noFill/>
          <a:ln/>
        </p:spPr>
        <p:txBody>
          <a:bodyPr wrap="square" lIns="0" tIns="0" rIns="0" bIns="0" rtlCol="0" anchor="ctr"/>
          <a:lstStyle/>
          <a:p>
            <a:pPr marL="0" indent="0">
              <a:lnSpc>
                <a:spcPts val="19380"/>
              </a:lnSpc>
              <a:buNone/>
            </a:pPr>
            <a:r>
              <a:rPr lang="en-US" sz="19000" dirty="0">
                <a:solidFill>
                  <a:srgbClr val="8B6E3D"/>
                </a:solidFill>
                <a:latin typeface="Bookman Old Style" pitchFamily="34" charset="0"/>
                <a:ea typeface="Bookman Old Style" pitchFamily="34" charset="-122"/>
                <a:cs typeface="Bookman Old Style" pitchFamily="34" charset="-120"/>
              </a:rPr>
              <a:t>₹9,500</a:t>
            </a:r>
            <a:endParaRPr lang="en-US" sz="19000" dirty="0"/>
          </a:p>
        </p:txBody>
      </p:sp>
      <p:sp>
        <p:nvSpPr>
          <p:cNvPr id="4" name="Shape 2"/>
          <p:cNvSpPr/>
          <p:nvPr/>
        </p:nvSpPr>
        <p:spPr>
          <a:xfrm>
            <a:off x="822960" y="4443984"/>
            <a:ext cx="2971800" cy="0"/>
          </a:xfrm>
          <a:prstGeom prst="line">
            <a:avLst/>
          </a:prstGeom>
          <a:noFill/>
          <a:ln w="15875">
            <a:solidFill>
              <a:srgbClr val="6E5630"/>
            </a:solidFill>
            <a:prstDash val="solid"/>
          </a:ln>
        </p:spPr>
      </p:sp>
      <p:sp>
        <p:nvSpPr>
          <p:cNvPr id="5" name="Text 3"/>
          <p:cNvSpPr/>
          <p:nvPr/>
        </p:nvSpPr>
        <p:spPr>
          <a:xfrm>
            <a:off x="822960" y="4663440"/>
            <a:ext cx="10515600" cy="868680"/>
          </a:xfrm>
          <a:prstGeom prst="rect">
            <a:avLst/>
          </a:prstGeom>
          <a:noFill/>
          <a:ln/>
        </p:spPr>
        <p:txBody>
          <a:bodyPr wrap="square" lIns="0" tIns="0" rIns="0" bIns="0" rtlCol="0" anchor="ctr"/>
          <a:lstStyle/>
          <a:p>
            <a:pPr marL="0" indent="0">
              <a:lnSpc>
                <a:spcPts val="3300"/>
              </a:lnSpc>
              <a:buNone/>
            </a:pPr>
            <a:r>
              <a:rPr lang="en-US" sz="2600" dirty="0">
                <a:solidFill>
                  <a:srgbClr val="26221C"/>
                </a:solidFill>
                <a:latin typeface="Bookman Old Style" pitchFamily="34" charset="0"/>
                <a:ea typeface="Bookman Old Style" pitchFamily="34" charset="-122"/>
                <a:cs typeface="Bookman Old Style" pitchFamily="34" charset="-120"/>
              </a:rPr>
              <a:t>Above fifteen dollars, the shelf stops paying you more.</a:t>
            </a:r>
            <a:endParaRPr lang="en-US" sz="2600" dirty="0"/>
          </a:p>
        </p:txBody>
      </p:sp>
      <p:sp>
        <p:nvSpPr>
          <p:cNvPr id="6" name="Text 4"/>
          <p:cNvSpPr/>
          <p:nvPr/>
        </p:nvSpPr>
        <p:spPr>
          <a:xfrm>
            <a:off x="822960" y="5541264"/>
            <a:ext cx="10058400" cy="457200"/>
          </a:xfrm>
          <a:prstGeom prst="rect">
            <a:avLst/>
          </a:prstGeom>
          <a:noFill/>
          <a:ln/>
        </p:spPr>
        <p:txBody>
          <a:bodyPr wrap="square" lIns="0" tIns="0" rIns="0" bIns="0" rtlCol="0" anchor="ctr"/>
          <a:lstStyle/>
          <a:p>
            <a:pPr marL="0" indent="0">
              <a:lnSpc>
                <a:spcPts val="1800"/>
              </a:lnSpc>
              <a:buNone/>
            </a:pPr>
            <a:r>
              <a:rPr lang="en-US" sz="1300" dirty="0">
                <a:solidFill>
                  <a:srgbClr val="4A4338"/>
                </a:solidFill>
                <a:latin typeface="Calibri" pitchFamily="34" charset="0"/>
                <a:ea typeface="Calibri" pitchFamily="34" charset="-122"/>
                <a:cs typeface="Calibri" pitchFamily="34" charset="-120"/>
              </a:rPr>
              <a:t>Don Julio Blanco sells between ₹6,500 in Goa and ₹8,000 in Karnataka. That anchor is your ceiling, not your ambition.</a:t>
            </a:r>
            <a:endParaRPr lang="en-US" sz="1300" dirty="0"/>
          </a:p>
        </p:txBody>
      </p:sp>
      <p:sp>
        <p:nvSpPr>
          <p:cNvPr id="7" name="Text 5"/>
          <p:cNvSpPr/>
          <p:nvPr/>
        </p:nvSpPr>
        <p:spPr>
          <a:xfrm>
            <a:off x="822960" y="6382512"/>
            <a:ext cx="10515600" cy="274320"/>
          </a:xfrm>
          <a:prstGeom prst="rect">
            <a:avLst/>
          </a:prstGeom>
          <a:noFill/>
          <a:ln/>
        </p:spPr>
        <p:txBody>
          <a:bodyPr wrap="square" lIns="0" tIns="0" rIns="0" bIns="0" rtlCol="0" anchor="ctr"/>
          <a:lstStyle/>
          <a:p>
            <a:pPr marL="0" indent="0">
              <a:buNone/>
            </a:pPr>
            <a:r>
              <a:rPr lang="en-US" sz="900" b="1" dirty="0">
                <a:solidFill>
                  <a:srgbClr val="8B6E3D"/>
                </a:solidFill>
                <a:latin typeface="Calibri" pitchFamily="34" charset="0"/>
                <a:ea typeface="Calibri" pitchFamily="34" charset="-122"/>
                <a:cs typeface="Calibri" pitchFamily="34" charset="-120"/>
              </a:rPr>
              <a:t>I N   T H I S   W E E K ' S   F I L E   S E T</a:t>
            </a:r>
            <a:r>
              <a:rPr lang="en-US" sz="1050" i="1" dirty="0">
                <a:solidFill>
                  <a:srgbClr val="6E5630"/>
                </a:solidFill>
                <a:latin typeface="Calibri" pitchFamily="34" charset="0"/>
                <a:ea typeface="Calibri" pitchFamily="34" charset="-122"/>
                <a:cs typeface="Calibri" pitchFamily="34" charset="-120"/>
              </a:rPr>
              <a:t>      No. 12 · The Three Gates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BF8F1"/>
        </a:solidFill>
        <a:effectLst/>
      </p:bgPr>
    </p:bg>
    <p:spTree>
      <p:nvGrpSpPr>
        <p:cNvPr id="1" name=""/>
        <p:cNvGrpSpPr/>
        <p:nvPr/>
      </p:nvGrpSpPr>
      <p:grpSpPr>
        <a:xfrm>
          <a:off x="0" y="0"/>
          <a:ext cx="0" cy="0"/>
          <a:chOff x="0" y="0"/>
          <a:chExt cx="0" cy="0"/>
        </a:xfrm>
      </p:grpSpPr>
      <p:sp>
        <p:nvSpPr>
          <p:cNvPr id="2" name="Text 0"/>
          <p:cNvSpPr/>
          <p:nvPr/>
        </p:nvSpPr>
        <p:spPr>
          <a:xfrm>
            <a:off x="822960" y="502920"/>
            <a:ext cx="9601200" cy="310896"/>
          </a:xfrm>
          <a:prstGeom prst="rect">
            <a:avLst/>
          </a:prstGeom>
          <a:noFill/>
          <a:ln/>
        </p:spPr>
        <p:txBody>
          <a:bodyPr wrap="square" lIns="0" tIns="0" rIns="0" bIns="0" rtlCol="0" anchor="ctr"/>
          <a:lstStyle/>
          <a:p>
            <a:pPr marL="0" indent="0">
              <a:buNone/>
            </a:pPr>
            <a:r>
              <a:rPr lang="en-US" sz="1100" b="1" kern="0" spc="340" dirty="0">
                <a:solidFill>
                  <a:srgbClr val="8B6E3D"/>
                </a:solidFill>
                <a:latin typeface="Calibri" pitchFamily="34" charset="0"/>
                <a:ea typeface="Calibri" pitchFamily="34" charset="-122"/>
                <a:cs typeface="Calibri" pitchFamily="34" charset="-120"/>
              </a:rPr>
              <a:t>S T E P   2      ·      W H A T   T O   P L A N   A T</a:t>
            </a:r>
            <a:endParaRPr lang="en-US" sz="1100" dirty="0"/>
          </a:p>
        </p:txBody>
      </p:sp>
      <p:sp>
        <p:nvSpPr>
          <p:cNvPr id="3" name="Text 1"/>
          <p:cNvSpPr/>
          <p:nvPr/>
        </p:nvSpPr>
        <p:spPr>
          <a:xfrm>
            <a:off x="822960" y="877824"/>
            <a:ext cx="10515600" cy="914400"/>
          </a:xfrm>
          <a:prstGeom prst="rect">
            <a:avLst/>
          </a:prstGeom>
          <a:noFill/>
          <a:ln/>
        </p:spPr>
        <p:txBody>
          <a:bodyPr wrap="square" lIns="0" tIns="0" rIns="0" bIns="0" rtlCol="0" anchor="ctr"/>
          <a:lstStyle/>
          <a:p>
            <a:pPr marL="0" indent="0">
              <a:lnSpc>
                <a:spcPts val="3240"/>
              </a:lnSpc>
              <a:buNone/>
            </a:pPr>
            <a:r>
              <a:rPr lang="en-US" sz="2700" dirty="0">
                <a:solidFill>
                  <a:srgbClr val="26221C"/>
                </a:solidFill>
                <a:latin typeface="Bookman Old Style" pitchFamily="34" charset="0"/>
                <a:ea typeface="Bookman Old Style" pitchFamily="34" charset="-122"/>
                <a:cs typeface="Bookman Old Style" pitchFamily="34" charset="-120"/>
              </a:rPr>
              <a:t>Three planning numbers. Take the one nearest your bottle.</a:t>
            </a:r>
            <a:endParaRPr lang="en-US" sz="2700" dirty="0"/>
          </a:p>
        </p:txBody>
      </p:sp>
      <p:sp>
        <p:nvSpPr>
          <p:cNvPr id="4" name="Shape 2"/>
          <p:cNvSpPr/>
          <p:nvPr/>
        </p:nvSpPr>
        <p:spPr>
          <a:xfrm>
            <a:off x="822960" y="1847088"/>
            <a:ext cx="10545775" cy="0"/>
          </a:xfrm>
          <a:prstGeom prst="line">
            <a:avLst/>
          </a:prstGeom>
          <a:noFill/>
          <a:ln w="15875">
            <a:solidFill>
              <a:srgbClr val="26221C"/>
            </a:solidFill>
            <a:prstDash val="solid"/>
          </a:ln>
        </p:spPr>
      </p:sp>
      <p:sp>
        <p:nvSpPr>
          <p:cNvPr id="5" name="Text 3"/>
          <p:cNvSpPr/>
          <p:nvPr/>
        </p:nvSpPr>
        <p:spPr>
          <a:xfrm>
            <a:off x="822960" y="2139696"/>
            <a:ext cx="3058058" cy="274320"/>
          </a:xfrm>
          <a:prstGeom prst="rect">
            <a:avLst/>
          </a:prstGeom>
          <a:noFill/>
          <a:ln/>
        </p:spPr>
        <p:txBody>
          <a:bodyPr wrap="square" lIns="0" tIns="0" rIns="0" bIns="0" rtlCol="0" anchor="ctr"/>
          <a:lstStyle/>
          <a:p>
            <a:pPr marL="0" indent="0">
              <a:buNone/>
            </a:pPr>
            <a:r>
              <a:rPr lang="en-US" sz="1050" b="1" kern="0" spc="200" dirty="0">
                <a:solidFill>
                  <a:srgbClr val="8B6E3D"/>
                </a:solidFill>
                <a:latin typeface="Calibri" pitchFamily="34" charset="0"/>
                <a:ea typeface="Calibri" pitchFamily="34" charset="-122"/>
                <a:cs typeface="Calibri" pitchFamily="34" charset="-120"/>
              </a:rPr>
              <a:t>$ 5   F O B</a:t>
            </a:r>
            <a:endParaRPr lang="en-US" sz="1050" dirty="0"/>
          </a:p>
        </p:txBody>
      </p:sp>
      <p:sp>
        <p:nvSpPr>
          <p:cNvPr id="6" name="Text 4"/>
          <p:cNvSpPr/>
          <p:nvPr/>
        </p:nvSpPr>
        <p:spPr>
          <a:xfrm>
            <a:off x="822960" y="2450592"/>
            <a:ext cx="3149498" cy="960120"/>
          </a:xfrm>
          <a:prstGeom prst="rect">
            <a:avLst/>
          </a:prstGeom>
          <a:noFill/>
          <a:ln/>
        </p:spPr>
        <p:txBody>
          <a:bodyPr wrap="square" lIns="0" tIns="0" rIns="0" bIns="0" rtlCol="0" anchor="ctr"/>
          <a:lstStyle/>
          <a:p>
            <a:pPr marL="0" indent="0">
              <a:buNone/>
            </a:pPr>
            <a:r>
              <a:rPr lang="en-US" sz="5400" dirty="0">
                <a:solidFill>
                  <a:srgbClr val="26221C"/>
                </a:solidFill>
                <a:latin typeface="Bookman Old Style" pitchFamily="34" charset="0"/>
                <a:ea typeface="Bookman Old Style" pitchFamily="34" charset="-122"/>
                <a:cs typeface="Bookman Old Style" pitchFamily="34" charset="-120"/>
              </a:rPr>
              <a:t>₹4,800</a:t>
            </a:r>
            <a:endParaRPr lang="en-US" sz="5400" dirty="0"/>
          </a:p>
        </p:txBody>
      </p:sp>
      <p:sp>
        <p:nvSpPr>
          <p:cNvPr id="7" name="Text 5"/>
          <p:cNvSpPr/>
          <p:nvPr/>
        </p:nvSpPr>
        <p:spPr>
          <a:xfrm>
            <a:off x="822960" y="3438144"/>
            <a:ext cx="3058058" cy="822960"/>
          </a:xfrm>
          <a:prstGeom prst="rect">
            <a:avLst/>
          </a:prstGeom>
          <a:noFill/>
          <a:ln/>
        </p:spPr>
        <p:txBody>
          <a:bodyPr wrap="square" lIns="0" tIns="0" rIns="0" bIns="0" rtlCol="0" anchor="t"/>
          <a:lstStyle/>
          <a:p>
            <a:pPr marL="0" indent="0">
              <a:lnSpc>
                <a:spcPts val="1600"/>
              </a:lnSpc>
              <a:buNone/>
            </a:pPr>
            <a:r>
              <a:rPr lang="en-US" sz="1150" dirty="0">
                <a:solidFill>
                  <a:srgbClr val="4A4338"/>
                </a:solidFill>
                <a:latin typeface="Calibri" pitchFamily="34" charset="0"/>
                <a:ea typeface="Calibri" pitchFamily="34" charset="-122"/>
                <a:cs typeface="Calibri" pitchFamily="34" charset="-120"/>
              </a:rPr>
              <a:t>seven to twelve times FOB. Fixed state fees fall hardest on a cheap bottle.</a:t>
            </a:r>
            <a:endParaRPr lang="en-US" sz="1150" dirty="0"/>
          </a:p>
        </p:txBody>
      </p:sp>
      <p:sp>
        <p:nvSpPr>
          <p:cNvPr id="8" name="Shape 6"/>
          <p:cNvSpPr/>
          <p:nvPr/>
        </p:nvSpPr>
        <p:spPr>
          <a:xfrm>
            <a:off x="4082186" y="2231136"/>
            <a:ext cx="0" cy="1417320"/>
          </a:xfrm>
          <a:prstGeom prst="line">
            <a:avLst/>
          </a:prstGeom>
          <a:noFill/>
          <a:ln w="9525">
            <a:solidFill>
              <a:srgbClr val="D8CDB6"/>
            </a:solidFill>
            <a:prstDash val="solid"/>
          </a:ln>
        </p:spPr>
      </p:sp>
      <p:sp>
        <p:nvSpPr>
          <p:cNvPr id="9" name="Text 7"/>
          <p:cNvSpPr/>
          <p:nvPr/>
        </p:nvSpPr>
        <p:spPr>
          <a:xfrm>
            <a:off x="4338218" y="2139696"/>
            <a:ext cx="3058058" cy="274320"/>
          </a:xfrm>
          <a:prstGeom prst="rect">
            <a:avLst/>
          </a:prstGeom>
          <a:noFill/>
          <a:ln/>
        </p:spPr>
        <p:txBody>
          <a:bodyPr wrap="square" lIns="0" tIns="0" rIns="0" bIns="0" rtlCol="0" anchor="ctr"/>
          <a:lstStyle/>
          <a:p>
            <a:pPr marL="0" indent="0">
              <a:buNone/>
            </a:pPr>
            <a:r>
              <a:rPr lang="en-US" sz="1050" b="1" kern="0" spc="200" dirty="0">
                <a:solidFill>
                  <a:srgbClr val="8B6E3D"/>
                </a:solidFill>
                <a:latin typeface="Calibri" pitchFamily="34" charset="0"/>
                <a:ea typeface="Calibri" pitchFamily="34" charset="-122"/>
                <a:cs typeface="Calibri" pitchFamily="34" charset="-120"/>
              </a:rPr>
              <a:t>$ 1 0   F O B</a:t>
            </a:r>
            <a:endParaRPr lang="en-US" sz="1050" dirty="0"/>
          </a:p>
        </p:txBody>
      </p:sp>
      <p:sp>
        <p:nvSpPr>
          <p:cNvPr id="10" name="Text 8"/>
          <p:cNvSpPr/>
          <p:nvPr/>
        </p:nvSpPr>
        <p:spPr>
          <a:xfrm>
            <a:off x="4338218" y="2450592"/>
            <a:ext cx="3149498" cy="960120"/>
          </a:xfrm>
          <a:prstGeom prst="rect">
            <a:avLst/>
          </a:prstGeom>
          <a:noFill/>
          <a:ln/>
        </p:spPr>
        <p:txBody>
          <a:bodyPr wrap="square" lIns="0" tIns="0" rIns="0" bIns="0" rtlCol="0" anchor="ctr"/>
          <a:lstStyle/>
          <a:p>
            <a:pPr marL="0" indent="0">
              <a:buNone/>
            </a:pPr>
            <a:r>
              <a:rPr lang="en-US" sz="5400" dirty="0">
                <a:solidFill>
                  <a:srgbClr val="26221C"/>
                </a:solidFill>
                <a:latin typeface="Bookman Old Style" pitchFamily="34" charset="0"/>
                <a:ea typeface="Bookman Old Style" pitchFamily="34" charset="-122"/>
                <a:cs typeface="Bookman Old Style" pitchFamily="34" charset="-120"/>
              </a:rPr>
              <a:t>₹6,700</a:t>
            </a:r>
            <a:endParaRPr lang="en-US" sz="5400" dirty="0"/>
          </a:p>
        </p:txBody>
      </p:sp>
      <p:sp>
        <p:nvSpPr>
          <p:cNvPr id="11" name="Text 9"/>
          <p:cNvSpPr/>
          <p:nvPr/>
        </p:nvSpPr>
        <p:spPr>
          <a:xfrm>
            <a:off x="4338218" y="3438144"/>
            <a:ext cx="3058058" cy="822960"/>
          </a:xfrm>
          <a:prstGeom prst="rect">
            <a:avLst/>
          </a:prstGeom>
          <a:noFill/>
          <a:ln/>
        </p:spPr>
        <p:txBody>
          <a:bodyPr wrap="square" lIns="0" tIns="0" rIns="0" bIns="0" rtlCol="0" anchor="t"/>
          <a:lstStyle/>
          <a:p>
            <a:pPr marL="0" indent="0">
              <a:lnSpc>
                <a:spcPts val="1600"/>
              </a:lnSpc>
              <a:buNone/>
            </a:pPr>
            <a:r>
              <a:rPr lang="en-US" sz="1150" dirty="0">
                <a:solidFill>
                  <a:srgbClr val="4A4338"/>
                </a:solidFill>
                <a:latin typeface="Calibri" pitchFamily="34" charset="0"/>
                <a:ea typeface="Calibri" pitchFamily="34" charset="-122"/>
                <a:cs typeface="Calibri" pitchFamily="34" charset="-120"/>
              </a:rPr>
              <a:t>five to seven times. Camino Real sits at ₹3,300 in Mumbai, Sierra at ₹3,850.</a:t>
            </a:r>
            <a:endParaRPr lang="en-US" sz="1150" dirty="0"/>
          </a:p>
        </p:txBody>
      </p:sp>
      <p:sp>
        <p:nvSpPr>
          <p:cNvPr id="12" name="Shape 10"/>
          <p:cNvSpPr/>
          <p:nvPr/>
        </p:nvSpPr>
        <p:spPr>
          <a:xfrm>
            <a:off x="7597445" y="2231136"/>
            <a:ext cx="0" cy="1417320"/>
          </a:xfrm>
          <a:prstGeom prst="line">
            <a:avLst/>
          </a:prstGeom>
          <a:noFill/>
          <a:ln w="9525">
            <a:solidFill>
              <a:srgbClr val="D8CDB6"/>
            </a:solidFill>
            <a:prstDash val="solid"/>
          </a:ln>
        </p:spPr>
      </p:sp>
      <p:sp>
        <p:nvSpPr>
          <p:cNvPr id="13" name="Text 11"/>
          <p:cNvSpPr/>
          <p:nvPr/>
        </p:nvSpPr>
        <p:spPr>
          <a:xfrm>
            <a:off x="7853477" y="2139696"/>
            <a:ext cx="3058058" cy="274320"/>
          </a:xfrm>
          <a:prstGeom prst="rect">
            <a:avLst/>
          </a:prstGeom>
          <a:noFill/>
          <a:ln/>
        </p:spPr>
        <p:txBody>
          <a:bodyPr wrap="square" lIns="0" tIns="0" rIns="0" bIns="0" rtlCol="0" anchor="ctr"/>
          <a:lstStyle/>
          <a:p>
            <a:pPr marL="0" indent="0">
              <a:buNone/>
            </a:pPr>
            <a:r>
              <a:rPr lang="en-US" sz="1050" b="1" kern="0" spc="200" dirty="0">
                <a:solidFill>
                  <a:srgbClr val="8B6E3D"/>
                </a:solidFill>
                <a:latin typeface="Calibri" pitchFamily="34" charset="0"/>
                <a:ea typeface="Calibri" pitchFamily="34" charset="-122"/>
                <a:cs typeface="Calibri" pitchFamily="34" charset="-120"/>
              </a:rPr>
              <a:t>$ 1 5   –   $ 2 0   F O B</a:t>
            </a:r>
            <a:endParaRPr lang="en-US" sz="1050" dirty="0"/>
          </a:p>
        </p:txBody>
      </p:sp>
      <p:sp>
        <p:nvSpPr>
          <p:cNvPr id="14" name="Text 12"/>
          <p:cNvSpPr/>
          <p:nvPr/>
        </p:nvSpPr>
        <p:spPr>
          <a:xfrm>
            <a:off x="7853477" y="2450592"/>
            <a:ext cx="3149498" cy="960120"/>
          </a:xfrm>
          <a:prstGeom prst="rect">
            <a:avLst/>
          </a:prstGeom>
          <a:noFill/>
          <a:ln/>
        </p:spPr>
        <p:txBody>
          <a:bodyPr wrap="square" lIns="0" tIns="0" rIns="0" bIns="0" rtlCol="0" anchor="ctr"/>
          <a:lstStyle/>
          <a:p>
            <a:pPr marL="0" indent="0">
              <a:buNone/>
            </a:pPr>
            <a:r>
              <a:rPr lang="en-US" sz="5400" dirty="0">
                <a:solidFill>
                  <a:srgbClr val="26221C"/>
                </a:solidFill>
                <a:latin typeface="Bookman Old Style" pitchFamily="34" charset="0"/>
                <a:ea typeface="Bookman Old Style" pitchFamily="34" charset="-122"/>
                <a:cs typeface="Bookman Old Style" pitchFamily="34" charset="-120"/>
              </a:rPr>
              <a:t>₹9,500</a:t>
            </a:r>
            <a:endParaRPr lang="en-US" sz="5400" dirty="0"/>
          </a:p>
        </p:txBody>
      </p:sp>
      <p:sp>
        <p:nvSpPr>
          <p:cNvPr id="15" name="Text 13"/>
          <p:cNvSpPr/>
          <p:nvPr/>
        </p:nvSpPr>
        <p:spPr>
          <a:xfrm>
            <a:off x="7853477" y="3438144"/>
            <a:ext cx="3058058" cy="822960"/>
          </a:xfrm>
          <a:prstGeom prst="rect">
            <a:avLst/>
          </a:prstGeom>
          <a:noFill/>
          <a:ln/>
        </p:spPr>
        <p:txBody>
          <a:bodyPr wrap="square" lIns="0" tIns="0" rIns="0" bIns="0" rtlCol="0" anchor="t"/>
          <a:lstStyle/>
          <a:p>
            <a:pPr marL="0" indent="0">
              <a:lnSpc>
                <a:spcPts val="1600"/>
              </a:lnSpc>
              <a:buNone/>
            </a:pPr>
            <a:r>
              <a:rPr lang="en-US" sz="1150" dirty="0">
                <a:solidFill>
                  <a:srgbClr val="4A4338"/>
                </a:solidFill>
                <a:latin typeface="Calibri" pitchFamily="34" charset="0"/>
                <a:ea typeface="Calibri" pitchFamily="34" charset="-122"/>
                <a:cs typeface="Calibri" pitchFamily="34" charset="-120"/>
              </a:rPr>
              <a:t>the premium anchor. The same figure whether you are at fifteen or at twenty.</a:t>
            </a:r>
            <a:endParaRPr lang="en-US" sz="1150" dirty="0"/>
          </a:p>
        </p:txBody>
      </p:sp>
      <p:sp>
        <p:nvSpPr>
          <p:cNvPr id="16" name="Shape 14"/>
          <p:cNvSpPr/>
          <p:nvPr/>
        </p:nvSpPr>
        <p:spPr>
          <a:xfrm>
            <a:off x="822960" y="4572000"/>
            <a:ext cx="10545775" cy="0"/>
          </a:xfrm>
          <a:prstGeom prst="line">
            <a:avLst/>
          </a:prstGeom>
          <a:noFill/>
          <a:ln w="9525">
            <a:solidFill>
              <a:srgbClr val="D8CDB6"/>
            </a:solidFill>
            <a:prstDash val="solid"/>
          </a:ln>
        </p:spPr>
      </p:sp>
      <p:sp>
        <p:nvSpPr>
          <p:cNvPr id="17" name="Text 15"/>
          <p:cNvSpPr/>
          <p:nvPr/>
        </p:nvSpPr>
        <p:spPr>
          <a:xfrm>
            <a:off x="822960" y="4828032"/>
            <a:ext cx="10058400" cy="822960"/>
          </a:xfrm>
          <a:prstGeom prst="rect">
            <a:avLst/>
          </a:prstGeom>
          <a:noFill/>
          <a:ln/>
        </p:spPr>
        <p:txBody>
          <a:bodyPr wrap="square" lIns="0" tIns="0" rIns="0" bIns="0" rtlCol="0" anchor="ctr"/>
          <a:lstStyle/>
          <a:p>
            <a:pPr marL="0" indent="0">
              <a:lnSpc>
                <a:spcPts val="2800"/>
              </a:lnSpc>
              <a:buNone/>
            </a:pPr>
            <a:r>
              <a:rPr lang="en-US" sz="2100" dirty="0">
                <a:solidFill>
                  <a:srgbClr val="26221C"/>
                </a:solidFill>
                <a:latin typeface="Bookman Old Style" pitchFamily="34" charset="0"/>
                <a:ea typeface="Bookman Old Style" pitchFamily="34" charset="-122"/>
                <a:cs typeface="Bookman Old Style" pitchFamily="34" charset="-120"/>
              </a:rPr>
              <a:t>The same bottle is ₹1,500 dearer in Karnataka than in Goa. India is not one market, and the state you enter first sets your price.</a:t>
            </a:r>
            <a:endParaRPr lang="en-US" sz="2100" dirty="0"/>
          </a:p>
        </p:txBody>
      </p:sp>
      <p:sp>
        <p:nvSpPr>
          <p:cNvPr id="18" name="Text 16"/>
          <p:cNvSpPr/>
          <p:nvPr/>
        </p:nvSpPr>
        <p:spPr>
          <a:xfrm>
            <a:off x="822960" y="6382512"/>
            <a:ext cx="10515600" cy="274320"/>
          </a:xfrm>
          <a:prstGeom prst="rect">
            <a:avLst/>
          </a:prstGeom>
          <a:noFill/>
          <a:ln/>
        </p:spPr>
        <p:txBody>
          <a:bodyPr wrap="square" lIns="0" tIns="0" rIns="0" bIns="0" rtlCol="0" anchor="ctr"/>
          <a:lstStyle/>
          <a:p>
            <a:pPr marL="0" indent="0">
              <a:buNone/>
            </a:pPr>
            <a:r>
              <a:rPr lang="en-US" sz="900" b="1" dirty="0">
                <a:solidFill>
                  <a:srgbClr val="8B6E3D"/>
                </a:solidFill>
                <a:latin typeface="Calibri" pitchFamily="34" charset="0"/>
                <a:ea typeface="Calibri" pitchFamily="34" charset="-122"/>
                <a:cs typeface="Calibri" pitchFamily="34" charset="-120"/>
              </a:rPr>
              <a:t>I N   T H I S   W E E K ' S   F I L E   S E T</a:t>
            </a:r>
            <a:r>
              <a:rPr lang="en-US" sz="1050" i="1" dirty="0">
                <a:solidFill>
                  <a:srgbClr val="6E5630"/>
                </a:solidFill>
                <a:latin typeface="Calibri" pitchFamily="34" charset="0"/>
                <a:ea typeface="Calibri" pitchFamily="34" charset="-122"/>
                <a:cs typeface="Calibri" pitchFamily="34" charset="-120"/>
              </a:rPr>
              <a:t>      No. 12 · The Three Gates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FBF8F1"/>
        </a:solidFill>
        <a:effectLst/>
      </p:bgPr>
    </p:bg>
    <p:spTree>
      <p:nvGrpSpPr>
        <p:cNvPr id="1" name=""/>
        <p:cNvGrpSpPr/>
        <p:nvPr/>
      </p:nvGrpSpPr>
      <p:grpSpPr>
        <a:xfrm>
          <a:off x="0" y="0"/>
          <a:ext cx="0" cy="0"/>
          <a:chOff x="0" y="0"/>
          <a:chExt cx="0" cy="0"/>
        </a:xfrm>
      </p:grpSpPr>
      <p:sp>
        <p:nvSpPr>
          <p:cNvPr id="2" name="Text 0"/>
          <p:cNvSpPr/>
          <p:nvPr/>
        </p:nvSpPr>
        <p:spPr>
          <a:xfrm>
            <a:off x="822960" y="502920"/>
            <a:ext cx="9601200" cy="310896"/>
          </a:xfrm>
          <a:prstGeom prst="rect">
            <a:avLst/>
          </a:prstGeom>
          <a:noFill/>
          <a:ln/>
        </p:spPr>
        <p:txBody>
          <a:bodyPr wrap="square" lIns="0" tIns="0" rIns="0" bIns="0" rtlCol="0" anchor="ctr"/>
          <a:lstStyle/>
          <a:p>
            <a:pPr marL="0" indent="0">
              <a:buNone/>
            </a:pPr>
            <a:r>
              <a:rPr lang="en-US" sz="1100" b="1" kern="0" spc="340" dirty="0">
                <a:solidFill>
                  <a:srgbClr val="8B6E3D"/>
                </a:solidFill>
                <a:latin typeface="Calibri" pitchFamily="34" charset="0"/>
                <a:ea typeface="Calibri" pitchFamily="34" charset="-122"/>
                <a:cs typeface="Calibri" pitchFamily="34" charset="-120"/>
              </a:rPr>
              <a:t>S T E P   3      ·      T H E   O N E   N U M B E R   Y O U   C O N T R O L</a:t>
            </a:r>
            <a:endParaRPr lang="en-US" sz="1100" dirty="0"/>
          </a:p>
        </p:txBody>
      </p:sp>
      <p:sp>
        <p:nvSpPr>
          <p:cNvPr id="3" name="Text 1"/>
          <p:cNvSpPr/>
          <p:nvPr/>
        </p:nvSpPr>
        <p:spPr>
          <a:xfrm>
            <a:off x="822960" y="1481328"/>
            <a:ext cx="10515600" cy="2651760"/>
          </a:xfrm>
          <a:prstGeom prst="rect">
            <a:avLst/>
          </a:prstGeom>
          <a:noFill/>
          <a:ln/>
        </p:spPr>
        <p:txBody>
          <a:bodyPr wrap="square" lIns="0" tIns="0" rIns="0" bIns="0" rtlCol="0" anchor="ctr"/>
          <a:lstStyle/>
          <a:p>
            <a:pPr marL="0" indent="0">
              <a:lnSpc>
                <a:spcPts val="19380"/>
              </a:lnSpc>
              <a:buNone/>
            </a:pPr>
            <a:r>
              <a:rPr lang="en-US" sz="19000" dirty="0">
                <a:solidFill>
                  <a:srgbClr val="8B6E3D"/>
                </a:solidFill>
                <a:latin typeface="Bookman Old Style" pitchFamily="34" charset="0"/>
                <a:ea typeface="Bookman Old Style" pitchFamily="34" charset="-122"/>
                <a:cs typeface="Bookman Old Style" pitchFamily="34" charset="-120"/>
              </a:rPr>
              <a:t>× 13</a:t>
            </a:r>
            <a:endParaRPr lang="en-US" sz="19000" dirty="0"/>
          </a:p>
        </p:txBody>
      </p:sp>
      <p:sp>
        <p:nvSpPr>
          <p:cNvPr id="4" name="Shape 2"/>
          <p:cNvSpPr/>
          <p:nvPr/>
        </p:nvSpPr>
        <p:spPr>
          <a:xfrm>
            <a:off x="822960" y="4443984"/>
            <a:ext cx="2971800" cy="0"/>
          </a:xfrm>
          <a:prstGeom prst="line">
            <a:avLst/>
          </a:prstGeom>
          <a:noFill/>
          <a:ln w="15875">
            <a:solidFill>
              <a:srgbClr val="6E5630"/>
            </a:solidFill>
            <a:prstDash val="solid"/>
          </a:ln>
        </p:spPr>
      </p:sp>
      <p:sp>
        <p:nvSpPr>
          <p:cNvPr id="5" name="Text 3"/>
          <p:cNvSpPr/>
          <p:nvPr/>
        </p:nvSpPr>
        <p:spPr>
          <a:xfrm>
            <a:off x="822960" y="4663440"/>
            <a:ext cx="10515600" cy="868680"/>
          </a:xfrm>
          <a:prstGeom prst="rect">
            <a:avLst/>
          </a:prstGeom>
          <a:noFill/>
          <a:ln/>
        </p:spPr>
        <p:txBody>
          <a:bodyPr wrap="square" lIns="0" tIns="0" rIns="0" bIns="0" rtlCol="0" anchor="ctr"/>
          <a:lstStyle/>
          <a:p>
            <a:pPr marL="0" indent="0">
              <a:lnSpc>
                <a:spcPts val="3300"/>
              </a:lnSpc>
              <a:buNone/>
            </a:pPr>
            <a:r>
              <a:rPr lang="en-US" sz="2600" dirty="0">
                <a:solidFill>
                  <a:srgbClr val="26221C"/>
                </a:solidFill>
                <a:latin typeface="Bookman Old Style" pitchFamily="34" charset="0"/>
                <a:ea typeface="Bookman Old Style" pitchFamily="34" charset="-122"/>
                <a:cs typeface="Bookman Old Style" pitchFamily="34" charset="-120"/>
              </a:rPr>
              <a:t>The cost you declare is multiplied by thirteen.</a:t>
            </a:r>
            <a:endParaRPr lang="en-US" sz="2600" dirty="0"/>
          </a:p>
        </p:txBody>
      </p:sp>
      <p:sp>
        <p:nvSpPr>
          <p:cNvPr id="6" name="Text 4"/>
          <p:cNvSpPr/>
          <p:nvPr/>
        </p:nvSpPr>
        <p:spPr>
          <a:xfrm>
            <a:off x="822960" y="5541264"/>
            <a:ext cx="10058400" cy="457200"/>
          </a:xfrm>
          <a:prstGeom prst="rect">
            <a:avLst/>
          </a:prstGeom>
          <a:noFill/>
          <a:ln/>
        </p:spPr>
        <p:txBody>
          <a:bodyPr wrap="square" lIns="0" tIns="0" rIns="0" bIns="0" rtlCol="0" anchor="ctr"/>
          <a:lstStyle/>
          <a:p>
            <a:pPr marL="0" indent="0">
              <a:lnSpc>
                <a:spcPts val="1800"/>
              </a:lnSpc>
              <a:buNone/>
            </a:pPr>
            <a:r>
              <a:rPr lang="en-US" sz="1300" dirty="0">
                <a:solidFill>
                  <a:srgbClr val="4A4338"/>
                </a:solidFill>
                <a:latin typeface="Calibri" pitchFamily="34" charset="0"/>
                <a:ea typeface="Calibri" pitchFamily="34" charset="-122"/>
                <a:cs typeface="Calibri" pitchFamily="34" charset="-120"/>
              </a:rPr>
              <a:t>Some states calculate the shelf price of your bottle from a manufacturing cost that you supply on a state form.</a:t>
            </a:r>
            <a:endParaRPr lang="en-US" sz="1300" dirty="0"/>
          </a:p>
        </p:txBody>
      </p:sp>
      <p:sp>
        <p:nvSpPr>
          <p:cNvPr id="7" name="Text 5"/>
          <p:cNvSpPr/>
          <p:nvPr/>
        </p:nvSpPr>
        <p:spPr>
          <a:xfrm>
            <a:off x="822960" y="6382512"/>
            <a:ext cx="10515600" cy="274320"/>
          </a:xfrm>
          <a:prstGeom prst="rect">
            <a:avLst/>
          </a:prstGeom>
          <a:noFill/>
          <a:ln/>
        </p:spPr>
        <p:txBody>
          <a:bodyPr wrap="square" lIns="0" tIns="0" rIns="0" bIns="0" rtlCol="0" anchor="ctr"/>
          <a:lstStyle/>
          <a:p>
            <a:pPr marL="0" indent="0">
              <a:buNone/>
            </a:pPr>
            <a:r>
              <a:rPr lang="en-US" sz="900" b="1" dirty="0">
                <a:solidFill>
                  <a:srgbClr val="8B6E3D"/>
                </a:solidFill>
                <a:latin typeface="Calibri" pitchFamily="34" charset="0"/>
                <a:ea typeface="Calibri" pitchFamily="34" charset="-122"/>
                <a:cs typeface="Calibri" pitchFamily="34" charset="-120"/>
              </a:rPr>
              <a:t>I N   T H I S   W E E K ' S   F I L E   S E T</a:t>
            </a:r>
            <a:r>
              <a:rPr lang="en-US" sz="1050" i="1" dirty="0">
                <a:solidFill>
                  <a:srgbClr val="6E5630"/>
                </a:solidFill>
                <a:latin typeface="Calibri" pitchFamily="34" charset="0"/>
                <a:ea typeface="Calibri" pitchFamily="34" charset="-122"/>
                <a:cs typeface="Calibri" pitchFamily="34" charset="-120"/>
              </a:rPr>
              <a:t>      No. 12 · The Three Gates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BF8F1"/>
        </a:solidFill>
        <a:effectLst/>
      </p:bgPr>
    </p:bg>
    <p:spTree>
      <p:nvGrpSpPr>
        <p:cNvPr id="1" name=""/>
        <p:cNvGrpSpPr/>
        <p:nvPr/>
      </p:nvGrpSpPr>
      <p:grpSpPr>
        <a:xfrm>
          <a:off x="0" y="0"/>
          <a:ext cx="0" cy="0"/>
          <a:chOff x="0" y="0"/>
          <a:chExt cx="0" cy="0"/>
        </a:xfrm>
      </p:grpSpPr>
      <p:sp>
        <p:nvSpPr>
          <p:cNvPr id="2" name="Text 0"/>
          <p:cNvSpPr/>
          <p:nvPr/>
        </p:nvSpPr>
        <p:spPr>
          <a:xfrm>
            <a:off x="822960" y="502920"/>
            <a:ext cx="9601200" cy="310896"/>
          </a:xfrm>
          <a:prstGeom prst="rect">
            <a:avLst/>
          </a:prstGeom>
          <a:noFill/>
          <a:ln/>
        </p:spPr>
        <p:txBody>
          <a:bodyPr wrap="square" lIns="0" tIns="0" rIns="0" bIns="0" rtlCol="0" anchor="ctr"/>
          <a:lstStyle/>
          <a:p>
            <a:pPr marL="0" indent="0">
              <a:buNone/>
            </a:pPr>
            <a:r>
              <a:rPr lang="en-US" sz="1100" b="1" kern="0" spc="340" dirty="0">
                <a:solidFill>
                  <a:srgbClr val="8B6E3D"/>
                </a:solidFill>
                <a:latin typeface="Calibri" pitchFamily="34" charset="0"/>
                <a:ea typeface="Calibri" pitchFamily="34" charset="-122"/>
                <a:cs typeface="Calibri" pitchFamily="34" charset="-120"/>
              </a:rPr>
              <a:t>S T E P   3      ·      G E T   I T   R I G H T   O N C E</a:t>
            </a:r>
            <a:endParaRPr lang="en-US" sz="1100" dirty="0"/>
          </a:p>
        </p:txBody>
      </p:sp>
      <p:sp>
        <p:nvSpPr>
          <p:cNvPr id="3" name="Text 1"/>
          <p:cNvSpPr/>
          <p:nvPr/>
        </p:nvSpPr>
        <p:spPr>
          <a:xfrm>
            <a:off x="822960" y="877824"/>
            <a:ext cx="10515600" cy="914400"/>
          </a:xfrm>
          <a:prstGeom prst="rect">
            <a:avLst/>
          </a:prstGeom>
          <a:noFill/>
          <a:ln/>
        </p:spPr>
        <p:txBody>
          <a:bodyPr wrap="square" lIns="0" tIns="0" rIns="0" bIns="0" rtlCol="0" anchor="ctr"/>
          <a:lstStyle/>
          <a:p>
            <a:pPr marL="0" indent="0">
              <a:lnSpc>
                <a:spcPts val="3240"/>
              </a:lnSpc>
              <a:buNone/>
            </a:pPr>
            <a:r>
              <a:rPr lang="en-US" sz="2700" dirty="0">
                <a:solidFill>
                  <a:srgbClr val="26221C"/>
                </a:solidFill>
                <a:latin typeface="Bookman Old Style" pitchFamily="34" charset="0"/>
                <a:ea typeface="Bookman Old Style" pitchFamily="34" charset="-122"/>
                <a:cs typeface="Bookman Old Style" pitchFamily="34" charset="-120"/>
              </a:rPr>
              <a:t>It is a production cost. It is not your selling price.</a:t>
            </a:r>
            <a:endParaRPr lang="en-US" sz="2700" dirty="0"/>
          </a:p>
        </p:txBody>
      </p:sp>
      <p:sp>
        <p:nvSpPr>
          <p:cNvPr id="4" name="Shape 2"/>
          <p:cNvSpPr/>
          <p:nvPr/>
        </p:nvSpPr>
        <p:spPr>
          <a:xfrm>
            <a:off x="822960" y="1847088"/>
            <a:ext cx="10545775" cy="0"/>
          </a:xfrm>
          <a:prstGeom prst="line">
            <a:avLst/>
          </a:prstGeom>
          <a:noFill/>
          <a:ln w="15875">
            <a:solidFill>
              <a:srgbClr val="26221C"/>
            </a:solidFill>
            <a:prstDash val="solid"/>
          </a:ln>
        </p:spPr>
      </p:sp>
      <p:sp>
        <p:nvSpPr>
          <p:cNvPr id="5" name="Text 3"/>
          <p:cNvSpPr/>
          <p:nvPr/>
        </p:nvSpPr>
        <p:spPr>
          <a:xfrm>
            <a:off x="822960" y="2084832"/>
            <a:ext cx="3977640" cy="822960"/>
          </a:xfrm>
          <a:prstGeom prst="rect">
            <a:avLst/>
          </a:prstGeom>
          <a:noFill/>
          <a:ln/>
        </p:spPr>
        <p:txBody>
          <a:bodyPr wrap="square" lIns="0" tIns="0" rIns="0" bIns="0" rtlCol="0" anchor="t"/>
          <a:lstStyle/>
          <a:p>
            <a:pPr marL="0" indent="0">
              <a:lnSpc>
                <a:spcPts val="1900"/>
              </a:lnSpc>
              <a:buNone/>
            </a:pPr>
            <a:r>
              <a:rPr lang="en-US" sz="1400" b="1" dirty="0">
                <a:solidFill>
                  <a:srgbClr val="26221C"/>
                </a:solidFill>
                <a:latin typeface="Calibri" pitchFamily="34" charset="0"/>
                <a:ea typeface="Calibri" pitchFamily="34" charset="-122"/>
                <a:cs typeface="Calibri" pitchFamily="34" charset="-120"/>
              </a:rPr>
              <a:t>The rule says so in terms.</a:t>
            </a:r>
            <a:endParaRPr lang="en-US" sz="1400" dirty="0"/>
          </a:p>
        </p:txBody>
      </p:sp>
      <p:sp>
        <p:nvSpPr>
          <p:cNvPr id="6" name="Text 4"/>
          <p:cNvSpPr/>
          <p:nvPr/>
        </p:nvSpPr>
        <p:spPr>
          <a:xfrm>
            <a:off x="5120640" y="2084832"/>
            <a:ext cx="6248095" cy="896112"/>
          </a:xfrm>
          <a:prstGeom prst="rect">
            <a:avLst/>
          </a:prstGeom>
          <a:noFill/>
          <a:ln/>
        </p:spPr>
        <p:txBody>
          <a:bodyPr wrap="square" lIns="0" tIns="0" rIns="0" bIns="0" rtlCol="0" anchor="t"/>
          <a:lstStyle/>
          <a:p>
            <a:pPr marL="0" indent="0">
              <a:lnSpc>
                <a:spcPts val="1850"/>
              </a:lnSpc>
              <a:buNone/>
            </a:pPr>
            <a:r>
              <a:rPr lang="en-US" sz="1300" dirty="0">
                <a:solidFill>
                  <a:srgbClr val="4A4338"/>
                </a:solidFill>
                <a:latin typeface="Calibri" pitchFamily="34" charset="0"/>
                <a:ea typeface="Calibri" pitchFamily="34" charset="-122"/>
                <a:cs typeface="Calibri" pitchFamily="34" charset="-120"/>
              </a:rPr>
              <a:t>The cost declared by the manufacturer or exporter. Not your FOB, not your CIF, and not the value customs assessed.</a:t>
            </a:r>
            <a:endParaRPr lang="en-US" sz="1300" dirty="0"/>
          </a:p>
        </p:txBody>
      </p:sp>
      <p:sp>
        <p:nvSpPr>
          <p:cNvPr id="7" name="Shape 5"/>
          <p:cNvSpPr/>
          <p:nvPr/>
        </p:nvSpPr>
        <p:spPr>
          <a:xfrm>
            <a:off x="822960" y="3035808"/>
            <a:ext cx="10545775" cy="0"/>
          </a:xfrm>
          <a:prstGeom prst="line">
            <a:avLst/>
          </a:prstGeom>
          <a:noFill/>
          <a:ln w="9525">
            <a:solidFill>
              <a:srgbClr val="D8CDB6"/>
            </a:solidFill>
            <a:prstDash val="solid"/>
          </a:ln>
        </p:spPr>
      </p:sp>
      <p:sp>
        <p:nvSpPr>
          <p:cNvPr id="8" name="Text 6"/>
          <p:cNvSpPr/>
          <p:nvPr/>
        </p:nvSpPr>
        <p:spPr>
          <a:xfrm>
            <a:off x="822960" y="3310128"/>
            <a:ext cx="3977640" cy="822960"/>
          </a:xfrm>
          <a:prstGeom prst="rect">
            <a:avLst/>
          </a:prstGeom>
          <a:noFill/>
          <a:ln/>
        </p:spPr>
        <p:txBody>
          <a:bodyPr wrap="square" lIns="0" tIns="0" rIns="0" bIns="0" rtlCol="0" anchor="t"/>
          <a:lstStyle/>
          <a:p>
            <a:pPr marL="0" indent="0">
              <a:lnSpc>
                <a:spcPts val="1900"/>
              </a:lnSpc>
              <a:buNone/>
            </a:pPr>
            <a:r>
              <a:rPr lang="en-US" sz="1400" b="1" dirty="0">
                <a:solidFill>
                  <a:srgbClr val="26221C"/>
                </a:solidFill>
                <a:latin typeface="Calibri" pitchFamily="34" charset="0"/>
                <a:ea typeface="Calibri" pitchFamily="34" charset="-122"/>
                <a:cs typeface="Calibri" pitchFamily="34" charset="-120"/>
              </a:rPr>
              <a:t>Declare your FOB by mistake and the brand is dead.</a:t>
            </a:r>
            <a:endParaRPr lang="en-US" sz="1400" dirty="0"/>
          </a:p>
        </p:txBody>
      </p:sp>
      <p:sp>
        <p:nvSpPr>
          <p:cNvPr id="9" name="Text 7"/>
          <p:cNvSpPr/>
          <p:nvPr/>
        </p:nvSpPr>
        <p:spPr>
          <a:xfrm>
            <a:off x="5120640" y="3310128"/>
            <a:ext cx="6248095" cy="896112"/>
          </a:xfrm>
          <a:prstGeom prst="rect">
            <a:avLst/>
          </a:prstGeom>
          <a:noFill/>
          <a:ln/>
        </p:spPr>
        <p:txBody>
          <a:bodyPr wrap="square" lIns="0" tIns="0" rIns="0" bIns="0" rtlCol="0" anchor="t"/>
          <a:lstStyle/>
          <a:p>
            <a:pPr marL="0" indent="0">
              <a:lnSpc>
                <a:spcPts val="1850"/>
              </a:lnSpc>
              <a:buNone/>
            </a:pPr>
            <a:r>
              <a:rPr lang="en-US" sz="1300" dirty="0">
                <a:solidFill>
                  <a:srgbClr val="4A4338"/>
                </a:solidFill>
                <a:latin typeface="Calibri" pitchFamily="34" charset="0"/>
                <a:ea typeface="Calibri" pitchFamily="34" charset="-122"/>
                <a:cs typeface="Calibri" pitchFamily="34" charset="-120"/>
              </a:rPr>
              <a:t>The formula returns a shelf price two to three times what the Indian market will pay, and no importer can sell it.</a:t>
            </a:r>
            <a:endParaRPr lang="en-US" sz="1300" dirty="0"/>
          </a:p>
        </p:txBody>
      </p:sp>
      <p:sp>
        <p:nvSpPr>
          <p:cNvPr id="10" name="Shape 8"/>
          <p:cNvSpPr/>
          <p:nvPr/>
        </p:nvSpPr>
        <p:spPr>
          <a:xfrm>
            <a:off x="822960" y="4261104"/>
            <a:ext cx="10545775" cy="0"/>
          </a:xfrm>
          <a:prstGeom prst="line">
            <a:avLst/>
          </a:prstGeom>
          <a:noFill/>
          <a:ln w="9525">
            <a:solidFill>
              <a:srgbClr val="D8CDB6"/>
            </a:solidFill>
            <a:prstDash val="solid"/>
          </a:ln>
        </p:spPr>
      </p:sp>
      <p:sp>
        <p:nvSpPr>
          <p:cNvPr id="11" name="Text 9"/>
          <p:cNvSpPr/>
          <p:nvPr/>
        </p:nvSpPr>
        <p:spPr>
          <a:xfrm>
            <a:off x="822960" y="4535424"/>
            <a:ext cx="3977640" cy="822960"/>
          </a:xfrm>
          <a:prstGeom prst="rect">
            <a:avLst/>
          </a:prstGeom>
          <a:noFill/>
          <a:ln/>
        </p:spPr>
        <p:txBody>
          <a:bodyPr wrap="square" lIns="0" tIns="0" rIns="0" bIns="0" rtlCol="0" anchor="t"/>
          <a:lstStyle/>
          <a:p>
            <a:pPr marL="0" indent="0">
              <a:lnSpc>
                <a:spcPts val="1900"/>
              </a:lnSpc>
              <a:buNone/>
            </a:pPr>
            <a:r>
              <a:rPr lang="en-US" sz="1400" b="1" dirty="0">
                <a:solidFill>
                  <a:srgbClr val="26221C"/>
                </a:solidFill>
                <a:latin typeface="Calibri" pitchFamily="34" charset="0"/>
                <a:ea typeface="Calibri" pitchFamily="34" charset="-122"/>
                <a:cs typeface="Calibri" pitchFamily="34" charset="-120"/>
              </a:rPr>
              <a:t>It is filed once, by your importer, on your figures.</a:t>
            </a:r>
            <a:endParaRPr lang="en-US" sz="1400" dirty="0"/>
          </a:p>
        </p:txBody>
      </p:sp>
      <p:sp>
        <p:nvSpPr>
          <p:cNvPr id="12" name="Text 10"/>
          <p:cNvSpPr/>
          <p:nvPr/>
        </p:nvSpPr>
        <p:spPr>
          <a:xfrm>
            <a:off x="5120640" y="4535424"/>
            <a:ext cx="6248095" cy="896112"/>
          </a:xfrm>
          <a:prstGeom prst="rect">
            <a:avLst/>
          </a:prstGeom>
          <a:noFill/>
          <a:ln/>
        </p:spPr>
        <p:txBody>
          <a:bodyPr wrap="square" lIns="0" tIns="0" rIns="0" bIns="0" rtlCol="0" anchor="t"/>
          <a:lstStyle/>
          <a:p>
            <a:pPr marL="0" indent="0">
              <a:lnSpc>
                <a:spcPts val="1850"/>
              </a:lnSpc>
              <a:buNone/>
            </a:pPr>
            <a:r>
              <a:rPr lang="en-US" sz="1300" dirty="0">
                <a:solidFill>
                  <a:srgbClr val="4A4338"/>
                </a:solidFill>
                <a:latin typeface="Calibri" pitchFamily="34" charset="0"/>
                <a:ea typeface="Calibri" pitchFamily="34" charset="-122"/>
                <a:cs typeface="Calibri" pitchFamily="34" charset="-120"/>
              </a:rPr>
              <a:t>Correcting it means re-registering the brand and paying the fee again. We build it with you in Phase 3, from your real cost of production.</a:t>
            </a:r>
            <a:endParaRPr lang="en-US" sz="1300" dirty="0"/>
          </a:p>
        </p:txBody>
      </p:sp>
      <p:sp>
        <p:nvSpPr>
          <p:cNvPr id="13" name="Text 11"/>
          <p:cNvSpPr/>
          <p:nvPr/>
        </p:nvSpPr>
        <p:spPr>
          <a:xfrm>
            <a:off x="822960" y="6382512"/>
            <a:ext cx="10515600" cy="274320"/>
          </a:xfrm>
          <a:prstGeom prst="rect">
            <a:avLst/>
          </a:prstGeom>
          <a:noFill/>
          <a:ln/>
        </p:spPr>
        <p:txBody>
          <a:bodyPr wrap="square" lIns="0" tIns="0" rIns="0" bIns="0" rtlCol="0" anchor="ctr"/>
          <a:lstStyle/>
          <a:p>
            <a:pPr marL="0" indent="0">
              <a:buNone/>
            </a:pPr>
            <a:r>
              <a:rPr lang="en-US" sz="900" b="1" dirty="0">
                <a:solidFill>
                  <a:srgbClr val="8B6E3D"/>
                </a:solidFill>
                <a:latin typeface="Calibri" pitchFamily="34" charset="0"/>
                <a:ea typeface="Calibri" pitchFamily="34" charset="-122"/>
                <a:cs typeface="Calibri" pitchFamily="34" charset="-120"/>
              </a:rPr>
              <a:t>I N   T H I S   W E E K ' S   F I L E   S E T</a:t>
            </a:r>
            <a:r>
              <a:rPr lang="en-US" sz="1050" i="1" dirty="0">
                <a:solidFill>
                  <a:srgbClr val="6E5630"/>
                </a:solidFill>
                <a:latin typeface="Calibri" pitchFamily="34" charset="0"/>
                <a:ea typeface="Calibri" pitchFamily="34" charset="-122"/>
                <a:cs typeface="Calibri" pitchFamily="34" charset="-120"/>
              </a:rPr>
              <a:t>      No. 12 · The Three Gates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FBF8F1"/>
        </a:solidFill>
        <a:effectLst/>
      </p:bgPr>
    </p:bg>
    <p:spTree>
      <p:nvGrpSpPr>
        <p:cNvPr id="1" name=""/>
        <p:cNvGrpSpPr/>
        <p:nvPr/>
      </p:nvGrpSpPr>
      <p:grpSpPr>
        <a:xfrm>
          <a:off x="0" y="0"/>
          <a:ext cx="0" cy="0"/>
          <a:chOff x="0" y="0"/>
          <a:chExt cx="0" cy="0"/>
        </a:xfrm>
      </p:grpSpPr>
      <p:sp>
        <p:nvSpPr>
          <p:cNvPr id="2" name="Text 0"/>
          <p:cNvSpPr/>
          <p:nvPr/>
        </p:nvSpPr>
        <p:spPr>
          <a:xfrm>
            <a:off x="822960" y="502920"/>
            <a:ext cx="9601200" cy="310896"/>
          </a:xfrm>
          <a:prstGeom prst="rect">
            <a:avLst/>
          </a:prstGeom>
          <a:noFill/>
          <a:ln/>
        </p:spPr>
        <p:txBody>
          <a:bodyPr wrap="square" lIns="0" tIns="0" rIns="0" bIns="0" rtlCol="0" anchor="ctr"/>
          <a:lstStyle/>
          <a:p>
            <a:pPr marL="0" indent="0">
              <a:buNone/>
            </a:pPr>
            <a:r>
              <a:rPr lang="en-US" sz="1100" b="1" kern="0" spc="340" dirty="0">
                <a:solidFill>
                  <a:srgbClr val="8B6E3D"/>
                </a:solidFill>
                <a:latin typeface="Calibri" pitchFamily="34" charset="0"/>
                <a:ea typeface="Calibri" pitchFamily="34" charset="-122"/>
                <a:cs typeface="Calibri" pitchFamily="34" charset="-120"/>
              </a:rPr>
              <a:t>S T E P   4      ·      T H E   C H E C K   O N   Y O U R   B O T T L E</a:t>
            </a:r>
            <a:endParaRPr lang="en-US" sz="1100" dirty="0"/>
          </a:p>
        </p:txBody>
      </p:sp>
      <p:sp>
        <p:nvSpPr>
          <p:cNvPr id="3" name="Text 1"/>
          <p:cNvSpPr/>
          <p:nvPr/>
        </p:nvSpPr>
        <p:spPr>
          <a:xfrm>
            <a:off x="822960" y="877824"/>
            <a:ext cx="10515600" cy="914400"/>
          </a:xfrm>
          <a:prstGeom prst="rect">
            <a:avLst/>
          </a:prstGeom>
          <a:noFill/>
          <a:ln/>
        </p:spPr>
        <p:txBody>
          <a:bodyPr wrap="square" lIns="0" tIns="0" rIns="0" bIns="0" rtlCol="0" anchor="ctr"/>
          <a:lstStyle/>
          <a:p>
            <a:pPr marL="0" indent="0">
              <a:lnSpc>
                <a:spcPts val="3240"/>
              </a:lnSpc>
              <a:buNone/>
            </a:pPr>
            <a:r>
              <a:rPr lang="en-US" sz="2700" dirty="0">
                <a:solidFill>
                  <a:srgbClr val="26221C"/>
                </a:solidFill>
                <a:latin typeface="Bookman Old Style" pitchFamily="34" charset="0"/>
                <a:ea typeface="Bookman Old Style" pitchFamily="34" charset="-122"/>
                <a:cs typeface="Bookman Old Style" pitchFamily="34" charset="-120"/>
              </a:rPr>
              <a:t>Eight questions. Run them tonight.</a:t>
            </a:r>
            <a:endParaRPr lang="en-US" sz="2700" dirty="0"/>
          </a:p>
        </p:txBody>
      </p:sp>
      <p:sp>
        <p:nvSpPr>
          <p:cNvPr id="4" name="Shape 2"/>
          <p:cNvSpPr/>
          <p:nvPr/>
        </p:nvSpPr>
        <p:spPr>
          <a:xfrm>
            <a:off x="822960" y="1847088"/>
            <a:ext cx="10545775" cy="0"/>
          </a:xfrm>
          <a:prstGeom prst="line">
            <a:avLst/>
          </a:prstGeom>
          <a:noFill/>
          <a:ln w="15875">
            <a:solidFill>
              <a:srgbClr val="26221C"/>
            </a:solidFill>
            <a:prstDash val="solid"/>
          </a:ln>
        </p:spPr>
      </p:sp>
      <p:sp>
        <p:nvSpPr>
          <p:cNvPr id="5" name="Text 3"/>
          <p:cNvSpPr/>
          <p:nvPr/>
        </p:nvSpPr>
        <p:spPr>
          <a:xfrm>
            <a:off x="822960" y="2139696"/>
            <a:ext cx="420624" cy="420624"/>
          </a:xfrm>
          <a:prstGeom prst="rect">
            <a:avLst/>
          </a:prstGeom>
          <a:noFill/>
          <a:ln/>
        </p:spPr>
        <p:txBody>
          <a:bodyPr wrap="square" lIns="0" tIns="0" rIns="0" bIns="0" rtlCol="0" anchor="ctr"/>
          <a:lstStyle/>
          <a:p>
            <a:pPr marL="0" indent="0">
              <a:buNone/>
            </a:pPr>
            <a:r>
              <a:rPr lang="en-US" sz="2100" dirty="0">
                <a:solidFill>
                  <a:srgbClr val="8B6E3D"/>
                </a:solidFill>
                <a:latin typeface="Bookman Old Style" pitchFamily="34" charset="0"/>
                <a:ea typeface="Bookman Old Style" pitchFamily="34" charset="-122"/>
                <a:cs typeface="Bookman Old Style" pitchFamily="34" charset="-120"/>
              </a:rPr>
              <a:t>1</a:t>
            </a:r>
            <a:endParaRPr lang="en-US" sz="2100" dirty="0"/>
          </a:p>
        </p:txBody>
      </p:sp>
      <p:sp>
        <p:nvSpPr>
          <p:cNvPr id="6" name="Text 4"/>
          <p:cNvSpPr/>
          <p:nvPr/>
        </p:nvSpPr>
        <p:spPr>
          <a:xfrm>
            <a:off x="1316736" y="2194560"/>
            <a:ext cx="4404208" cy="457200"/>
          </a:xfrm>
          <a:prstGeom prst="rect">
            <a:avLst/>
          </a:prstGeom>
          <a:noFill/>
          <a:ln/>
        </p:spPr>
        <p:txBody>
          <a:bodyPr wrap="square" lIns="0" tIns="0" rIns="0" bIns="0" rtlCol="0" anchor="ctr"/>
          <a:lstStyle/>
          <a:p>
            <a:pPr marL="0" indent="0">
              <a:lnSpc>
                <a:spcPts val="1700"/>
              </a:lnSpc>
              <a:buNone/>
            </a:pPr>
            <a:r>
              <a:rPr lang="en-US" sz="1350" dirty="0">
                <a:solidFill>
                  <a:srgbClr val="26221C"/>
                </a:solidFill>
                <a:latin typeface="Calibri" pitchFamily="34" charset="0"/>
                <a:ea typeface="Calibri" pitchFamily="34" charset="-122"/>
                <a:cs typeface="Calibri" pitchFamily="34" charset="-120"/>
              </a:rPr>
              <a:t>Is the NOM number present and legible</a:t>
            </a:r>
            <a:endParaRPr lang="en-US" sz="1350" dirty="0"/>
          </a:p>
        </p:txBody>
      </p:sp>
      <p:sp>
        <p:nvSpPr>
          <p:cNvPr id="7" name="Shape 5"/>
          <p:cNvSpPr/>
          <p:nvPr/>
        </p:nvSpPr>
        <p:spPr>
          <a:xfrm>
            <a:off x="822960" y="2706624"/>
            <a:ext cx="4888840" cy="0"/>
          </a:xfrm>
          <a:prstGeom prst="line">
            <a:avLst/>
          </a:prstGeom>
          <a:noFill/>
          <a:ln w="9525">
            <a:solidFill>
              <a:srgbClr val="D8CDB6"/>
            </a:solidFill>
            <a:prstDash val="solid"/>
          </a:ln>
        </p:spPr>
      </p:sp>
      <p:sp>
        <p:nvSpPr>
          <p:cNvPr id="8" name="Text 6"/>
          <p:cNvSpPr/>
          <p:nvPr/>
        </p:nvSpPr>
        <p:spPr>
          <a:xfrm>
            <a:off x="822960" y="2871216"/>
            <a:ext cx="420624" cy="420624"/>
          </a:xfrm>
          <a:prstGeom prst="rect">
            <a:avLst/>
          </a:prstGeom>
          <a:noFill/>
          <a:ln/>
        </p:spPr>
        <p:txBody>
          <a:bodyPr wrap="square" lIns="0" tIns="0" rIns="0" bIns="0" rtlCol="0" anchor="ctr"/>
          <a:lstStyle/>
          <a:p>
            <a:pPr marL="0" indent="0">
              <a:buNone/>
            </a:pPr>
            <a:r>
              <a:rPr lang="en-US" sz="2100" dirty="0">
                <a:solidFill>
                  <a:srgbClr val="8B6E3D"/>
                </a:solidFill>
                <a:latin typeface="Bookman Old Style" pitchFamily="34" charset="0"/>
                <a:ea typeface="Bookman Old Style" pitchFamily="34" charset="-122"/>
                <a:cs typeface="Bookman Old Style" pitchFamily="34" charset="-120"/>
              </a:rPr>
              <a:t>2</a:t>
            </a:r>
            <a:endParaRPr lang="en-US" sz="2100" dirty="0"/>
          </a:p>
        </p:txBody>
      </p:sp>
      <p:sp>
        <p:nvSpPr>
          <p:cNvPr id="9" name="Text 7"/>
          <p:cNvSpPr/>
          <p:nvPr/>
        </p:nvSpPr>
        <p:spPr>
          <a:xfrm>
            <a:off x="1316736" y="2926080"/>
            <a:ext cx="4404208" cy="457200"/>
          </a:xfrm>
          <a:prstGeom prst="rect">
            <a:avLst/>
          </a:prstGeom>
          <a:noFill/>
          <a:ln/>
        </p:spPr>
        <p:txBody>
          <a:bodyPr wrap="square" lIns="0" tIns="0" rIns="0" bIns="0" rtlCol="0" anchor="ctr"/>
          <a:lstStyle/>
          <a:p>
            <a:pPr marL="0" indent="0">
              <a:lnSpc>
                <a:spcPts val="1700"/>
              </a:lnSpc>
              <a:buNone/>
            </a:pPr>
            <a:r>
              <a:rPr lang="en-US" sz="1350" dirty="0">
                <a:solidFill>
                  <a:srgbClr val="26221C"/>
                </a:solidFill>
                <a:latin typeface="Calibri" pitchFamily="34" charset="0"/>
                <a:ea typeface="Calibri" pitchFamily="34" charset="-122"/>
                <a:cs typeface="Calibri" pitchFamily="34" charset="-120"/>
              </a:rPr>
              <a:t>Is the strength between 36 and 50 per cent</a:t>
            </a:r>
            <a:endParaRPr lang="en-US" sz="1350" dirty="0"/>
          </a:p>
        </p:txBody>
      </p:sp>
      <p:sp>
        <p:nvSpPr>
          <p:cNvPr id="10" name="Shape 8"/>
          <p:cNvSpPr/>
          <p:nvPr/>
        </p:nvSpPr>
        <p:spPr>
          <a:xfrm>
            <a:off x="822960" y="3438144"/>
            <a:ext cx="4888840" cy="0"/>
          </a:xfrm>
          <a:prstGeom prst="line">
            <a:avLst/>
          </a:prstGeom>
          <a:noFill/>
          <a:ln w="9525">
            <a:solidFill>
              <a:srgbClr val="D8CDB6"/>
            </a:solidFill>
            <a:prstDash val="solid"/>
          </a:ln>
        </p:spPr>
      </p:sp>
      <p:sp>
        <p:nvSpPr>
          <p:cNvPr id="11" name="Text 9"/>
          <p:cNvSpPr/>
          <p:nvPr/>
        </p:nvSpPr>
        <p:spPr>
          <a:xfrm>
            <a:off x="822960" y="3602736"/>
            <a:ext cx="420624" cy="420624"/>
          </a:xfrm>
          <a:prstGeom prst="rect">
            <a:avLst/>
          </a:prstGeom>
          <a:noFill/>
          <a:ln/>
        </p:spPr>
        <p:txBody>
          <a:bodyPr wrap="square" lIns="0" tIns="0" rIns="0" bIns="0" rtlCol="0" anchor="ctr"/>
          <a:lstStyle/>
          <a:p>
            <a:pPr marL="0" indent="0">
              <a:buNone/>
            </a:pPr>
            <a:r>
              <a:rPr lang="en-US" sz="2100" dirty="0">
                <a:solidFill>
                  <a:srgbClr val="8B6E3D"/>
                </a:solidFill>
                <a:latin typeface="Bookman Old Style" pitchFamily="34" charset="0"/>
                <a:ea typeface="Bookman Old Style" pitchFamily="34" charset="-122"/>
                <a:cs typeface="Bookman Old Style" pitchFamily="34" charset="-120"/>
              </a:rPr>
              <a:t>3</a:t>
            </a:r>
            <a:endParaRPr lang="en-US" sz="2100" dirty="0"/>
          </a:p>
        </p:txBody>
      </p:sp>
      <p:sp>
        <p:nvSpPr>
          <p:cNvPr id="12" name="Text 10"/>
          <p:cNvSpPr/>
          <p:nvPr/>
        </p:nvSpPr>
        <p:spPr>
          <a:xfrm>
            <a:off x="1316736" y="3657600"/>
            <a:ext cx="4404208" cy="457200"/>
          </a:xfrm>
          <a:prstGeom prst="rect">
            <a:avLst/>
          </a:prstGeom>
          <a:noFill/>
          <a:ln/>
        </p:spPr>
        <p:txBody>
          <a:bodyPr wrap="square" lIns="0" tIns="0" rIns="0" bIns="0" rtlCol="0" anchor="ctr"/>
          <a:lstStyle/>
          <a:p>
            <a:pPr marL="0" indent="0">
              <a:lnSpc>
                <a:spcPts val="1700"/>
              </a:lnSpc>
              <a:buNone/>
            </a:pPr>
            <a:r>
              <a:rPr lang="en-US" sz="1350" dirty="0">
                <a:solidFill>
                  <a:srgbClr val="26221C"/>
                </a:solidFill>
                <a:latin typeface="Calibri" pitchFamily="34" charset="0"/>
                <a:ea typeface="Calibri" pitchFamily="34" charset="-122"/>
                <a:cs typeface="Calibri" pitchFamily="34" charset="-120"/>
              </a:rPr>
              <a:t>Is the printed ABV within 1.0 point of the lot</a:t>
            </a:r>
            <a:endParaRPr lang="en-US" sz="1350" dirty="0"/>
          </a:p>
        </p:txBody>
      </p:sp>
      <p:sp>
        <p:nvSpPr>
          <p:cNvPr id="13" name="Shape 11"/>
          <p:cNvSpPr/>
          <p:nvPr/>
        </p:nvSpPr>
        <p:spPr>
          <a:xfrm>
            <a:off x="822960" y="4169664"/>
            <a:ext cx="4888840" cy="0"/>
          </a:xfrm>
          <a:prstGeom prst="line">
            <a:avLst/>
          </a:prstGeom>
          <a:noFill/>
          <a:ln w="9525">
            <a:solidFill>
              <a:srgbClr val="D8CDB6"/>
            </a:solidFill>
            <a:prstDash val="solid"/>
          </a:ln>
        </p:spPr>
      </p:sp>
      <p:sp>
        <p:nvSpPr>
          <p:cNvPr id="14" name="Text 12"/>
          <p:cNvSpPr/>
          <p:nvPr/>
        </p:nvSpPr>
        <p:spPr>
          <a:xfrm>
            <a:off x="822960" y="4334256"/>
            <a:ext cx="420624" cy="420624"/>
          </a:xfrm>
          <a:prstGeom prst="rect">
            <a:avLst/>
          </a:prstGeom>
          <a:noFill/>
          <a:ln/>
        </p:spPr>
        <p:txBody>
          <a:bodyPr wrap="square" lIns="0" tIns="0" rIns="0" bIns="0" rtlCol="0" anchor="ctr"/>
          <a:lstStyle/>
          <a:p>
            <a:pPr marL="0" indent="0">
              <a:buNone/>
            </a:pPr>
            <a:r>
              <a:rPr lang="en-US" sz="2100" dirty="0">
                <a:solidFill>
                  <a:srgbClr val="8B6E3D"/>
                </a:solidFill>
                <a:latin typeface="Bookman Old Style" pitchFamily="34" charset="0"/>
                <a:ea typeface="Bookman Old Style" pitchFamily="34" charset="-122"/>
                <a:cs typeface="Bookman Old Style" pitchFamily="34" charset="-120"/>
              </a:rPr>
              <a:t>4</a:t>
            </a:r>
            <a:endParaRPr lang="en-US" sz="2100" dirty="0"/>
          </a:p>
        </p:txBody>
      </p:sp>
      <p:sp>
        <p:nvSpPr>
          <p:cNvPr id="15" name="Text 13"/>
          <p:cNvSpPr/>
          <p:nvPr/>
        </p:nvSpPr>
        <p:spPr>
          <a:xfrm>
            <a:off x="1316736" y="4389120"/>
            <a:ext cx="4404208" cy="457200"/>
          </a:xfrm>
          <a:prstGeom prst="rect">
            <a:avLst/>
          </a:prstGeom>
          <a:noFill/>
          <a:ln/>
        </p:spPr>
        <p:txBody>
          <a:bodyPr wrap="square" lIns="0" tIns="0" rIns="0" bIns="0" rtlCol="0" anchor="ctr"/>
          <a:lstStyle/>
          <a:p>
            <a:pPr marL="0" indent="0">
              <a:lnSpc>
                <a:spcPts val="1700"/>
              </a:lnSpc>
              <a:buNone/>
            </a:pPr>
            <a:r>
              <a:rPr lang="en-US" sz="1350" dirty="0">
                <a:solidFill>
                  <a:srgbClr val="26221C"/>
                </a:solidFill>
                <a:latin typeface="Calibri" pitchFamily="34" charset="0"/>
                <a:ea typeface="Calibri" pitchFamily="34" charset="-122"/>
                <a:cs typeface="Calibri" pitchFamily="34" charset="-120"/>
              </a:rPr>
              <a:t>Is net content stated in millilitres</a:t>
            </a:r>
            <a:endParaRPr lang="en-US" sz="1350" dirty="0"/>
          </a:p>
        </p:txBody>
      </p:sp>
      <p:sp>
        <p:nvSpPr>
          <p:cNvPr id="16" name="Text 14"/>
          <p:cNvSpPr/>
          <p:nvPr/>
        </p:nvSpPr>
        <p:spPr>
          <a:xfrm>
            <a:off x="6095848" y="2139696"/>
            <a:ext cx="420624" cy="420624"/>
          </a:xfrm>
          <a:prstGeom prst="rect">
            <a:avLst/>
          </a:prstGeom>
          <a:noFill/>
          <a:ln/>
        </p:spPr>
        <p:txBody>
          <a:bodyPr wrap="square" lIns="0" tIns="0" rIns="0" bIns="0" rtlCol="0" anchor="ctr"/>
          <a:lstStyle/>
          <a:p>
            <a:pPr marL="0" indent="0">
              <a:buNone/>
            </a:pPr>
            <a:r>
              <a:rPr lang="en-US" sz="2100" dirty="0">
                <a:solidFill>
                  <a:srgbClr val="8B6E3D"/>
                </a:solidFill>
                <a:latin typeface="Bookman Old Style" pitchFamily="34" charset="0"/>
                <a:ea typeface="Bookman Old Style" pitchFamily="34" charset="-122"/>
                <a:cs typeface="Bookman Old Style" pitchFamily="34" charset="-120"/>
              </a:rPr>
              <a:t>5</a:t>
            </a:r>
            <a:endParaRPr lang="en-US" sz="2100" dirty="0"/>
          </a:p>
        </p:txBody>
      </p:sp>
      <p:sp>
        <p:nvSpPr>
          <p:cNvPr id="17" name="Text 15"/>
          <p:cNvSpPr/>
          <p:nvPr/>
        </p:nvSpPr>
        <p:spPr>
          <a:xfrm>
            <a:off x="6589624" y="2194560"/>
            <a:ext cx="4404208" cy="457200"/>
          </a:xfrm>
          <a:prstGeom prst="rect">
            <a:avLst/>
          </a:prstGeom>
          <a:noFill/>
          <a:ln/>
        </p:spPr>
        <p:txBody>
          <a:bodyPr wrap="square" lIns="0" tIns="0" rIns="0" bIns="0" rtlCol="0" anchor="ctr"/>
          <a:lstStyle/>
          <a:p>
            <a:pPr marL="0" indent="0">
              <a:lnSpc>
                <a:spcPts val="1700"/>
              </a:lnSpc>
              <a:buNone/>
            </a:pPr>
            <a:r>
              <a:rPr lang="en-US" sz="1350" dirty="0">
                <a:solidFill>
                  <a:srgbClr val="26221C"/>
                </a:solidFill>
                <a:latin typeface="Calibri" pitchFamily="34" charset="0"/>
                <a:ea typeface="Calibri" pitchFamily="34" charset="-122"/>
                <a:cs typeface="Calibri" pitchFamily="34" charset="-120"/>
              </a:rPr>
              <a:t>Is Producto de México printed in Mexico</a:t>
            </a:r>
            <a:endParaRPr lang="en-US" sz="1350" dirty="0"/>
          </a:p>
        </p:txBody>
      </p:sp>
      <p:sp>
        <p:nvSpPr>
          <p:cNvPr id="18" name="Shape 16"/>
          <p:cNvSpPr/>
          <p:nvPr/>
        </p:nvSpPr>
        <p:spPr>
          <a:xfrm>
            <a:off x="6095848" y="2706624"/>
            <a:ext cx="4888840" cy="0"/>
          </a:xfrm>
          <a:prstGeom prst="line">
            <a:avLst/>
          </a:prstGeom>
          <a:noFill/>
          <a:ln w="9525">
            <a:solidFill>
              <a:srgbClr val="D8CDB6"/>
            </a:solidFill>
            <a:prstDash val="solid"/>
          </a:ln>
        </p:spPr>
      </p:sp>
      <p:sp>
        <p:nvSpPr>
          <p:cNvPr id="19" name="Text 17"/>
          <p:cNvSpPr/>
          <p:nvPr/>
        </p:nvSpPr>
        <p:spPr>
          <a:xfrm>
            <a:off x="6095848" y="2871216"/>
            <a:ext cx="420624" cy="420624"/>
          </a:xfrm>
          <a:prstGeom prst="rect">
            <a:avLst/>
          </a:prstGeom>
          <a:noFill/>
          <a:ln/>
        </p:spPr>
        <p:txBody>
          <a:bodyPr wrap="square" lIns="0" tIns="0" rIns="0" bIns="0" rtlCol="0" anchor="ctr"/>
          <a:lstStyle/>
          <a:p>
            <a:pPr marL="0" indent="0">
              <a:buNone/>
            </a:pPr>
            <a:r>
              <a:rPr lang="en-US" sz="2100" dirty="0">
                <a:solidFill>
                  <a:srgbClr val="8B6E3D"/>
                </a:solidFill>
                <a:latin typeface="Bookman Old Style" pitchFamily="34" charset="0"/>
                <a:ea typeface="Bookman Old Style" pitchFamily="34" charset="-122"/>
                <a:cs typeface="Bookman Old Style" pitchFamily="34" charset="-120"/>
              </a:rPr>
              <a:t>6</a:t>
            </a:r>
            <a:endParaRPr lang="en-US" sz="2100" dirty="0"/>
          </a:p>
        </p:txBody>
      </p:sp>
      <p:sp>
        <p:nvSpPr>
          <p:cNvPr id="20" name="Text 18"/>
          <p:cNvSpPr/>
          <p:nvPr/>
        </p:nvSpPr>
        <p:spPr>
          <a:xfrm>
            <a:off x="6589624" y="2926080"/>
            <a:ext cx="4404208" cy="457200"/>
          </a:xfrm>
          <a:prstGeom prst="rect">
            <a:avLst/>
          </a:prstGeom>
          <a:noFill/>
          <a:ln/>
        </p:spPr>
        <p:txBody>
          <a:bodyPr wrap="square" lIns="0" tIns="0" rIns="0" bIns="0" rtlCol="0" anchor="ctr"/>
          <a:lstStyle/>
          <a:p>
            <a:pPr marL="0" indent="0">
              <a:lnSpc>
                <a:spcPts val="1700"/>
              </a:lnSpc>
              <a:buNone/>
            </a:pPr>
            <a:r>
              <a:rPr lang="en-US" sz="1350" dirty="0">
                <a:solidFill>
                  <a:srgbClr val="26221C"/>
                </a:solidFill>
                <a:latin typeface="Calibri" pitchFamily="34" charset="0"/>
                <a:ea typeface="Calibri" pitchFamily="34" charset="-122"/>
                <a:cs typeface="Calibri" pitchFamily="34" charset="-120"/>
              </a:rPr>
              <a:t>Is the lot code permanent after transit</a:t>
            </a:r>
            <a:endParaRPr lang="en-US" sz="1350" dirty="0"/>
          </a:p>
        </p:txBody>
      </p:sp>
      <p:sp>
        <p:nvSpPr>
          <p:cNvPr id="21" name="Shape 19"/>
          <p:cNvSpPr/>
          <p:nvPr/>
        </p:nvSpPr>
        <p:spPr>
          <a:xfrm>
            <a:off x="6095848" y="3438144"/>
            <a:ext cx="4888840" cy="0"/>
          </a:xfrm>
          <a:prstGeom prst="line">
            <a:avLst/>
          </a:prstGeom>
          <a:noFill/>
          <a:ln w="9525">
            <a:solidFill>
              <a:srgbClr val="D8CDB6"/>
            </a:solidFill>
            <a:prstDash val="solid"/>
          </a:ln>
        </p:spPr>
      </p:sp>
      <p:sp>
        <p:nvSpPr>
          <p:cNvPr id="22" name="Text 20"/>
          <p:cNvSpPr/>
          <p:nvPr/>
        </p:nvSpPr>
        <p:spPr>
          <a:xfrm>
            <a:off x="6095848" y="3602736"/>
            <a:ext cx="420624" cy="420624"/>
          </a:xfrm>
          <a:prstGeom prst="rect">
            <a:avLst/>
          </a:prstGeom>
          <a:noFill/>
          <a:ln/>
        </p:spPr>
        <p:txBody>
          <a:bodyPr wrap="square" lIns="0" tIns="0" rIns="0" bIns="0" rtlCol="0" anchor="ctr"/>
          <a:lstStyle/>
          <a:p>
            <a:pPr marL="0" indent="0">
              <a:buNone/>
            </a:pPr>
            <a:r>
              <a:rPr lang="en-US" sz="2100" dirty="0">
                <a:solidFill>
                  <a:srgbClr val="8B6E3D"/>
                </a:solidFill>
                <a:latin typeface="Bookman Old Style" pitchFamily="34" charset="0"/>
                <a:ea typeface="Bookman Old Style" pitchFamily="34" charset="-122"/>
                <a:cs typeface="Bookman Old Style" pitchFamily="34" charset="-120"/>
              </a:rPr>
              <a:t>7</a:t>
            </a:r>
            <a:endParaRPr lang="en-US" sz="2100" dirty="0"/>
          </a:p>
        </p:txBody>
      </p:sp>
      <p:sp>
        <p:nvSpPr>
          <p:cNvPr id="23" name="Text 21"/>
          <p:cNvSpPr/>
          <p:nvPr/>
        </p:nvSpPr>
        <p:spPr>
          <a:xfrm>
            <a:off x="6589624" y="3657600"/>
            <a:ext cx="4404208" cy="457200"/>
          </a:xfrm>
          <a:prstGeom prst="rect">
            <a:avLst/>
          </a:prstGeom>
          <a:noFill/>
          <a:ln/>
        </p:spPr>
        <p:txBody>
          <a:bodyPr wrap="square" lIns="0" tIns="0" rIns="0" bIns="0" rtlCol="0" anchor="ctr"/>
          <a:lstStyle/>
          <a:p>
            <a:pPr marL="0" indent="0">
              <a:lnSpc>
                <a:spcPts val="1700"/>
              </a:lnSpc>
              <a:buNone/>
            </a:pPr>
            <a:r>
              <a:rPr lang="en-US" sz="1350" dirty="0">
                <a:solidFill>
                  <a:srgbClr val="26221C"/>
                </a:solidFill>
                <a:latin typeface="Calibri" pitchFamily="34" charset="0"/>
                <a:ea typeface="Calibri" pitchFamily="34" charset="-122"/>
                <a:cs typeface="Calibri" pitchFamily="34" charset="-120"/>
              </a:rPr>
              <a:t>Is there a clear flat rear panel for the sticker</a:t>
            </a:r>
            <a:endParaRPr lang="en-US" sz="1350" dirty="0"/>
          </a:p>
        </p:txBody>
      </p:sp>
      <p:sp>
        <p:nvSpPr>
          <p:cNvPr id="24" name="Shape 22"/>
          <p:cNvSpPr/>
          <p:nvPr/>
        </p:nvSpPr>
        <p:spPr>
          <a:xfrm>
            <a:off x="6095848" y="4169664"/>
            <a:ext cx="4888840" cy="0"/>
          </a:xfrm>
          <a:prstGeom prst="line">
            <a:avLst/>
          </a:prstGeom>
          <a:noFill/>
          <a:ln w="9525">
            <a:solidFill>
              <a:srgbClr val="D8CDB6"/>
            </a:solidFill>
            <a:prstDash val="solid"/>
          </a:ln>
        </p:spPr>
      </p:sp>
      <p:sp>
        <p:nvSpPr>
          <p:cNvPr id="25" name="Text 23"/>
          <p:cNvSpPr/>
          <p:nvPr/>
        </p:nvSpPr>
        <p:spPr>
          <a:xfrm>
            <a:off x="6095848" y="4334256"/>
            <a:ext cx="420624" cy="420624"/>
          </a:xfrm>
          <a:prstGeom prst="rect">
            <a:avLst/>
          </a:prstGeom>
          <a:noFill/>
          <a:ln/>
        </p:spPr>
        <p:txBody>
          <a:bodyPr wrap="square" lIns="0" tIns="0" rIns="0" bIns="0" rtlCol="0" anchor="ctr"/>
          <a:lstStyle/>
          <a:p>
            <a:pPr marL="0" indent="0">
              <a:buNone/>
            </a:pPr>
            <a:r>
              <a:rPr lang="en-US" sz="2100" dirty="0">
                <a:solidFill>
                  <a:srgbClr val="8B6E3D"/>
                </a:solidFill>
                <a:latin typeface="Bookman Old Style" pitchFamily="34" charset="0"/>
                <a:ea typeface="Bookman Old Style" pitchFamily="34" charset="-122"/>
                <a:cs typeface="Bookman Old Style" pitchFamily="34" charset="-120"/>
              </a:rPr>
              <a:t>8</a:t>
            </a:r>
            <a:endParaRPr lang="en-US" sz="2100" dirty="0"/>
          </a:p>
        </p:txBody>
      </p:sp>
      <p:sp>
        <p:nvSpPr>
          <p:cNvPr id="26" name="Text 24"/>
          <p:cNvSpPr/>
          <p:nvPr/>
        </p:nvSpPr>
        <p:spPr>
          <a:xfrm>
            <a:off x="6589624" y="4389120"/>
            <a:ext cx="4404208" cy="457200"/>
          </a:xfrm>
          <a:prstGeom prst="rect">
            <a:avLst/>
          </a:prstGeom>
          <a:noFill/>
          <a:ln/>
        </p:spPr>
        <p:txBody>
          <a:bodyPr wrap="square" lIns="0" tIns="0" rIns="0" bIns="0" rtlCol="0" anchor="ctr"/>
          <a:lstStyle/>
          <a:p>
            <a:pPr marL="0" indent="0">
              <a:lnSpc>
                <a:spcPts val="1700"/>
              </a:lnSpc>
              <a:buNone/>
            </a:pPr>
            <a:r>
              <a:rPr lang="en-US" sz="1350" dirty="0">
                <a:solidFill>
                  <a:srgbClr val="26221C"/>
                </a:solidFill>
                <a:latin typeface="Calibri" pitchFamily="34" charset="0"/>
                <a:ea typeface="Calibri" pitchFamily="34" charset="-122"/>
                <a:cs typeface="Calibri" pitchFamily="34" charset="-120"/>
              </a:rPr>
              <a:t>Is there no date, no nutrition panel, no health claim</a:t>
            </a:r>
            <a:endParaRPr lang="en-US" sz="1350" dirty="0"/>
          </a:p>
        </p:txBody>
      </p:sp>
      <p:sp>
        <p:nvSpPr>
          <p:cNvPr id="27" name="Shape 25"/>
          <p:cNvSpPr/>
          <p:nvPr/>
        </p:nvSpPr>
        <p:spPr>
          <a:xfrm>
            <a:off x="822960" y="5138928"/>
            <a:ext cx="10545775" cy="0"/>
          </a:xfrm>
          <a:prstGeom prst="line">
            <a:avLst/>
          </a:prstGeom>
          <a:noFill/>
          <a:ln w="9525">
            <a:solidFill>
              <a:srgbClr val="D8CDB6"/>
            </a:solidFill>
            <a:prstDash val="solid"/>
          </a:ln>
        </p:spPr>
      </p:sp>
      <p:sp>
        <p:nvSpPr>
          <p:cNvPr id="28" name="Text 26"/>
          <p:cNvSpPr/>
          <p:nvPr/>
        </p:nvSpPr>
        <p:spPr>
          <a:xfrm>
            <a:off x="822960" y="5376672"/>
            <a:ext cx="10058400" cy="594360"/>
          </a:xfrm>
          <a:prstGeom prst="rect">
            <a:avLst/>
          </a:prstGeom>
          <a:noFill/>
          <a:ln/>
        </p:spPr>
        <p:txBody>
          <a:bodyPr wrap="square" lIns="0" tIns="0" rIns="0" bIns="0" rtlCol="0" anchor="ctr"/>
          <a:lstStyle/>
          <a:p>
            <a:pPr marL="0" indent="0">
              <a:lnSpc>
                <a:spcPts val="2800"/>
              </a:lnSpc>
              <a:buNone/>
            </a:pPr>
            <a:r>
              <a:rPr lang="en-US" sz="2100" dirty="0">
                <a:solidFill>
                  <a:srgbClr val="26221C"/>
                </a:solidFill>
                <a:latin typeface="Bookman Old Style" pitchFamily="34" charset="0"/>
                <a:ea typeface="Bookman Old Style" pitchFamily="34" charset="-122"/>
                <a:cs typeface="Bookman Old Style" pitchFamily="34" charset="-120"/>
              </a:rPr>
              <a:t>Two, five and six cannot be fixed once the bottle is on a ship. Everything else can be corrected in India.</a:t>
            </a:r>
            <a:endParaRPr lang="en-US" sz="2100" dirty="0"/>
          </a:p>
        </p:txBody>
      </p:sp>
      <p:sp>
        <p:nvSpPr>
          <p:cNvPr id="29" name="Text 27"/>
          <p:cNvSpPr/>
          <p:nvPr/>
        </p:nvSpPr>
        <p:spPr>
          <a:xfrm>
            <a:off x="822960" y="6382512"/>
            <a:ext cx="10515600" cy="274320"/>
          </a:xfrm>
          <a:prstGeom prst="rect">
            <a:avLst/>
          </a:prstGeom>
          <a:noFill/>
          <a:ln/>
        </p:spPr>
        <p:txBody>
          <a:bodyPr wrap="square" lIns="0" tIns="0" rIns="0" bIns="0" rtlCol="0" anchor="ctr"/>
          <a:lstStyle/>
          <a:p>
            <a:pPr marL="0" indent="0">
              <a:buNone/>
            </a:pPr>
            <a:r>
              <a:rPr lang="en-US" sz="900" b="1" dirty="0">
                <a:solidFill>
                  <a:srgbClr val="8B6E3D"/>
                </a:solidFill>
                <a:latin typeface="Calibri" pitchFamily="34" charset="0"/>
                <a:ea typeface="Calibri" pitchFamily="34" charset="-122"/>
                <a:cs typeface="Calibri" pitchFamily="34" charset="-120"/>
              </a:rPr>
              <a:t>I N   T H I S   W E E K ' S   F I L E   S E T</a:t>
            </a:r>
            <a:r>
              <a:rPr lang="en-US" sz="1050" i="1" dirty="0">
                <a:solidFill>
                  <a:srgbClr val="6E5630"/>
                </a:solidFill>
                <a:latin typeface="Calibri" pitchFamily="34" charset="0"/>
                <a:ea typeface="Calibri" pitchFamily="34" charset="-122"/>
                <a:cs typeface="Calibri" pitchFamily="34" charset="-120"/>
              </a:rPr>
              <a:t>      No. 17 · The India Label</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FBF8F1"/>
        </a:solidFill>
        <a:effectLst/>
      </p:bgPr>
    </p:bg>
    <p:spTree>
      <p:nvGrpSpPr>
        <p:cNvPr id="1" name=""/>
        <p:cNvGrpSpPr/>
        <p:nvPr/>
      </p:nvGrpSpPr>
      <p:grpSpPr>
        <a:xfrm>
          <a:off x="0" y="0"/>
          <a:ext cx="0" cy="0"/>
          <a:chOff x="0" y="0"/>
          <a:chExt cx="0" cy="0"/>
        </a:xfrm>
      </p:grpSpPr>
      <p:sp>
        <p:nvSpPr>
          <p:cNvPr id="2" name="Text 0"/>
          <p:cNvSpPr/>
          <p:nvPr/>
        </p:nvSpPr>
        <p:spPr>
          <a:xfrm>
            <a:off x="822960" y="502920"/>
            <a:ext cx="9601200" cy="310896"/>
          </a:xfrm>
          <a:prstGeom prst="rect">
            <a:avLst/>
          </a:prstGeom>
          <a:noFill/>
          <a:ln/>
        </p:spPr>
        <p:txBody>
          <a:bodyPr wrap="square" lIns="0" tIns="0" rIns="0" bIns="0" rtlCol="0" anchor="ctr"/>
          <a:lstStyle/>
          <a:p>
            <a:pPr marL="0" indent="0">
              <a:buNone/>
            </a:pPr>
            <a:r>
              <a:rPr lang="en-US" sz="1100" b="1" kern="0" spc="340" dirty="0">
                <a:solidFill>
                  <a:srgbClr val="8B6E3D"/>
                </a:solidFill>
                <a:latin typeface="Calibri" pitchFamily="34" charset="0"/>
                <a:ea typeface="Calibri" pitchFamily="34" charset="-122"/>
                <a:cs typeface="Calibri" pitchFamily="34" charset="-120"/>
              </a:rPr>
              <a:t>S T E P   5      ·      T H R E E   G A T E S ,   I N   O R D E R</a:t>
            </a:r>
            <a:endParaRPr lang="en-US" sz="1100" dirty="0"/>
          </a:p>
        </p:txBody>
      </p:sp>
      <p:sp>
        <p:nvSpPr>
          <p:cNvPr id="3" name="Text 1"/>
          <p:cNvSpPr/>
          <p:nvPr/>
        </p:nvSpPr>
        <p:spPr>
          <a:xfrm>
            <a:off x="822960" y="877824"/>
            <a:ext cx="10515600" cy="914400"/>
          </a:xfrm>
          <a:prstGeom prst="rect">
            <a:avLst/>
          </a:prstGeom>
          <a:noFill/>
          <a:ln/>
        </p:spPr>
        <p:txBody>
          <a:bodyPr wrap="square" lIns="0" tIns="0" rIns="0" bIns="0" rtlCol="0" anchor="ctr"/>
          <a:lstStyle/>
          <a:p>
            <a:pPr marL="0" indent="0">
              <a:lnSpc>
                <a:spcPts val="3240"/>
              </a:lnSpc>
              <a:buNone/>
            </a:pPr>
            <a:r>
              <a:rPr lang="en-US" sz="2700" dirty="0">
                <a:solidFill>
                  <a:srgbClr val="26221C"/>
                </a:solidFill>
                <a:latin typeface="Bookman Old Style" pitchFamily="34" charset="0"/>
                <a:ea typeface="Bookman Old Style" pitchFamily="34" charset="-122"/>
                <a:cs typeface="Bookman Old Style" pitchFamily="34" charset="-120"/>
              </a:rPr>
              <a:t>Three approvals. Skip one and it costs you a year.</a:t>
            </a:r>
            <a:endParaRPr lang="en-US" sz="2700" dirty="0"/>
          </a:p>
        </p:txBody>
      </p:sp>
      <p:sp>
        <p:nvSpPr>
          <p:cNvPr id="4" name="Shape 2"/>
          <p:cNvSpPr/>
          <p:nvPr/>
        </p:nvSpPr>
        <p:spPr>
          <a:xfrm>
            <a:off x="822960" y="1847088"/>
            <a:ext cx="10545775" cy="0"/>
          </a:xfrm>
          <a:prstGeom prst="line">
            <a:avLst/>
          </a:prstGeom>
          <a:noFill/>
          <a:ln w="15875">
            <a:solidFill>
              <a:srgbClr val="26221C"/>
            </a:solidFill>
            <a:prstDash val="solid"/>
          </a:ln>
        </p:spPr>
      </p:sp>
      <p:sp>
        <p:nvSpPr>
          <p:cNvPr id="5" name="Text 3"/>
          <p:cNvSpPr/>
          <p:nvPr/>
        </p:nvSpPr>
        <p:spPr>
          <a:xfrm>
            <a:off x="822960" y="2139696"/>
            <a:ext cx="3058058" cy="1051560"/>
          </a:xfrm>
          <a:prstGeom prst="rect">
            <a:avLst/>
          </a:prstGeom>
          <a:noFill/>
          <a:ln/>
        </p:spPr>
        <p:txBody>
          <a:bodyPr wrap="square" lIns="0" tIns="0" rIns="0" bIns="0" rtlCol="0" anchor="ctr"/>
          <a:lstStyle/>
          <a:p>
            <a:pPr marL="0" indent="0">
              <a:buNone/>
            </a:pPr>
            <a:r>
              <a:rPr lang="en-US" sz="6200" dirty="0">
                <a:solidFill>
                  <a:srgbClr val="8B6E3D"/>
                </a:solidFill>
                <a:latin typeface="Bookman Old Style" pitchFamily="34" charset="0"/>
                <a:ea typeface="Bookman Old Style" pitchFamily="34" charset="-122"/>
                <a:cs typeface="Bookman Old Style" pitchFamily="34" charset="-120"/>
              </a:rPr>
              <a:t>I</a:t>
            </a:r>
            <a:endParaRPr lang="en-US" sz="6200" dirty="0"/>
          </a:p>
        </p:txBody>
      </p:sp>
      <p:sp>
        <p:nvSpPr>
          <p:cNvPr id="6" name="Text 4"/>
          <p:cNvSpPr/>
          <p:nvPr/>
        </p:nvSpPr>
        <p:spPr>
          <a:xfrm>
            <a:off x="822960" y="3255264"/>
            <a:ext cx="3058058" cy="402336"/>
          </a:xfrm>
          <a:prstGeom prst="rect">
            <a:avLst/>
          </a:prstGeom>
          <a:noFill/>
          <a:ln/>
        </p:spPr>
        <p:txBody>
          <a:bodyPr wrap="square" lIns="0" tIns="0" rIns="0" bIns="0" rtlCol="0" anchor="ctr"/>
          <a:lstStyle/>
          <a:p>
            <a:pPr marL="0" indent="0">
              <a:buNone/>
            </a:pPr>
            <a:r>
              <a:rPr lang="en-US" sz="2100" dirty="0">
                <a:solidFill>
                  <a:srgbClr val="26221C"/>
                </a:solidFill>
                <a:latin typeface="Bookman Old Style" pitchFamily="34" charset="0"/>
                <a:ea typeface="Bookman Old Style" pitchFamily="34" charset="-122"/>
                <a:cs typeface="Bookman Old Style" pitchFamily="34" charset="-120"/>
              </a:rPr>
              <a:t>Own the name</a:t>
            </a:r>
            <a:endParaRPr lang="en-US" sz="2100" dirty="0"/>
          </a:p>
        </p:txBody>
      </p:sp>
      <p:sp>
        <p:nvSpPr>
          <p:cNvPr id="7" name="Text 5"/>
          <p:cNvSpPr/>
          <p:nvPr/>
        </p:nvSpPr>
        <p:spPr>
          <a:xfrm>
            <a:off x="822960" y="3712464"/>
            <a:ext cx="3012338" cy="914400"/>
          </a:xfrm>
          <a:prstGeom prst="rect">
            <a:avLst/>
          </a:prstGeom>
          <a:noFill/>
          <a:ln/>
        </p:spPr>
        <p:txBody>
          <a:bodyPr wrap="square" lIns="0" tIns="0" rIns="0" bIns="0" rtlCol="0" anchor="t"/>
          <a:lstStyle/>
          <a:p>
            <a:pPr marL="0" indent="0">
              <a:lnSpc>
                <a:spcPts val="1750"/>
              </a:lnSpc>
              <a:buNone/>
            </a:pPr>
            <a:r>
              <a:rPr lang="en-US" sz="1250" dirty="0">
                <a:solidFill>
                  <a:srgbClr val="4A4338"/>
                </a:solidFill>
                <a:latin typeface="Calibri" pitchFamily="34" charset="0"/>
                <a:ea typeface="Calibri" pitchFamily="34" charset="-122"/>
                <a:cs typeface="Calibri" pitchFamily="34" charset="-120"/>
              </a:rPr>
              <a:t>One trademark filing in Class 33 covers the whole country. Twelve to eighteen months, so start it now and let it run.</a:t>
            </a:r>
            <a:endParaRPr lang="en-US" sz="1250" dirty="0"/>
          </a:p>
        </p:txBody>
      </p:sp>
      <p:sp>
        <p:nvSpPr>
          <p:cNvPr id="8" name="Shape 6"/>
          <p:cNvSpPr/>
          <p:nvPr/>
        </p:nvSpPr>
        <p:spPr>
          <a:xfrm>
            <a:off x="4063898" y="2194560"/>
            <a:ext cx="0" cy="2331720"/>
          </a:xfrm>
          <a:prstGeom prst="line">
            <a:avLst/>
          </a:prstGeom>
          <a:noFill/>
          <a:ln w="9525">
            <a:solidFill>
              <a:srgbClr val="D8CDB6"/>
            </a:solidFill>
            <a:prstDash val="solid"/>
          </a:ln>
        </p:spPr>
      </p:sp>
      <p:sp>
        <p:nvSpPr>
          <p:cNvPr id="9" name="Text 7"/>
          <p:cNvSpPr/>
          <p:nvPr/>
        </p:nvSpPr>
        <p:spPr>
          <a:xfrm>
            <a:off x="4338218" y="2139696"/>
            <a:ext cx="3058058" cy="1051560"/>
          </a:xfrm>
          <a:prstGeom prst="rect">
            <a:avLst/>
          </a:prstGeom>
          <a:noFill/>
          <a:ln/>
        </p:spPr>
        <p:txBody>
          <a:bodyPr wrap="square" lIns="0" tIns="0" rIns="0" bIns="0" rtlCol="0" anchor="ctr"/>
          <a:lstStyle/>
          <a:p>
            <a:pPr marL="0" indent="0">
              <a:buNone/>
            </a:pPr>
            <a:r>
              <a:rPr lang="en-US" sz="6200" dirty="0">
                <a:solidFill>
                  <a:srgbClr val="8B6E3D"/>
                </a:solidFill>
                <a:latin typeface="Bookman Old Style" pitchFamily="34" charset="0"/>
                <a:ea typeface="Bookman Old Style" pitchFamily="34" charset="-122"/>
                <a:cs typeface="Bookman Old Style" pitchFamily="34" charset="-120"/>
              </a:rPr>
              <a:t>II</a:t>
            </a:r>
            <a:endParaRPr lang="en-US" sz="6200" dirty="0"/>
          </a:p>
        </p:txBody>
      </p:sp>
      <p:sp>
        <p:nvSpPr>
          <p:cNvPr id="10" name="Text 8"/>
          <p:cNvSpPr/>
          <p:nvPr/>
        </p:nvSpPr>
        <p:spPr>
          <a:xfrm>
            <a:off x="4338218" y="3255264"/>
            <a:ext cx="3058058" cy="402336"/>
          </a:xfrm>
          <a:prstGeom prst="rect">
            <a:avLst/>
          </a:prstGeom>
          <a:noFill/>
          <a:ln/>
        </p:spPr>
        <p:txBody>
          <a:bodyPr wrap="square" lIns="0" tIns="0" rIns="0" bIns="0" rtlCol="0" anchor="ctr"/>
          <a:lstStyle/>
          <a:p>
            <a:pPr marL="0" indent="0">
              <a:buNone/>
            </a:pPr>
            <a:r>
              <a:rPr lang="en-US" sz="2100" dirty="0">
                <a:solidFill>
                  <a:srgbClr val="26221C"/>
                </a:solidFill>
                <a:latin typeface="Bookman Old Style" pitchFamily="34" charset="0"/>
                <a:ea typeface="Bookman Old Style" pitchFamily="34" charset="-122"/>
                <a:cs typeface="Bookman Old Style" pitchFamily="34" charset="-120"/>
              </a:rPr>
              <a:t>Get the product in</a:t>
            </a:r>
            <a:endParaRPr lang="en-US" sz="2100" dirty="0"/>
          </a:p>
        </p:txBody>
      </p:sp>
      <p:sp>
        <p:nvSpPr>
          <p:cNvPr id="11" name="Text 9"/>
          <p:cNvSpPr/>
          <p:nvPr/>
        </p:nvSpPr>
        <p:spPr>
          <a:xfrm>
            <a:off x="4338218" y="3712464"/>
            <a:ext cx="3012338" cy="914400"/>
          </a:xfrm>
          <a:prstGeom prst="rect">
            <a:avLst/>
          </a:prstGeom>
          <a:noFill/>
          <a:ln/>
        </p:spPr>
        <p:txBody>
          <a:bodyPr wrap="square" lIns="0" tIns="0" rIns="0" bIns="0" rtlCol="0" anchor="t"/>
          <a:lstStyle/>
          <a:p>
            <a:pPr marL="0" indent="0">
              <a:lnSpc>
                <a:spcPts val="1750"/>
              </a:lnSpc>
              <a:buNone/>
            </a:pPr>
            <a:r>
              <a:rPr lang="en-US" sz="1250" dirty="0">
                <a:solidFill>
                  <a:srgbClr val="4A4338"/>
                </a:solidFill>
                <a:latin typeface="Calibri" pitchFamily="34" charset="0"/>
                <a:ea typeface="Calibri" pitchFamily="34" charset="-122"/>
                <a:cs typeface="Calibri" pitchFamily="34" charset="-120"/>
              </a:rPr>
              <a:t>FSSAI is your importer's licence, not yours. It clears the bottle into India and says nothing about your right to sell it.</a:t>
            </a:r>
            <a:endParaRPr lang="en-US" sz="1250" dirty="0"/>
          </a:p>
        </p:txBody>
      </p:sp>
      <p:sp>
        <p:nvSpPr>
          <p:cNvPr id="12" name="Shape 10"/>
          <p:cNvSpPr/>
          <p:nvPr/>
        </p:nvSpPr>
        <p:spPr>
          <a:xfrm>
            <a:off x="7579157" y="2194560"/>
            <a:ext cx="0" cy="2331720"/>
          </a:xfrm>
          <a:prstGeom prst="line">
            <a:avLst/>
          </a:prstGeom>
          <a:noFill/>
          <a:ln w="9525">
            <a:solidFill>
              <a:srgbClr val="D8CDB6"/>
            </a:solidFill>
            <a:prstDash val="solid"/>
          </a:ln>
        </p:spPr>
      </p:sp>
      <p:sp>
        <p:nvSpPr>
          <p:cNvPr id="13" name="Text 11"/>
          <p:cNvSpPr/>
          <p:nvPr/>
        </p:nvSpPr>
        <p:spPr>
          <a:xfrm>
            <a:off x="7853477" y="2139696"/>
            <a:ext cx="3058058" cy="1051560"/>
          </a:xfrm>
          <a:prstGeom prst="rect">
            <a:avLst/>
          </a:prstGeom>
          <a:noFill/>
          <a:ln/>
        </p:spPr>
        <p:txBody>
          <a:bodyPr wrap="square" lIns="0" tIns="0" rIns="0" bIns="0" rtlCol="0" anchor="ctr"/>
          <a:lstStyle/>
          <a:p>
            <a:pPr marL="0" indent="0">
              <a:buNone/>
            </a:pPr>
            <a:r>
              <a:rPr lang="en-US" sz="6200" dirty="0">
                <a:solidFill>
                  <a:srgbClr val="8B6E3D"/>
                </a:solidFill>
                <a:latin typeface="Bookman Old Style" pitchFamily="34" charset="0"/>
                <a:ea typeface="Bookman Old Style" pitchFamily="34" charset="-122"/>
                <a:cs typeface="Bookman Old Style" pitchFamily="34" charset="-120"/>
              </a:rPr>
              <a:t>III</a:t>
            </a:r>
            <a:endParaRPr lang="en-US" sz="6200" dirty="0"/>
          </a:p>
        </p:txBody>
      </p:sp>
      <p:sp>
        <p:nvSpPr>
          <p:cNvPr id="14" name="Text 12"/>
          <p:cNvSpPr/>
          <p:nvPr/>
        </p:nvSpPr>
        <p:spPr>
          <a:xfrm>
            <a:off x="7853477" y="3255264"/>
            <a:ext cx="3058058" cy="402336"/>
          </a:xfrm>
          <a:prstGeom prst="rect">
            <a:avLst/>
          </a:prstGeom>
          <a:noFill/>
          <a:ln/>
        </p:spPr>
        <p:txBody>
          <a:bodyPr wrap="square" lIns="0" tIns="0" rIns="0" bIns="0" rtlCol="0" anchor="ctr"/>
          <a:lstStyle/>
          <a:p>
            <a:pPr marL="0" indent="0">
              <a:buNone/>
            </a:pPr>
            <a:r>
              <a:rPr lang="en-US" sz="2100" dirty="0">
                <a:solidFill>
                  <a:srgbClr val="26221C"/>
                </a:solidFill>
                <a:latin typeface="Bookman Old Style" pitchFamily="34" charset="0"/>
                <a:ea typeface="Bookman Old Style" pitchFamily="34" charset="-122"/>
                <a:cs typeface="Bookman Old Style" pitchFamily="34" charset="-120"/>
              </a:rPr>
              <a:t>Get the right to sell</a:t>
            </a:r>
            <a:endParaRPr lang="en-US" sz="2100" dirty="0"/>
          </a:p>
        </p:txBody>
      </p:sp>
      <p:sp>
        <p:nvSpPr>
          <p:cNvPr id="15" name="Text 13"/>
          <p:cNvSpPr/>
          <p:nvPr/>
        </p:nvSpPr>
        <p:spPr>
          <a:xfrm>
            <a:off x="7853477" y="3712464"/>
            <a:ext cx="3012338" cy="914400"/>
          </a:xfrm>
          <a:prstGeom prst="rect">
            <a:avLst/>
          </a:prstGeom>
          <a:noFill/>
          <a:ln/>
        </p:spPr>
        <p:txBody>
          <a:bodyPr wrap="square" lIns="0" tIns="0" rIns="0" bIns="0" rtlCol="0" anchor="t"/>
          <a:lstStyle/>
          <a:p>
            <a:pPr marL="0" indent="0">
              <a:lnSpc>
                <a:spcPts val="1750"/>
              </a:lnSpc>
              <a:buNone/>
            </a:pPr>
            <a:r>
              <a:rPr lang="en-US" sz="1250" dirty="0">
                <a:solidFill>
                  <a:srgbClr val="4A4338"/>
                </a:solidFill>
                <a:latin typeface="Calibri" pitchFamily="34" charset="0"/>
                <a:ea typeface="Calibri" pitchFamily="34" charset="-122"/>
                <a:cs typeface="Calibri" pitchFamily="34" charset="-120"/>
              </a:rPr>
              <a:t>A separate registration in every single state, on that state's own calendar. Nothing transfers between them.</a:t>
            </a:r>
            <a:endParaRPr lang="en-US" sz="1250" dirty="0"/>
          </a:p>
        </p:txBody>
      </p:sp>
      <p:sp>
        <p:nvSpPr>
          <p:cNvPr id="16" name="Shape 14"/>
          <p:cNvSpPr/>
          <p:nvPr/>
        </p:nvSpPr>
        <p:spPr>
          <a:xfrm>
            <a:off x="822960" y="4846320"/>
            <a:ext cx="10545775" cy="0"/>
          </a:xfrm>
          <a:prstGeom prst="line">
            <a:avLst/>
          </a:prstGeom>
          <a:noFill/>
          <a:ln w="9525">
            <a:solidFill>
              <a:srgbClr val="D8CDB6"/>
            </a:solidFill>
            <a:prstDash val="solid"/>
          </a:ln>
        </p:spPr>
      </p:sp>
      <p:sp>
        <p:nvSpPr>
          <p:cNvPr id="17" name="Text 15"/>
          <p:cNvSpPr/>
          <p:nvPr/>
        </p:nvSpPr>
        <p:spPr>
          <a:xfrm>
            <a:off x="822960" y="5084064"/>
            <a:ext cx="10241280" cy="822960"/>
          </a:xfrm>
          <a:prstGeom prst="rect">
            <a:avLst/>
          </a:prstGeom>
          <a:noFill/>
          <a:ln/>
        </p:spPr>
        <p:txBody>
          <a:bodyPr wrap="square" lIns="0" tIns="0" rIns="0" bIns="0" rtlCol="0" anchor="ctr"/>
          <a:lstStyle/>
          <a:p>
            <a:pPr marL="0" indent="0">
              <a:lnSpc>
                <a:spcPts val="2700"/>
              </a:lnSpc>
              <a:buNone/>
            </a:pPr>
            <a:r>
              <a:rPr lang="en-US" sz="2000" dirty="0">
                <a:solidFill>
                  <a:srgbClr val="26221C"/>
                </a:solidFill>
                <a:latin typeface="Bookman Old Style" pitchFamily="34" charset="0"/>
                <a:ea typeface="Bookman Old Style" pitchFamily="34" charset="-122"/>
                <a:cs typeface="Bookman Old Style" pitchFamily="34" charset="-120"/>
              </a:rPr>
              <a:t>File the trademark first because it is slowest. Do not open a state registration until your label is final, because the artwork a state approves is the artwork you must then ship.</a:t>
            </a:r>
            <a:endParaRPr lang="en-US" sz="2000" dirty="0"/>
          </a:p>
        </p:txBody>
      </p:sp>
      <p:sp>
        <p:nvSpPr>
          <p:cNvPr id="18" name="Text 16"/>
          <p:cNvSpPr/>
          <p:nvPr/>
        </p:nvSpPr>
        <p:spPr>
          <a:xfrm>
            <a:off x="822960" y="6382512"/>
            <a:ext cx="10515600" cy="274320"/>
          </a:xfrm>
          <a:prstGeom prst="rect">
            <a:avLst/>
          </a:prstGeom>
          <a:noFill/>
          <a:ln/>
        </p:spPr>
        <p:txBody>
          <a:bodyPr wrap="square" lIns="0" tIns="0" rIns="0" bIns="0" rtlCol="0" anchor="ctr"/>
          <a:lstStyle/>
          <a:p>
            <a:pPr marL="0" indent="0">
              <a:buNone/>
            </a:pPr>
            <a:r>
              <a:rPr lang="en-US" sz="900" b="1" dirty="0">
                <a:solidFill>
                  <a:srgbClr val="8B6E3D"/>
                </a:solidFill>
                <a:latin typeface="Calibri" pitchFamily="34" charset="0"/>
                <a:ea typeface="Calibri" pitchFamily="34" charset="-122"/>
                <a:cs typeface="Calibri" pitchFamily="34" charset="-120"/>
              </a:rPr>
              <a:t>I N   T H I S   W E E K ' S   F I L E   S E T</a:t>
            </a:r>
            <a:r>
              <a:rPr lang="en-US" sz="1050" i="1" dirty="0">
                <a:solidFill>
                  <a:srgbClr val="6E5630"/>
                </a:solidFill>
                <a:latin typeface="Calibri" pitchFamily="34" charset="0"/>
                <a:ea typeface="Calibri" pitchFamily="34" charset="-122"/>
                <a:cs typeface="Calibri" pitchFamily="34" charset="-120"/>
              </a:rPr>
              <a:t>      No. 12 · The Three Gates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FBF8F1"/>
        </a:solidFill>
        <a:effectLst/>
      </p:bgPr>
    </p:bg>
    <p:spTree>
      <p:nvGrpSpPr>
        <p:cNvPr id="1" name=""/>
        <p:cNvGrpSpPr/>
        <p:nvPr/>
      </p:nvGrpSpPr>
      <p:grpSpPr>
        <a:xfrm>
          <a:off x="0" y="0"/>
          <a:ext cx="0" cy="0"/>
          <a:chOff x="0" y="0"/>
          <a:chExt cx="0" cy="0"/>
        </a:xfrm>
      </p:grpSpPr>
      <p:sp>
        <p:nvSpPr>
          <p:cNvPr id="2" name="Text 0"/>
          <p:cNvSpPr/>
          <p:nvPr/>
        </p:nvSpPr>
        <p:spPr>
          <a:xfrm>
            <a:off x="822960" y="502920"/>
            <a:ext cx="9601200" cy="310896"/>
          </a:xfrm>
          <a:prstGeom prst="rect">
            <a:avLst/>
          </a:prstGeom>
          <a:noFill/>
          <a:ln/>
        </p:spPr>
        <p:txBody>
          <a:bodyPr wrap="square" lIns="0" tIns="0" rIns="0" bIns="0" rtlCol="0" anchor="ctr"/>
          <a:lstStyle/>
          <a:p>
            <a:pPr marL="0" indent="0">
              <a:buNone/>
            </a:pPr>
            <a:r>
              <a:rPr lang="en-US" sz="1100" b="1" kern="0" spc="340" dirty="0">
                <a:solidFill>
                  <a:srgbClr val="8B6E3D"/>
                </a:solidFill>
                <a:latin typeface="Calibri" pitchFamily="34" charset="0"/>
                <a:ea typeface="Calibri" pitchFamily="34" charset="-122"/>
                <a:cs typeface="Calibri" pitchFamily="34" charset="-120"/>
              </a:rPr>
              <a:t>S T E P   6      ·      G A T E   O N E ,   Y O U R   T R A D E M A R K</a:t>
            </a:r>
            <a:endParaRPr lang="en-US" sz="1100" dirty="0"/>
          </a:p>
        </p:txBody>
      </p:sp>
      <p:sp>
        <p:nvSpPr>
          <p:cNvPr id="3" name="Text 1"/>
          <p:cNvSpPr/>
          <p:nvPr/>
        </p:nvSpPr>
        <p:spPr>
          <a:xfrm>
            <a:off x="822960" y="877824"/>
            <a:ext cx="10515600" cy="914400"/>
          </a:xfrm>
          <a:prstGeom prst="rect">
            <a:avLst/>
          </a:prstGeom>
          <a:noFill/>
          <a:ln/>
        </p:spPr>
        <p:txBody>
          <a:bodyPr wrap="square" lIns="0" tIns="0" rIns="0" bIns="0" rtlCol="0" anchor="ctr"/>
          <a:lstStyle/>
          <a:p>
            <a:pPr marL="0" indent="0">
              <a:lnSpc>
                <a:spcPts val="3240"/>
              </a:lnSpc>
              <a:buNone/>
            </a:pPr>
            <a:r>
              <a:rPr lang="en-US" sz="2700" dirty="0">
                <a:solidFill>
                  <a:srgbClr val="26221C"/>
                </a:solidFill>
                <a:latin typeface="Bookman Old Style" pitchFamily="34" charset="0"/>
                <a:ea typeface="Bookman Old Style" pitchFamily="34" charset="-122"/>
                <a:cs typeface="Bookman Old Style" pitchFamily="34" charset="-120"/>
              </a:rPr>
              <a:t>In India, whoever files first usually gets the name.</a:t>
            </a:r>
            <a:endParaRPr lang="en-US" sz="2700" dirty="0"/>
          </a:p>
        </p:txBody>
      </p:sp>
      <p:sp>
        <p:nvSpPr>
          <p:cNvPr id="4" name="Shape 2"/>
          <p:cNvSpPr/>
          <p:nvPr/>
        </p:nvSpPr>
        <p:spPr>
          <a:xfrm>
            <a:off x="822960" y="1847088"/>
            <a:ext cx="10545775" cy="0"/>
          </a:xfrm>
          <a:prstGeom prst="line">
            <a:avLst/>
          </a:prstGeom>
          <a:noFill/>
          <a:ln w="15875">
            <a:solidFill>
              <a:srgbClr val="26221C"/>
            </a:solidFill>
            <a:prstDash val="solid"/>
          </a:ln>
        </p:spPr>
      </p:sp>
      <p:sp>
        <p:nvSpPr>
          <p:cNvPr id="5" name="Text 3"/>
          <p:cNvSpPr/>
          <p:nvPr/>
        </p:nvSpPr>
        <p:spPr>
          <a:xfrm>
            <a:off x="822960" y="2084832"/>
            <a:ext cx="3977640" cy="822960"/>
          </a:xfrm>
          <a:prstGeom prst="rect">
            <a:avLst/>
          </a:prstGeom>
          <a:noFill/>
          <a:ln/>
        </p:spPr>
        <p:txBody>
          <a:bodyPr wrap="square" lIns="0" tIns="0" rIns="0" bIns="0" rtlCol="0" anchor="t"/>
          <a:lstStyle/>
          <a:p>
            <a:pPr marL="0" indent="0">
              <a:lnSpc>
                <a:spcPts val="1900"/>
              </a:lnSpc>
              <a:buNone/>
            </a:pPr>
            <a:r>
              <a:rPr lang="en-US" sz="1400" b="1" dirty="0">
                <a:solidFill>
                  <a:srgbClr val="26221C"/>
                </a:solidFill>
                <a:latin typeface="Calibri" pitchFamily="34" charset="0"/>
                <a:ea typeface="Calibri" pitchFamily="34" charset="-122"/>
                <a:cs typeface="Calibri" pitchFamily="34" charset="-120"/>
              </a:rPr>
              <a:t>Your fame in Jalisco counts for nothing.</a:t>
            </a:r>
            <a:endParaRPr lang="en-US" sz="1400" dirty="0"/>
          </a:p>
        </p:txBody>
      </p:sp>
      <p:sp>
        <p:nvSpPr>
          <p:cNvPr id="6" name="Text 4"/>
          <p:cNvSpPr/>
          <p:nvPr/>
        </p:nvSpPr>
        <p:spPr>
          <a:xfrm>
            <a:off x="5120640" y="2084832"/>
            <a:ext cx="6248095" cy="896112"/>
          </a:xfrm>
          <a:prstGeom prst="rect">
            <a:avLst/>
          </a:prstGeom>
          <a:noFill/>
          <a:ln/>
        </p:spPr>
        <p:txBody>
          <a:bodyPr wrap="square" lIns="0" tIns="0" rIns="0" bIns="0" rtlCol="0" anchor="t"/>
          <a:lstStyle/>
          <a:p>
            <a:pPr marL="0" indent="0">
              <a:lnSpc>
                <a:spcPts val="1850"/>
              </a:lnSpc>
              <a:buNone/>
            </a:pPr>
            <a:r>
              <a:rPr lang="en-US" sz="1300" dirty="0">
                <a:solidFill>
                  <a:srgbClr val="4A4338"/>
                </a:solidFill>
                <a:latin typeface="Calibri" pitchFamily="34" charset="0"/>
                <a:ea typeface="Calibri" pitchFamily="34" charset="-122"/>
                <a:cs typeface="Calibri" pitchFamily="34" charset="-120"/>
              </a:rPr>
              <a:t>In June this year a Delhi court stopped an Irish whiskey producer from selling its own brand in India, because someone else had filed the name there first.</a:t>
            </a:r>
            <a:endParaRPr lang="en-US" sz="1300" dirty="0"/>
          </a:p>
        </p:txBody>
      </p:sp>
      <p:sp>
        <p:nvSpPr>
          <p:cNvPr id="7" name="Shape 5"/>
          <p:cNvSpPr/>
          <p:nvPr/>
        </p:nvSpPr>
        <p:spPr>
          <a:xfrm>
            <a:off x="822960" y="3035808"/>
            <a:ext cx="10545775" cy="0"/>
          </a:xfrm>
          <a:prstGeom prst="line">
            <a:avLst/>
          </a:prstGeom>
          <a:noFill/>
          <a:ln w="9525">
            <a:solidFill>
              <a:srgbClr val="D8CDB6"/>
            </a:solidFill>
            <a:prstDash val="solid"/>
          </a:ln>
        </p:spPr>
      </p:sp>
      <p:sp>
        <p:nvSpPr>
          <p:cNvPr id="8" name="Text 6"/>
          <p:cNvSpPr/>
          <p:nvPr/>
        </p:nvSpPr>
        <p:spPr>
          <a:xfrm>
            <a:off x="822960" y="3310128"/>
            <a:ext cx="3977640" cy="822960"/>
          </a:xfrm>
          <a:prstGeom prst="rect">
            <a:avLst/>
          </a:prstGeom>
          <a:noFill/>
          <a:ln/>
        </p:spPr>
        <p:txBody>
          <a:bodyPr wrap="square" lIns="0" tIns="0" rIns="0" bIns="0" rtlCol="0" anchor="t"/>
          <a:lstStyle/>
          <a:p>
            <a:pPr marL="0" indent="0">
              <a:lnSpc>
                <a:spcPts val="1900"/>
              </a:lnSpc>
              <a:buNone/>
            </a:pPr>
            <a:r>
              <a:rPr lang="en-US" sz="1400" b="1" dirty="0">
                <a:solidFill>
                  <a:srgbClr val="26221C"/>
                </a:solidFill>
                <a:latin typeface="Calibri" pitchFamily="34" charset="0"/>
                <a:ea typeface="Calibri" pitchFamily="34" charset="-122"/>
                <a:cs typeface="Calibri" pitchFamily="34" charset="-120"/>
              </a:rPr>
              <a:t>Nine thousand rupees. About one hundred dollars.</a:t>
            </a:r>
            <a:endParaRPr lang="en-US" sz="1400" dirty="0"/>
          </a:p>
        </p:txBody>
      </p:sp>
      <p:sp>
        <p:nvSpPr>
          <p:cNvPr id="9" name="Text 7"/>
          <p:cNvSpPr/>
          <p:nvPr/>
        </p:nvSpPr>
        <p:spPr>
          <a:xfrm>
            <a:off x="5120640" y="3310128"/>
            <a:ext cx="6248095" cy="896112"/>
          </a:xfrm>
          <a:prstGeom prst="rect">
            <a:avLst/>
          </a:prstGeom>
          <a:noFill/>
          <a:ln/>
        </p:spPr>
        <p:txBody>
          <a:bodyPr wrap="square" lIns="0" tIns="0" rIns="0" bIns="0" rtlCol="0" anchor="t"/>
          <a:lstStyle/>
          <a:p>
            <a:pPr marL="0" indent="0">
              <a:lnSpc>
                <a:spcPts val="1850"/>
              </a:lnSpc>
              <a:buNone/>
            </a:pPr>
            <a:r>
              <a:rPr lang="en-US" sz="1300" dirty="0">
                <a:solidFill>
                  <a:srgbClr val="4A4338"/>
                </a:solidFill>
                <a:latin typeface="Calibri" pitchFamily="34" charset="0"/>
                <a:ea typeface="Calibri" pitchFamily="34" charset="-122"/>
                <a:cs typeface="Calibri" pitchFamily="34" charset="-120"/>
              </a:rPr>
              <a:t>One filing in Class 33 covers tequila, mezcal and every agave spirit, across the whole country. Less than a single state label fee.</a:t>
            </a:r>
            <a:endParaRPr lang="en-US" sz="1300" dirty="0"/>
          </a:p>
        </p:txBody>
      </p:sp>
      <p:sp>
        <p:nvSpPr>
          <p:cNvPr id="10" name="Shape 8"/>
          <p:cNvSpPr/>
          <p:nvPr/>
        </p:nvSpPr>
        <p:spPr>
          <a:xfrm>
            <a:off x="822960" y="4261104"/>
            <a:ext cx="10545775" cy="0"/>
          </a:xfrm>
          <a:prstGeom prst="line">
            <a:avLst/>
          </a:prstGeom>
          <a:noFill/>
          <a:ln w="9525">
            <a:solidFill>
              <a:srgbClr val="D8CDB6"/>
            </a:solidFill>
            <a:prstDash val="solid"/>
          </a:ln>
        </p:spPr>
      </p:sp>
      <p:sp>
        <p:nvSpPr>
          <p:cNvPr id="11" name="Text 9"/>
          <p:cNvSpPr/>
          <p:nvPr/>
        </p:nvSpPr>
        <p:spPr>
          <a:xfrm>
            <a:off x="822960" y="4535424"/>
            <a:ext cx="3977640" cy="822960"/>
          </a:xfrm>
          <a:prstGeom prst="rect">
            <a:avLst/>
          </a:prstGeom>
          <a:noFill/>
          <a:ln/>
        </p:spPr>
        <p:txBody>
          <a:bodyPr wrap="square" lIns="0" tIns="0" rIns="0" bIns="0" rtlCol="0" anchor="t"/>
          <a:lstStyle/>
          <a:p>
            <a:pPr marL="0" indent="0">
              <a:lnSpc>
                <a:spcPts val="1900"/>
              </a:lnSpc>
              <a:buNone/>
            </a:pPr>
            <a:r>
              <a:rPr lang="en-US" sz="1400" b="1" dirty="0">
                <a:solidFill>
                  <a:srgbClr val="26221C"/>
                </a:solidFill>
                <a:latin typeface="Calibri" pitchFamily="34" charset="0"/>
                <a:ea typeface="Calibri" pitchFamily="34" charset="-122"/>
                <a:cs typeface="Calibri" pitchFamily="34" charset="-120"/>
              </a:rPr>
              <a:t>The Council will file it for you.</a:t>
            </a:r>
            <a:endParaRPr lang="en-US" sz="1400" dirty="0"/>
          </a:p>
        </p:txBody>
      </p:sp>
      <p:sp>
        <p:nvSpPr>
          <p:cNvPr id="12" name="Text 10"/>
          <p:cNvSpPr/>
          <p:nvPr/>
        </p:nvSpPr>
        <p:spPr>
          <a:xfrm>
            <a:off x="5120640" y="4535424"/>
            <a:ext cx="6248095" cy="896112"/>
          </a:xfrm>
          <a:prstGeom prst="rect">
            <a:avLst/>
          </a:prstGeom>
          <a:noFill/>
          <a:ln/>
        </p:spPr>
        <p:txBody>
          <a:bodyPr wrap="square" lIns="0" tIns="0" rIns="0" bIns="0" rtlCol="0" anchor="t"/>
          <a:lstStyle/>
          <a:p>
            <a:pPr marL="0" indent="0">
              <a:lnSpc>
                <a:spcPts val="1850"/>
              </a:lnSpc>
              <a:buNone/>
            </a:pPr>
            <a:r>
              <a:rPr lang="en-US" sz="1300" dirty="0">
                <a:solidFill>
                  <a:srgbClr val="4A4338"/>
                </a:solidFill>
                <a:latin typeface="Calibri" pitchFamily="34" charset="0"/>
                <a:ea typeface="Calibri" pitchFamily="34" charset="-122"/>
                <a:cs typeface="Calibri" pitchFamily="34" charset="-120"/>
              </a:rPr>
              <a:t>Tell us and we send you the form and handle the filing through our Indian counsel. You do not need to appoint an Indian lawyer yourself.</a:t>
            </a:r>
            <a:endParaRPr lang="en-US" sz="1300" dirty="0"/>
          </a:p>
        </p:txBody>
      </p:sp>
      <p:sp>
        <p:nvSpPr>
          <p:cNvPr id="13" name="Text 11"/>
          <p:cNvSpPr/>
          <p:nvPr/>
        </p:nvSpPr>
        <p:spPr>
          <a:xfrm>
            <a:off x="822960" y="6382512"/>
            <a:ext cx="10515600" cy="274320"/>
          </a:xfrm>
          <a:prstGeom prst="rect">
            <a:avLst/>
          </a:prstGeom>
          <a:noFill/>
          <a:ln/>
        </p:spPr>
        <p:txBody>
          <a:bodyPr wrap="square" lIns="0" tIns="0" rIns="0" bIns="0" rtlCol="0" anchor="ctr"/>
          <a:lstStyle/>
          <a:p>
            <a:pPr marL="0" indent="0">
              <a:buNone/>
            </a:pPr>
            <a:r>
              <a:rPr lang="en-US" sz="900" b="1" dirty="0">
                <a:solidFill>
                  <a:srgbClr val="8B6E3D"/>
                </a:solidFill>
                <a:latin typeface="Calibri" pitchFamily="34" charset="0"/>
                <a:ea typeface="Calibri" pitchFamily="34" charset="-122"/>
                <a:cs typeface="Calibri" pitchFamily="34" charset="-120"/>
              </a:rPr>
              <a:t>I N   T H I S   W E E K ' S   F I L E   S E T</a:t>
            </a:r>
            <a:r>
              <a:rPr lang="en-US" sz="1050" i="1" dirty="0">
                <a:solidFill>
                  <a:srgbClr val="6E5630"/>
                </a:solidFill>
                <a:latin typeface="Calibri" pitchFamily="34" charset="0"/>
                <a:ea typeface="Calibri" pitchFamily="34" charset="-122"/>
                <a:cs typeface="Calibri" pitchFamily="34" charset="-120"/>
              </a:rPr>
              <a:t>      No. 12 · The Three Gates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bg>
      <p:bgPr>
        <a:solidFill>
          <a:srgbClr val="FBF8F1"/>
        </a:solidFill>
        <a:effectLst/>
      </p:bgPr>
    </p:bg>
    <p:spTree>
      <p:nvGrpSpPr>
        <p:cNvPr id="1" name=""/>
        <p:cNvGrpSpPr/>
        <p:nvPr/>
      </p:nvGrpSpPr>
      <p:grpSpPr>
        <a:xfrm>
          <a:off x="0" y="0"/>
          <a:ext cx="0" cy="0"/>
          <a:chOff x="0" y="0"/>
          <a:chExt cx="0" cy="0"/>
        </a:xfrm>
      </p:grpSpPr>
      <p:sp>
        <p:nvSpPr>
          <p:cNvPr id="2" name="Text 0"/>
          <p:cNvSpPr/>
          <p:nvPr/>
        </p:nvSpPr>
        <p:spPr>
          <a:xfrm>
            <a:off x="822960" y="502920"/>
            <a:ext cx="9601200" cy="310896"/>
          </a:xfrm>
          <a:prstGeom prst="rect">
            <a:avLst/>
          </a:prstGeom>
          <a:noFill/>
          <a:ln/>
        </p:spPr>
        <p:txBody>
          <a:bodyPr wrap="square" lIns="0" tIns="0" rIns="0" bIns="0" rtlCol="0" anchor="ctr"/>
          <a:lstStyle/>
          <a:p>
            <a:pPr marL="0" indent="0">
              <a:buNone/>
            </a:pPr>
            <a:r>
              <a:rPr lang="en-US" sz="1100" b="1" kern="0" spc="340" dirty="0">
                <a:solidFill>
                  <a:srgbClr val="8B6E3D"/>
                </a:solidFill>
                <a:latin typeface="Calibri" pitchFamily="34" charset="0"/>
                <a:ea typeface="Calibri" pitchFamily="34" charset="-122"/>
                <a:cs typeface="Calibri" pitchFamily="34" charset="-120"/>
              </a:rPr>
              <a:t>S T E P   7      ·      G A T E   T W O ,   F S S A I   A N D   Y O U R   L A B E L</a:t>
            </a:r>
            <a:endParaRPr lang="en-US" sz="1100" dirty="0"/>
          </a:p>
        </p:txBody>
      </p:sp>
      <p:sp>
        <p:nvSpPr>
          <p:cNvPr id="3" name="Text 1"/>
          <p:cNvSpPr/>
          <p:nvPr/>
        </p:nvSpPr>
        <p:spPr>
          <a:xfrm>
            <a:off x="822960" y="877824"/>
            <a:ext cx="10515600" cy="914400"/>
          </a:xfrm>
          <a:prstGeom prst="rect">
            <a:avLst/>
          </a:prstGeom>
          <a:noFill/>
          <a:ln/>
        </p:spPr>
        <p:txBody>
          <a:bodyPr wrap="square" lIns="0" tIns="0" rIns="0" bIns="0" rtlCol="0" anchor="ctr"/>
          <a:lstStyle/>
          <a:p>
            <a:pPr marL="0" indent="0">
              <a:lnSpc>
                <a:spcPts val="3240"/>
              </a:lnSpc>
              <a:buNone/>
            </a:pPr>
            <a:r>
              <a:rPr lang="en-US" sz="2700" dirty="0">
                <a:solidFill>
                  <a:srgbClr val="26221C"/>
                </a:solidFill>
                <a:latin typeface="Bookman Old Style" pitchFamily="34" charset="0"/>
                <a:ea typeface="Bookman Old Style" pitchFamily="34" charset="-122"/>
                <a:cs typeface="Bookman Old Style" pitchFamily="34" charset="-120"/>
              </a:rPr>
              <a:t>You register nothing. Almost everything can be fixed in India.</a:t>
            </a:r>
            <a:endParaRPr lang="en-US" sz="2700" dirty="0"/>
          </a:p>
        </p:txBody>
      </p:sp>
      <p:sp>
        <p:nvSpPr>
          <p:cNvPr id="4" name="Shape 2"/>
          <p:cNvSpPr/>
          <p:nvPr/>
        </p:nvSpPr>
        <p:spPr>
          <a:xfrm>
            <a:off x="822960" y="1847088"/>
            <a:ext cx="10545775" cy="0"/>
          </a:xfrm>
          <a:prstGeom prst="line">
            <a:avLst/>
          </a:prstGeom>
          <a:noFill/>
          <a:ln w="15875">
            <a:solidFill>
              <a:srgbClr val="26221C"/>
            </a:solidFill>
            <a:prstDash val="solid"/>
          </a:ln>
        </p:spPr>
      </p:sp>
      <p:sp>
        <p:nvSpPr>
          <p:cNvPr id="5" name="Text 3"/>
          <p:cNvSpPr/>
          <p:nvPr/>
        </p:nvSpPr>
        <p:spPr>
          <a:xfrm>
            <a:off x="822960" y="2084832"/>
            <a:ext cx="3977640" cy="822960"/>
          </a:xfrm>
          <a:prstGeom prst="rect">
            <a:avLst/>
          </a:prstGeom>
          <a:noFill/>
          <a:ln/>
        </p:spPr>
        <p:txBody>
          <a:bodyPr wrap="square" lIns="0" tIns="0" rIns="0" bIns="0" rtlCol="0" anchor="t"/>
          <a:lstStyle/>
          <a:p>
            <a:pPr marL="0" indent="0">
              <a:lnSpc>
                <a:spcPts val="1900"/>
              </a:lnSpc>
              <a:buNone/>
            </a:pPr>
            <a:r>
              <a:rPr lang="en-US" sz="1400" b="1" dirty="0">
                <a:solidFill>
                  <a:srgbClr val="26221C"/>
                </a:solidFill>
                <a:latin typeface="Calibri" pitchFamily="34" charset="0"/>
                <a:ea typeface="Calibri" pitchFamily="34" charset="-122"/>
                <a:cs typeface="Calibri" pitchFamily="34" charset="-120"/>
              </a:rPr>
              <a:t>A Mexican distillery needs no FSSAI number.</a:t>
            </a:r>
            <a:endParaRPr lang="en-US" sz="1400" dirty="0"/>
          </a:p>
        </p:txBody>
      </p:sp>
      <p:sp>
        <p:nvSpPr>
          <p:cNvPr id="6" name="Text 4"/>
          <p:cNvSpPr/>
          <p:nvPr/>
        </p:nvSpPr>
        <p:spPr>
          <a:xfrm>
            <a:off x="5120640" y="2084832"/>
            <a:ext cx="6248095" cy="896112"/>
          </a:xfrm>
          <a:prstGeom prst="rect">
            <a:avLst/>
          </a:prstGeom>
          <a:noFill/>
          <a:ln/>
        </p:spPr>
        <p:txBody>
          <a:bodyPr wrap="square" lIns="0" tIns="0" rIns="0" bIns="0" rtlCol="0" anchor="t"/>
          <a:lstStyle/>
          <a:p>
            <a:pPr marL="0" indent="0">
              <a:lnSpc>
                <a:spcPts val="1850"/>
              </a:lnSpc>
              <a:buNone/>
            </a:pPr>
            <a:r>
              <a:rPr lang="en-US" sz="1300" dirty="0">
                <a:solidFill>
                  <a:srgbClr val="4A4338"/>
                </a:solidFill>
                <a:latin typeface="Calibri" pitchFamily="34" charset="0"/>
                <a:ea typeface="Calibri" pitchFamily="34" charset="-122"/>
                <a:cs typeface="Calibri" pitchFamily="34" charset="-120"/>
              </a:rPr>
              <a:t>India's foreign facility scheme covers dairy, meat, egg powder, infant food and nutraceuticals. Spirits sit outside it. Your obligations are documents, not registration.</a:t>
            </a:r>
            <a:endParaRPr lang="en-US" sz="1300" dirty="0"/>
          </a:p>
        </p:txBody>
      </p:sp>
      <p:sp>
        <p:nvSpPr>
          <p:cNvPr id="7" name="Shape 5"/>
          <p:cNvSpPr/>
          <p:nvPr/>
        </p:nvSpPr>
        <p:spPr>
          <a:xfrm>
            <a:off x="822960" y="3035808"/>
            <a:ext cx="10545775" cy="0"/>
          </a:xfrm>
          <a:prstGeom prst="line">
            <a:avLst/>
          </a:prstGeom>
          <a:noFill/>
          <a:ln w="9525">
            <a:solidFill>
              <a:srgbClr val="D8CDB6"/>
            </a:solidFill>
            <a:prstDash val="solid"/>
          </a:ln>
        </p:spPr>
      </p:sp>
      <p:sp>
        <p:nvSpPr>
          <p:cNvPr id="8" name="Text 6"/>
          <p:cNvSpPr/>
          <p:nvPr/>
        </p:nvSpPr>
        <p:spPr>
          <a:xfrm>
            <a:off x="822960" y="3310128"/>
            <a:ext cx="3977640" cy="822960"/>
          </a:xfrm>
          <a:prstGeom prst="rect">
            <a:avLst/>
          </a:prstGeom>
          <a:noFill/>
          <a:ln/>
        </p:spPr>
        <p:txBody>
          <a:bodyPr wrap="square" lIns="0" tIns="0" rIns="0" bIns="0" rtlCol="0" anchor="t"/>
          <a:lstStyle/>
          <a:p>
            <a:pPr marL="0" indent="0">
              <a:lnSpc>
                <a:spcPts val="1900"/>
              </a:lnSpc>
              <a:buNone/>
            </a:pPr>
            <a:r>
              <a:rPr lang="en-US" sz="1400" b="1" dirty="0">
                <a:solidFill>
                  <a:srgbClr val="26221C"/>
                </a:solidFill>
                <a:latin typeface="Calibri" pitchFamily="34" charset="0"/>
                <a:ea typeface="Calibri" pitchFamily="34" charset="-122"/>
                <a:cs typeface="Calibri" pitchFamily="34" charset="-120"/>
              </a:rPr>
              <a:t>One sticker in bond corrects almost anything.</a:t>
            </a:r>
            <a:endParaRPr lang="en-US" sz="1400" dirty="0"/>
          </a:p>
        </p:txBody>
      </p:sp>
      <p:sp>
        <p:nvSpPr>
          <p:cNvPr id="9" name="Text 7"/>
          <p:cNvSpPr/>
          <p:nvPr/>
        </p:nvSpPr>
        <p:spPr>
          <a:xfrm>
            <a:off x="5120640" y="3310128"/>
            <a:ext cx="6248095" cy="896112"/>
          </a:xfrm>
          <a:prstGeom prst="rect">
            <a:avLst/>
          </a:prstGeom>
          <a:noFill/>
          <a:ln/>
        </p:spPr>
        <p:txBody>
          <a:bodyPr wrap="square" lIns="0" tIns="0" rIns="0" bIns="0" rtlCol="0" anchor="t"/>
          <a:lstStyle/>
          <a:p>
            <a:pPr marL="0" indent="0">
              <a:lnSpc>
                <a:spcPts val="1850"/>
              </a:lnSpc>
              <a:buNone/>
            </a:pPr>
            <a:r>
              <a:rPr lang="en-US" sz="1300" dirty="0">
                <a:solidFill>
                  <a:srgbClr val="4A4338"/>
                </a:solidFill>
                <a:latin typeface="Calibri" pitchFamily="34" charset="0"/>
                <a:ea typeface="Calibri" pitchFamily="34" charset="-122"/>
                <a:cs typeface="Calibri" pitchFamily="34" charset="-120"/>
              </a:rPr>
              <a:t>Except three things, which never can: the lot or batch code, any date marking, and the country of origin. An error in one of those means the container is re-exported or destroyed.</a:t>
            </a:r>
            <a:endParaRPr lang="en-US" sz="1300" dirty="0"/>
          </a:p>
        </p:txBody>
      </p:sp>
      <p:sp>
        <p:nvSpPr>
          <p:cNvPr id="10" name="Shape 8"/>
          <p:cNvSpPr/>
          <p:nvPr/>
        </p:nvSpPr>
        <p:spPr>
          <a:xfrm>
            <a:off x="822960" y="4261104"/>
            <a:ext cx="10545775" cy="0"/>
          </a:xfrm>
          <a:prstGeom prst="line">
            <a:avLst/>
          </a:prstGeom>
          <a:noFill/>
          <a:ln w="9525">
            <a:solidFill>
              <a:srgbClr val="D8CDB6"/>
            </a:solidFill>
            <a:prstDash val="solid"/>
          </a:ln>
        </p:spPr>
      </p:sp>
      <p:sp>
        <p:nvSpPr>
          <p:cNvPr id="11" name="Text 9"/>
          <p:cNvSpPr/>
          <p:nvPr/>
        </p:nvSpPr>
        <p:spPr>
          <a:xfrm>
            <a:off x="822960" y="4535424"/>
            <a:ext cx="3977640" cy="822960"/>
          </a:xfrm>
          <a:prstGeom prst="rect">
            <a:avLst/>
          </a:prstGeom>
          <a:noFill/>
          <a:ln/>
        </p:spPr>
        <p:txBody>
          <a:bodyPr wrap="square" lIns="0" tIns="0" rIns="0" bIns="0" rtlCol="0" anchor="t"/>
          <a:lstStyle/>
          <a:p>
            <a:pPr marL="0" indent="0">
              <a:lnSpc>
                <a:spcPts val="1900"/>
              </a:lnSpc>
              <a:buNone/>
            </a:pPr>
            <a:r>
              <a:rPr lang="en-US" sz="1400" b="1" dirty="0">
                <a:solidFill>
                  <a:srgbClr val="26221C"/>
                </a:solidFill>
                <a:latin typeface="Calibri" pitchFamily="34" charset="0"/>
                <a:ea typeface="Calibri" pitchFamily="34" charset="-122"/>
                <a:cs typeface="Calibri" pitchFamily="34" charset="-120"/>
              </a:rPr>
              <a:t>So do not print a best-before date.</a:t>
            </a:r>
            <a:endParaRPr lang="en-US" sz="1400" dirty="0"/>
          </a:p>
        </p:txBody>
      </p:sp>
      <p:sp>
        <p:nvSpPr>
          <p:cNvPr id="12" name="Text 10"/>
          <p:cNvSpPr/>
          <p:nvPr/>
        </p:nvSpPr>
        <p:spPr>
          <a:xfrm>
            <a:off x="5120640" y="4535424"/>
            <a:ext cx="6248095" cy="896112"/>
          </a:xfrm>
          <a:prstGeom prst="rect">
            <a:avLst/>
          </a:prstGeom>
          <a:noFill/>
          <a:ln/>
        </p:spPr>
        <p:txBody>
          <a:bodyPr wrap="square" lIns="0" tIns="0" rIns="0" bIns="0" rtlCol="0" anchor="t"/>
          <a:lstStyle/>
          <a:p>
            <a:pPr marL="0" indent="0">
              <a:lnSpc>
                <a:spcPts val="1850"/>
              </a:lnSpc>
              <a:buNone/>
            </a:pPr>
            <a:r>
              <a:rPr lang="en-US" sz="1300" dirty="0">
                <a:solidFill>
                  <a:srgbClr val="4A4338"/>
                </a:solidFill>
                <a:latin typeface="Calibri" pitchFamily="34" charset="0"/>
                <a:ea typeface="Calibri" pitchFamily="34" charset="-122"/>
                <a:cs typeface="Calibri" pitchFamily="34" charset="-120"/>
              </a:rPr>
              <a:t>Spirits above ten per cent are exempt. Print one voluntarily and you create an unfixable exposure that does not otherwise exist for you. No nutrition panel, no health claim, and no vegetarian mark.</a:t>
            </a:r>
            <a:endParaRPr lang="en-US" sz="1300" dirty="0"/>
          </a:p>
        </p:txBody>
      </p:sp>
      <p:sp>
        <p:nvSpPr>
          <p:cNvPr id="13" name="Text 11"/>
          <p:cNvSpPr/>
          <p:nvPr/>
        </p:nvSpPr>
        <p:spPr>
          <a:xfrm>
            <a:off x="822960" y="6382512"/>
            <a:ext cx="10515600" cy="274320"/>
          </a:xfrm>
          <a:prstGeom prst="rect">
            <a:avLst/>
          </a:prstGeom>
          <a:noFill/>
          <a:ln/>
        </p:spPr>
        <p:txBody>
          <a:bodyPr wrap="square" lIns="0" tIns="0" rIns="0" bIns="0" rtlCol="0" anchor="ctr"/>
          <a:lstStyle/>
          <a:p>
            <a:pPr marL="0" indent="0">
              <a:buNone/>
            </a:pPr>
            <a:r>
              <a:rPr lang="en-US" sz="900" b="1" dirty="0">
                <a:solidFill>
                  <a:srgbClr val="8B6E3D"/>
                </a:solidFill>
                <a:latin typeface="Calibri" pitchFamily="34" charset="0"/>
                <a:ea typeface="Calibri" pitchFamily="34" charset="-122"/>
                <a:cs typeface="Calibri" pitchFamily="34" charset="-120"/>
              </a:rPr>
              <a:t>I N   T H I S   W E E K ' S   F I L E   S E T</a:t>
            </a:r>
            <a:r>
              <a:rPr lang="en-US" sz="1050" i="1" dirty="0">
                <a:solidFill>
                  <a:srgbClr val="6E5630"/>
                </a:solidFill>
                <a:latin typeface="Calibri" pitchFamily="34" charset="0"/>
                <a:ea typeface="Calibri" pitchFamily="34" charset="-122"/>
                <a:cs typeface="Calibri" pitchFamily="34" charset="-120"/>
              </a:rPr>
              <a:t>      No. 17 · The India Label</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bg>
      <p:bgPr>
        <a:solidFill>
          <a:srgbClr val="FBF8F1"/>
        </a:solidFill>
        <a:effectLst/>
      </p:bgPr>
    </p:bg>
    <p:spTree>
      <p:nvGrpSpPr>
        <p:cNvPr id="1" name=""/>
        <p:cNvGrpSpPr/>
        <p:nvPr/>
      </p:nvGrpSpPr>
      <p:grpSpPr>
        <a:xfrm>
          <a:off x="0" y="0"/>
          <a:ext cx="0" cy="0"/>
          <a:chOff x="0" y="0"/>
          <a:chExt cx="0" cy="0"/>
        </a:xfrm>
      </p:grpSpPr>
      <p:sp>
        <p:nvSpPr>
          <p:cNvPr id="2" name="Text 0"/>
          <p:cNvSpPr/>
          <p:nvPr/>
        </p:nvSpPr>
        <p:spPr>
          <a:xfrm>
            <a:off x="822960" y="502920"/>
            <a:ext cx="9601200" cy="310896"/>
          </a:xfrm>
          <a:prstGeom prst="rect">
            <a:avLst/>
          </a:prstGeom>
          <a:noFill/>
          <a:ln/>
        </p:spPr>
        <p:txBody>
          <a:bodyPr wrap="square" lIns="0" tIns="0" rIns="0" bIns="0" rtlCol="0" anchor="ctr"/>
          <a:lstStyle/>
          <a:p>
            <a:pPr marL="0" indent="0">
              <a:buNone/>
            </a:pPr>
            <a:r>
              <a:rPr lang="en-US" sz="1100" b="1" kern="0" spc="340" dirty="0">
                <a:solidFill>
                  <a:srgbClr val="8B6E3D"/>
                </a:solidFill>
                <a:latin typeface="Calibri" pitchFamily="34" charset="0"/>
                <a:ea typeface="Calibri" pitchFamily="34" charset="-122"/>
                <a:cs typeface="Calibri" pitchFamily="34" charset="-120"/>
              </a:rPr>
              <a:t>S T E P   8      ·      G A T E   T H R E E ,   T H E   S T A T E S</a:t>
            </a:r>
            <a:endParaRPr lang="en-US" sz="1100" dirty="0"/>
          </a:p>
        </p:txBody>
      </p:sp>
      <p:sp>
        <p:nvSpPr>
          <p:cNvPr id="3" name="Text 1"/>
          <p:cNvSpPr/>
          <p:nvPr/>
        </p:nvSpPr>
        <p:spPr>
          <a:xfrm>
            <a:off x="822960" y="877824"/>
            <a:ext cx="10515600" cy="914400"/>
          </a:xfrm>
          <a:prstGeom prst="rect">
            <a:avLst/>
          </a:prstGeom>
          <a:noFill/>
          <a:ln/>
        </p:spPr>
        <p:txBody>
          <a:bodyPr wrap="square" lIns="0" tIns="0" rIns="0" bIns="0" rtlCol="0" anchor="ctr"/>
          <a:lstStyle/>
          <a:p>
            <a:pPr marL="0" indent="0">
              <a:lnSpc>
                <a:spcPts val="3240"/>
              </a:lnSpc>
              <a:buNone/>
            </a:pPr>
            <a:r>
              <a:rPr lang="en-US" sz="2700" dirty="0">
                <a:solidFill>
                  <a:srgbClr val="26221C"/>
                </a:solidFill>
                <a:latin typeface="Bookman Old Style" pitchFamily="34" charset="0"/>
                <a:ea typeface="Bookman Old Style" pitchFamily="34" charset="-122"/>
                <a:cs typeface="Bookman Old Style" pitchFamily="34" charset="-120"/>
              </a:rPr>
              <a:t>There is no national approval to sell.</a:t>
            </a:r>
            <a:endParaRPr lang="en-US" sz="2700" dirty="0"/>
          </a:p>
        </p:txBody>
      </p:sp>
      <p:sp>
        <p:nvSpPr>
          <p:cNvPr id="4" name="Shape 2"/>
          <p:cNvSpPr/>
          <p:nvPr/>
        </p:nvSpPr>
        <p:spPr>
          <a:xfrm>
            <a:off x="822960" y="1847088"/>
            <a:ext cx="10545775" cy="0"/>
          </a:xfrm>
          <a:prstGeom prst="line">
            <a:avLst/>
          </a:prstGeom>
          <a:noFill/>
          <a:ln w="15875">
            <a:solidFill>
              <a:srgbClr val="26221C"/>
            </a:solidFill>
            <a:prstDash val="solid"/>
          </a:ln>
        </p:spPr>
      </p:sp>
      <p:sp>
        <p:nvSpPr>
          <p:cNvPr id="5" name="Text 3"/>
          <p:cNvSpPr/>
          <p:nvPr/>
        </p:nvSpPr>
        <p:spPr>
          <a:xfrm>
            <a:off x="822960" y="2103120"/>
            <a:ext cx="4815688" cy="274320"/>
          </a:xfrm>
          <a:prstGeom prst="rect">
            <a:avLst/>
          </a:prstGeom>
          <a:noFill/>
          <a:ln/>
        </p:spPr>
        <p:txBody>
          <a:bodyPr wrap="square" lIns="0" tIns="0" rIns="0" bIns="0" rtlCol="0" anchor="ctr"/>
          <a:lstStyle/>
          <a:p>
            <a:pPr marL="0" indent="0">
              <a:buNone/>
            </a:pPr>
            <a:r>
              <a:rPr lang="en-US" sz="1000" b="1" kern="0" spc="200" dirty="0">
                <a:solidFill>
                  <a:srgbClr val="8B6E3D"/>
                </a:solidFill>
                <a:latin typeface="Calibri" pitchFamily="34" charset="0"/>
                <a:ea typeface="Calibri" pitchFamily="34" charset="-122"/>
                <a:cs typeface="Calibri" pitchFamily="34" charset="-120"/>
              </a:rPr>
              <a:t>P R I V A T E   T R A D E ,   W H E R E   Y O U   S T A R T</a:t>
            </a:r>
            <a:endParaRPr lang="en-US" sz="1000" dirty="0"/>
          </a:p>
        </p:txBody>
      </p:sp>
      <p:sp>
        <p:nvSpPr>
          <p:cNvPr id="6" name="Text 4"/>
          <p:cNvSpPr/>
          <p:nvPr/>
        </p:nvSpPr>
        <p:spPr>
          <a:xfrm>
            <a:off x="6095848" y="2103120"/>
            <a:ext cx="4815688" cy="274320"/>
          </a:xfrm>
          <a:prstGeom prst="rect">
            <a:avLst/>
          </a:prstGeom>
          <a:noFill/>
          <a:ln/>
        </p:spPr>
        <p:txBody>
          <a:bodyPr wrap="square" lIns="0" tIns="0" rIns="0" bIns="0" rtlCol="0" anchor="ctr"/>
          <a:lstStyle/>
          <a:p>
            <a:pPr marL="0" indent="0">
              <a:buNone/>
            </a:pPr>
            <a:r>
              <a:rPr lang="en-US" sz="1000" b="1" kern="0" spc="200" dirty="0">
                <a:solidFill>
                  <a:srgbClr val="8B6E3D"/>
                </a:solidFill>
                <a:latin typeface="Calibri" pitchFamily="34" charset="0"/>
                <a:ea typeface="Calibri" pitchFamily="34" charset="-122"/>
                <a:cs typeface="Calibri" pitchFamily="34" charset="-120"/>
              </a:rPr>
              <a:t>G O V E R N M E N T   W H O L E S A L E R ,   L A T E R</a:t>
            </a:r>
            <a:endParaRPr lang="en-US" sz="1000" dirty="0"/>
          </a:p>
        </p:txBody>
      </p:sp>
      <p:sp>
        <p:nvSpPr>
          <p:cNvPr id="7" name="Shape 5"/>
          <p:cNvSpPr/>
          <p:nvPr/>
        </p:nvSpPr>
        <p:spPr>
          <a:xfrm>
            <a:off x="5711800" y="2139696"/>
            <a:ext cx="0" cy="2331720"/>
          </a:xfrm>
          <a:prstGeom prst="line">
            <a:avLst/>
          </a:prstGeom>
          <a:noFill/>
          <a:ln w="9525">
            <a:solidFill>
              <a:srgbClr val="D8CDB6"/>
            </a:solidFill>
            <a:prstDash val="solid"/>
          </a:ln>
        </p:spPr>
      </p:sp>
      <p:sp>
        <p:nvSpPr>
          <p:cNvPr id="8" name="Text 6"/>
          <p:cNvSpPr/>
          <p:nvPr/>
        </p:nvSpPr>
        <p:spPr>
          <a:xfrm>
            <a:off x="822960" y="2487168"/>
            <a:ext cx="1828800" cy="310896"/>
          </a:xfrm>
          <a:prstGeom prst="rect">
            <a:avLst/>
          </a:prstGeom>
          <a:noFill/>
          <a:ln/>
        </p:spPr>
        <p:txBody>
          <a:bodyPr wrap="square" lIns="0" tIns="0" rIns="0" bIns="0" rtlCol="0" anchor="ctr"/>
          <a:lstStyle/>
          <a:p>
            <a:pPr marL="0" indent="0">
              <a:buNone/>
            </a:pPr>
            <a:r>
              <a:rPr lang="en-US" sz="1400" b="1" dirty="0">
                <a:solidFill>
                  <a:srgbClr val="26221C"/>
                </a:solidFill>
                <a:latin typeface="Calibri" pitchFamily="34" charset="0"/>
                <a:ea typeface="Calibri" pitchFamily="34" charset="-122"/>
                <a:cs typeface="Calibri" pitchFamily="34" charset="-120"/>
              </a:rPr>
              <a:t>Goa</a:t>
            </a:r>
            <a:endParaRPr lang="en-US" sz="1400" dirty="0"/>
          </a:p>
        </p:txBody>
      </p:sp>
      <p:sp>
        <p:nvSpPr>
          <p:cNvPr id="9" name="Text 7"/>
          <p:cNvSpPr/>
          <p:nvPr/>
        </p:nvSpPr>
        <p:spPr>
          <a:xfrm>
            <a:off x="2697480" y="2514600"/>
            <a:ext cx="2895448" cy="310896"/>
          </a:xfrm>
          <a:prstGeom prst="rect">
            <a:avLst/>
          </a:prstGeom>
          <a:noFill/>
          <a:ln/>
        </p:spPr>
        <p:txBody>
          <a:bodyPr wrap="square" lIns="0" tIns="0" rIns="0" bIns="0" rtlCol="0" anchor="ctr"/>
          <a:lstStyle/>
          <a:p>
            <a:pPr marL="0" indent="0">
              <a:buNone/>
            </a:pPr>
            <a:r>
              <a:rPr lang="en-US" sz="1250" dirty="0">
                <a:solidFill>
                  <a:srgbClr val="4A4338"/>
                </a:solidFill>
                <a:latin typeface="Calibri" pitchFamily="34" charset="0"/>
                <a:ea typeface="Calibri" pitchFamily="34" charset="-122"/>
                <a:cs typeface="Calibri" pitchFamily="34" charset="-120"/>
              </a:rPr>
              <a:t>fastest, about fifteen working days</a:t>
            </a:r>
            <a:endParaRPr lang="en-US" sz="1250" dirty="0"/>
          </a:p>
        </p:txBody>
      </p:sp>
      <p:sp>
        <p:nvSpPr>
          <p:cNvPr id="10" name="Text 8"/>
          <p:cNvSpPr/>
          <p:nvPr/>
        </p:nvSpPr>
        <p:spPr>
          <a:xfrm>
            <a:off x="822960" y="3017520"/>
            <a:ext cx="1828800" cy="310896"/>
          </a:xfrm>
          <a:prstGeom prst="rect">
            <a:avLst/>
          </a:prstGeom>
          <a:noFill/>
          <a:ln/>
        </p:spPr>
        <p:txBody>
          <a:bodyPr wrap="square" lIns="0" tIns="0" rIns="0" bIns="0" rtlCol="0" anchor="ctr"/>
          <a:lstStyle/>
          <a:p>
            <a:pPr marL="0" indent="0">
              <a:buNone/>
            </a:pPr>
            <a:r>
              <a:rPr lang="en-US" sz="1400" b="1" dirty="0">
                <a:solidFill>
                  <a:srgbClr val="26221C"/>
                </a:solidFill>
                <a:latin typeface="Calibri" pitchFamily="34" charset="0"/>
                <a:ea typeface="Calibri" pitchFamily="34" charset="-122"/>
                <a:cs typeface="Calibri" pitchFamily="34" charset="-120"/>
              </a:rPr>
              <a:t>Maharashtra</a:t>
            </a:r>
            <a:endParaRPr lang="en-US" sz="1400" dirty="0"/>
          </a:p>
        </p:txBody>
      </p:sp>
      <p:sp>
        <p:nvSpPr>
          <p:cNvPr id="11" name="Text 9"/>
          <p:cNvSpPr/>
          <p:nvPr/>
        </p:nvSpPr>
        <p:spPr>
          <a:xfrm>
            <a:off x="2697480" y="3044952"/>
            <a:ext cx="2895448" cy="310896"/>
          </a:xfrm>
          <a:prstGeom prst="rect">
            <a:avLst/>
          </a:prstGeom>
          <a:noFill/>
          <a:ln/>
        </p:spPr>
        <p:txBody>
          <a:bodyPr wrap="square" lIns="0" tIns="0" rIns="0" bIns="0" rtlCol="0" anchor="ctr"/>
          <a:lstStyle/>
          <a:p>
            <a:pPr marL="0" indent="0">
              <a:buNone/>
            </a:pPr>
            <a:r>
              <a:rPr lang="en-US" sz="1250" dirty="0">
                <a:solidFill>
                  <a:srgbClr val="4A4338"/>
                </a:solidFill>
                <a:latin typeface="Calibri" pitchFamily="34" charset="0"/>
                <a:ea typeface="Calibri" pitchFamily="34" charset="-122"/>
                <a:cs typeface="Calibri" pitchFamily="34" charset="-120"/>
              </a:rPr>
              <a:t>the volume market</a:t>
            </a:r>
            <a:endParaRPr lang="en-US" sz="1250" dirty="0"/>
          </a:p>
        </p:txBody>
      </p:sp>
      <p:sp>
        <p:nvSpPr>
          <p:cNvPr id="12" name="Text 10"/>
          <p:cNvSpPr/>
          <p:nvPr/>
        </p:nvSpPr>
        <p:spPr>
          <a:xfrm>
            <a:off x="822960" y="3547872"/>
            <a:ext cx="1828800" cy="310896"/>
          </a:xfrm>
          <a:prstGeom prst="rect">
            <a:avLst/>
          </a:prstGeom>
          <a:noFill/>
          <a:ln/>
        </p:spPr>
        <p:txBody>
          <a:bodyPr wrap="square" lIns="0" tIns="0" rIns="0" bIns="0" rtlCol="0" anchor="ctr"/>
          <a:lstStyle/>
          <a:p>
            <a:pPr marL="0" indent="0">
              <a:buNone/>
            </a:pPr>
            <a:r>
              <a:rPr lang="en-US" sz="1400" b="1" dirty="0">
                <a:solidFill>
                  <a:srgbClr val="26221C"/>
                </a:solidFill>
                <a:latin typeface="Calibri" pitchFamily="34" charset="0"/>
                <a:ea typeface="Calibri" pitchFamily="34" charset="-122"/>
                <a:cs typeface="Calibri" pitchFamily="34" charset="-120"/>
              </a:rPr>
              <a:t>Haryana</a:t>
            </a:r>
            <a:endParaRPr lang="en-US" sz="1400" dirty="0"/>
          </a:p>
        </p:txBody>
      </p:sp>
      <p:sp>
        <p:nvSpPr>
          <p:cNvPr id="13" name="Text 11"/>
          <p:cNvSpPr/>
          <p:nvPr/>
        </p:nvSpPr>
        <p:spPr>
          <a:xfrm>
            <a:off x="2697480" y="3575304"/>
            <a:ext cx="2895448" cy="310896"/>
          </a:xfrm>
          <a:prstGeom prst="rect">
            <a:avLst/>
          </a:prstGeom>
          <a:noFill/>
          <a:ln/>
        </p:spPr>
        <p:txBody>
          <a:bodyPr wrap="square" lIns="0" tIns="0" rIns="0" bIns="0" rtlCol="0" anchor="ctr"/>
          <a:lstStyle/>
          <a:p>
            <a:pPr marL="0" indent="0">
              <a:buNone/>
            </a:pPr>
            <a:r>
              <a:rPr lang="en-US" sz="1250" dirty="0">
                <a:solidFill>
                  <a:srgbClr val="4A4338"/>
                </a:solidFill>
                <a:latin typeface="Calibri" pitchFamily="34" charset="0"/>
                <a:ea typeface="Calibri" pitchFamily="34" charset="-122"/>
                <a:cs typeface="Calibri" pitchFamily="34" charset="-120"/>
              </a:rPr>
              <a:t>half fees under 1,000 cases</a:t>
            </a:r>
            <a:endParaRPr lang="en-US" sz="1250" dirty="0"/>
          </a:p>
        </p:txBody>
      </p:sp>
      <p:sp>
        <p:nvSpPr>
          <p:cNvPr id="14" name="Text 12"/>
          <p:cNvSpPr/>
          <p:nvPr/>
        </p:nvSpPr>
        <p:spPr>
          <a:xfrm>
            <a:off x="822960" y="4078224"/>
            <a:ext cx="1828800" cy="310896"/>
          </a:xfrm>
          <a:prstGeom prst="rect">
            <a:avLst/>
          </a:prstGeom>
          <a:noFill/>
          <a:ln/>
        </p:spPr>
        <p:txBody>
          <a:bodyPr wrap="square" lIns="0" tIns="0" rIns="0" bIns="0" rtlCol="0" anchor="ctr"/>
          <a:lstStyle/>
          <a:p>
            <a:pPr marL="0" indent="0">
              <a:buNone/>
            </a:pPr>
            <a:r>
              <a:rPr lang="en-US" sz="1400" b="1" dirty="0">
                <a:solidFill>
                  <a:srgbClr val="26221C"/>
                </a:solidFill>
                <a:latin typeface="Calibri" pitchFamily="34" charset="0"/>
                <a:ea typeface="Calibri" pitchFamily="34" charset="-122"/>
                <a:cs typeface="Calibri" pitchFamily="34" charset="-120"/>
              </a:rPr>
              <a:t>Rajasthan</a:t>
            </a:r>
            <a:endParaRPr lang="en-US" sz="1400" dirty="0"/>
          </a:p>
        </p:txBody>
      </p:sp>
      <p:sp>
        <p:nvSpPr>
          <p:cNvPr id="15" name="Text 13"/>
          <p:cNvSpPr/>
          <p:nvPr/>
        </p:nvSpPr>
        <p:spPr>
          <a:xfrm>
            <a:off x="2697480" y="4105656"/>
            <a:ext cx="2895448" cy="310896"/>
          </a:xfrm>
          <a:prstGeom prst="rect">
            <a:avLst/>
          </a:prstGeom>
          <a:noFill/>
          <a:ln/>
        </p:spPr>
        <p:txBody>
          <a:bodyPr wrap="square" lIns="0" tIns="0" rIns="0" bIns="0" rtlCol="0" anchor="ctr"/>
          <a:lstStyle/>
          <a:p>
            <a:pPr marL="0" indent="0">
              <a:buNone/>
            </a:pPr>
            <a:r>
              <a:rPr lang="en-US" sz="1250" dirty="0">
                <a:solidFill>
                  <a:srgbClr val="4A4338"/>
                </a:solidFill>
                <a:latin typeface="Calibri" pitchFamily="34" charset="0"/>
                <a:ea typeface="Calibri" pitchFamily="34" charset="-122"/>
                <a:cs typeface="Calibri" pitchFamily="34" charset="-120"/>
              </a:rPr>
              <a:t>no brand fee at all</a:t>
            </a:r>
            <a:endParaRPr lang="en-US" sz="1250" dirty="0"/>
          </a:p>
        </p:txBody>
      </p:sp>
      <p:sp>
        <p:nvSpPr>
          <p:cNvPr id="16" name="Text 14"/>
          <p:cNvSpPr/>
          <p:nvPr/>
        </p:nvSpPr>
        <p:spPr>
          <a:xfrm>
            <a:off x="6095848" y="2487168"/>
            <a:ext cx="1828800" cy="310896"/>
          </a:xfrm>
          <a:prstGeom prst="rect">
            <a:avLst/>
          </a:prstGeom>
          <a:noFill/>
          <a:ln/>
        </p:spPr>
        <p:txBody>
          <a:bodyPr wrap="square" lIns="0" tIns="0" rIns="0" bIns="0" rtlCol="0" anchor="ctr"/>
          <a:lstStyle/>
          <a:p>
            <a:pPr marL="0" indent="0">
              <a:buNone/>
            </a:pPr>
            <a:r>
              <a:rPr lang="en-US" sz="1400" b="1" dirty="0">
                <a:solidFill>
                  <a:srgbClr val="26221C"/>
                </a:solidFill>
                <a:latin typeface="Calibri" pitchFamily="34" charset="0"/>
                <a:ea typeface="Calibri" pitchFamily="34" charset="-122"/>
                <a:cs typeface="Calibri" pitchFamily="34" charset="-120"/>
              </a:rPr>
              <a:t>Karnataka</a:t>
            </a:r>
            <a:endParaRPr lang="en-US" sz="1400" dirty="0"/>
          </a:p>
        </p:txBody>
      </p:sp>
      <p:sp>
        <p:nvSpPr>
          <p:cNvPr id="17" name="Text 15"/>
          <p:cNvSpPr/>
          <p:nvPr/>
        </p:nvSpPr>
        <p:spPr>
          <a:xfrm>
            <a:off x="7970368" y="2514600"/>
            <a:ext cx="2895448" cy="310896"/>
          </a:xfrm>
          <a:prstGeom prst="rect">
            <a:avLst/>
          </a:prstGeom>
          <a:noFill/>
          <a:ln/>
        </p:spPr>
        <p:txBody>
          <a:bodyPr wrap="square" lIns="0" tIns="0" rIns="0" bIns="0" rtlCol="0" anchor="ctr"/>
          <a:lstStyle/>
          <a:p>
            <a:pPr marL="0" indent="0">
              <a:buNone/>
            </a:pPr>
            <a:r>
              <a:rPr lang="en-US" sz="1250" dirty="0">
                <a:solidFill>
                  <a:srgbClr val="4A4338"/>
                </a:solidFill>
                <a:latin typeface="Calibri" pitchFamily="34" charset="0"/>
                <a:ea typeface="Calibri" pitchFamily="34" charset="-122"/>
                <a:cs typeface="Calibri" pitchFamily="34" charset="-120"/>
              </a:rPr>
              <a:t>one state wholesaler for everything</a:t>
            </a:r>
            <a:endParaRPr lang="en-US" sz="1250" dirty="0"/>
          </a:p>
        </p:txBody>
      </p:sp>
      <p:sp>
        <p:nvSpPr>
          <p:cNvPr id="18" name="Text 16"/>
          <p:cNvSpPr/>
          <p:nvPr/>
        </p:nvSpPr>
        <p:spPr>
          <a:xfrm>
            <a:off x="6095848" y="3017520"/>
            <a:ext cx="1828800" cy="310896"/>
          </a:xfrm>
          <a:prstGeom prst="rect">
            <a:avLst/>
          </a:prstGeom>
          <a:noFill/>
          <a:ln/>
        </p:spPr>
        <p:txBody>
          <a:bodyPr wrap="square" lIns="0" tIns="0" rIns="0" bIns="0" rtlCol="0" anchor="ctr"/>
          <a:lstStyle/>
          <a:p>
            <a:pPr marL="0" indent="0">
              <a:buNone/>
            </a:pPr>
            <a:r>
              <a:rPr lang="en-US" sz="1400" b="1" dirty="0">
                <a:solidFill>
                  <a:srgbClr val="26221C"/>
                </a:solidFill>
                <a:latin typeface="Calibri" pitchFamily="34" charset="0"/>
                <a:ea typeface="Calibri" pitchFamily="34" charset="-122"/>
                <a:cs typeface="Calibri" pitchFamily="34" charset="-120"/>
              </a:rPr>
              <a:t>Delhi</a:t>
            </a:r>
            <a:endParaRPr lang="en-US" sz="1400" dirty="0"/>
          </a:p>
        </p:txBody>
      </p:sp>
      <p:sp>
        <p:nvSpPr>
          <p:cNvPr id="19" name="Text 17"/>
          <p:cNvSpPr/>
          <p:nvPr/>
        </p:nvSpPr>
        <p:spPr>
          <a:xfrm>
            <a:off x="7970368" y="3044952"/>
            <a:ext cx="2895448" cy="310896"/>
          </a:xfrm>
          <a:prstGeom prst="rect">
            <a:avLst/>
          </a:prstGeom>
          <a:noFill/>
          <a:ln/>
        </p:spPr>
        <p:txBody>
          <a:bodyPr wrap="square" lIns="0" tIns="0" rIns="0" bIns="0" rtlCol="0" anchor="ctr"/>
          <a:lstStyle/>
          <a:p>
            <a:pPr marL="0" indent="0">
              <a:buNone/>
            </a:pPr>
            <a:r>
              <a:rPr lang="en-US" sz="1250" dirty="0">
                <a:solidFill>
                  <a:srgbClr val="4A4338"/>
                </a:solidFill>
                <a:latin typeface="Calibri" pitchFamily="34" charset="0"/>
                <a:ea typeface="Calibri" pitchFamily="34" charset="-122"/>
                <a:cs typeface="Calibri" pitchFamily="34" charset="-120"/>
              </a:rPr>
              <a:t>government retail, high entry</a:t>
            </a:r>
            <a:endParaRPr lang="en-US" sz="1250" dirty="0"/>
          </a:p>
        </p:txBody>
      </p:sp>
      <p:sp>
        <p:nvSpPr>
          <p:cNvPr id="20" name="Text 18"/>
          <p:cNvSpPr/>
          <p:nvPr/>
        </p:nvSpPr>
        <p:spPr>
          <a:xfrm>
            <a:off x="6095848" y="3547872"/>
            <a:ext cx="1828800" cy="310896"/>
          </a:xfrm>
          <a:prstGeom prst="rect">
            <a:avLst/>
          </a:prstGeom>
          <a:noFill/>
          <a:ln/>
        </p:spPr>
        <p:txBody>
          <a:bodyPr wrap="square" lIns="0" tIns="0" rIns="0" bIns="0" rtlCol="0" anchor="ctr"/>
          <a:lstStyle/>
          <a:p>
            <a:pPr marL="0" indent="0">
              <a:buNone/>
            </a:pPr>
            <a:r>
              <a:rPr lang="en-US" sz="1400" b="1" dirty="0">
                <a:solidFill>
                  <a:srgbClr val="26221C"/>
                </a:solidFill>
                <a:latin typeface="Calibri" pitchFamily="34" charset="0"/>
                <a:ea typeface="Calibri" pitchFamily="34" charset="-122"/>
                <a:cs typeface="Calibri" pitchFamily="34" charset="-120"/>
              </a:rPr>
              <a:t>Tamil Nadu</a:t>
            </a:r>
            <a:endParaRPr lang="en-US" sz="1400" dirty="0"/>
          </a:p>
        </p:txBody>
      </p:sp>
      <p:sp>
        <p:nvSpPr>
          <p:cNvPr id="21" name="Text 19"/>
          <p:cNvSpPr/>
          <p:nvPr/>
        </p:nvSpPr>
        <p:spPr>
          <a:xfrm>
            <a:off x="7970368" y="3575304"/>
            <a:ext cx="2895448" cy="310896"/>
          </a:xfrm>
          <a:prstGeom prst="rect">
            <a:avLst/>
          </a:prstGeom>
          <a:noFill/>
          <a:ln/>
        </p:spPr>
        <p:txBody>
          <a:bodyPr wrap="square" lIns="0" tIns="0" rIns="0" bIns="0" rtlCol="0" anchor="ctr"/>
          <a:lstStyle/>
          <a:p>
            <a:pPr marL="0" indent="0">
              <a:buNone/>
            </a:pPr>
            <a:r>
              <a:rPr lang="en-US" sz="1250" dirty="0">
                <a:solidFill>
                  <a:srgbClr val="4A4338"/>
                </a:solidFill>
                <a:latin typeface="Calibri" pitchFamily="34" charset="0"/>
                <a:ea typeface="Calibri" pitchFamily="34" charset="-122"/>
                <a:cs typeface="Calibri" pitchFamily="34" charset="-120"/>
              </a:rPr>
              <a:t>sets a national price floor</a:t>
            </a:r>
            <a:endParaRPr lang="en-US" sz="1250" dirty="0"/>
          </a:p>
        </p:txBody>
      </p:sp>
      <p:sp>
        <p:nvSpPr>
          <p:cNvPr id="22" name="Text 20"/>
          <p:cNvSpPr/>
          <p:nvPr/>
        </p:nvSpPr>
        <p:spPr>
          <a:xfrm>
            <a:off x="6095848" y="4078224"/>
            <a:ext cx="1828800" cy="310896"/>
          </a:xfrm>
          <a:prstGeom prst="rect">
            <a:avLst/>
          </a:prstGeom>
          <a:noFill/>
          <a:ln/>
        </p:spPr>
        <p:txBody>
          <a:bodyPr wrap="square" lIns="0" tIns="0" rIns="0" bIns="0" rtlCol="0" anchor="ctr"/>
          <a:lstStyle/>
          <a:p>
            <a:pPr marL="0" indent="0">
              <a:buNone/>
            </a:pPr>
            <a:r>
              <a:rPr lang="en-US" sz="1400" b="1" dirty="0">
                <a:solidFill>
                  <a:srgbClr val="26221C"/>
                </a:solidFill>
                <a:latin typeface="Calibri" pitchFamily="34" charset="0"/>
                <a:ea typeface="Calibri" pitchFamily="34" charset="-122"/>
                <a:cs typeface="Calibri" pitchFamily="34" charset="-120"/>
              </a:rPr>
              <a:t>Kerala</a:t>
            </a:r>
            <a:endParaRPr lang="en-US" sz="1400" dirty="0"/>
          </a:p>
        </p:txBody>
      </p:sp>
      <p:sp>
        <p:nvSpPr>
          <p:cNvPr id="23" name="Text 21"/>
          <p:cNvSpPr/>
          <p:nvPr/>
        </p:nvSpPr>
        <p:spPr>
          <a:xfrm>
            <a:off x="7970368" y="4105656"/>
            <a:ext cx="2895448" cy="310896"/>
          </a:xfrm>
          <a:prstGeom prst="rect">
            <a:avLst/>
          </a:prstGeom>
          <a:noFill/>
          <a:ln/>
        </p:spPr>
        <p:txBody>
          <a:bodyPr wrap="square" lIns="0" tIns="0" rIns="0" bIns="0" rtlCol="0" anchor="ctr"/>
          <a:lstStyle/>
          <a:p>
            <a:pPr marL="0" indent="0">
              <a:buNone/>
            </a:pPr>
            <a:r>
              <a:rPr lang="en-US" sz="1250" dirty="0">
                <a:solidFill>
                  <a:srgbClr val="4A4338"/>
                </a:solidFill>
                <a:latin typeface="Calibri" pitchFamily="34" charset="0"/>
                <a:ea typeface="Calibri" pitchFamily="34" charset="-122"/>
                <a:cs typeface="Calibri" pitchFamily="34" charset="-120"/>
              </a:rPr>
              <a:t>six per cent retail margin</a:t>
            </a:r>
            <a:endParaRPr lang="en-US" sz="1250" dirty="0"/>
          </a:p>
        </p:txBody>
      </p:sp>
      <p:sp>
        <p:nvSpPr>
          <p:cNvPr id="24" name="Shape 22"/>
          <p:cNvSpPr/>
          <p:nvPr/>
        </p:nvSpPr>
        <p:spPr>
          <a:xfrm>
            <a:off x="822960" y="4718304"/>
            <a:ext cx="10545775" cy="0"/>
          </a:xfrm>
          <a:prstGeom prst="line">
            <a:avLst/>
          </a:prstGeom>
          <a:noFill/>
          <a:ln w="9525">
            <a:solidFill>
              <a:srgbClr val="D8CDB6"/>
            </a:solidFill>
            <a:prstDash val="solid"/>
          </a:ln>
        </p:spPr>
      </p:sp>
      <p:sp>
        <p:nvSpPr>
          <p:cNvPr id="25" name="Text 23"/>
          <p:cNvSpPr/>
          <p:nvPr/>
        </p:nvSpPr>
        <p:spPr>
          <a:xfrm>
            <a:off x="822960" y="4956048"/>
            <a:ext cx="10241280" cy="822960"/>
          </a:xfrm>
          <a:prstGeom prst="rect">
            <a:avLst/>
          </a:prstGeom>
          <a:noFill/>
          <a:ln/>
        </p:spPr>
        <p:txBody>
          <a:bodyPr wrap="square" lIns="0" tIns="0" rIns="0" bIns="0" rtlCol="0" anchor="ctr"/>
          <a:lstStyle/>
          <a:p>
            <a:pPr marL="0" indent="0">
              <a:lnSpc>
                <a:spcPts val="2700"/>
              </a:lnSpc>
              <a:buNone/>
            </a:pPr>
            <a:r>
              <a:rPr lang="en-US" sz="2000" dirty="0">
                <a:solidFill>
                  <a:srgbClr val="26221C"/>
                </a:solidFill>
                <a:latin typeface="Bookman Old Style" pitchFamily="34" charset="0"/>
                <a:ea typeface="Bookman Old Style" pitchFamily="34" charset="-122"/>
                <a:cs typeface="Bookman Old Style" pitchFamily="34" charset="-120"/>
              </a:rPr>
              <a:t>Goa first, then Maharashtra in the same year. File so that approval lands in the first half of the excise year, which starts on 1 April in most states.</a:t>
            </a:r>
            <a:endParaRPr lang="en-US" sz="2000" dirty="0"/>
          </a:p>
        </p:txBody>
      </p:sp>
      <p:sp>
        <p:nvSpPr>
          <p:cNvPr id="26" name="Text 24"/>
          <p:cNvSpPr/>
          <p:nvPr/>
        </p:nvSpPr>
        <p:spPr>
          <a:xfrm>
            <a:off x="822960" y="6382512"/>
            <a:ext cx="10515600" cy="274320"/>
          </a:xfrm>
          <a:prstGeom prst="rect">
            <a:avLst/>
          </a:prstGeom>
          <a:noFill/>
          <a:ln/>
        </p:spPr>
        <p:txBody>
          <a:bodyPr wrap="square" lIns="0" tIns="0" rIns="0" bIns="0" rtlCol="0" anchor="ctr"/>
          <a:lstStyle/>
          <a:p>
            <a:pPr marL="0" indent="0">
              <a:buNone/>
            </a:pPr>
            <a:r>
              <a:rPr lang="en-US" sz="900" b="1" dirty="0">
                <a:solidFill>
                  <a:srgbClr val="8B6E3D"/>
                </a:solidFill>
                <a:latin typeface="Calibri" pitchFamily="34" charset="0"/>
                <a:ea typeface="Calibri" pitchFamily="34" charset="-122"/>
                <a:cs typeface="Calibri" pitchFamily="34" charset="-120"/>
              </a:rPr>
              <a:t>I N   T H I S   W E E K ' S   F I L E   S E T</a:t>
            </a:r>
            <a:r>
              <a:rPr lang="en-US" sz="1050" i="1" dirty="0">
                <a:solidFill>
                  <a:srgbClr val="6E5630"/>
                </a:solidFill>
                <a:latin typeface="Calibri" pitchFamily="34" charset="0"/>
                <a:ea typeface="Calibri" pitchFamily="34" charset="-122"/>
                <a:cs typeface="Calibri" pitchFamily="34" charset="-120"/>
              </a:rPr>
              <a:t>      No. 12 · The Three Gates</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bg>
      <p:bgPr>
        <a:solidFill>
          <a:srgbClr val="FBF8F1"/>
        </a:solidFill>
        <a:effectLst/>
      </p:bgPr>
    </p:bg>
    <p:spTree>
      <p:nvGrpSpPr>
        <p:cNvPr id="1" name=""/>
        <p:cNvGrpSpPr/>
        <p:nvPr/>
      </p:nvGrpSpPr>
      <p:grpSpPr>
        <a:xfrm>
          <a:off x="0" y="0"/>
          <a:ext cx="0" cy="0"/>
          <a:chOff x="0" y="0"/>
          <a:chExt cx="0" cy="0"/>
        </a:xfrm>
      </p:grpSpPr>
      <p:sp>
        <p:nvSpPr>
          <p:cNvPr id="2" name="Text 0"/>
          <p:cNvSpPr/>
          <p:nvPr/>
        </p:nvSpPr>
        <p:spPr>
          <a:xfrm>
            <a:off x="822960" y="502920"/>
            <a:ext cx="9601200" cy="310896"/>
          </a:xfrm>
          <a:prstGeom prst="rect">
            <a:avLst/>
          </a:prstGeom>
          <a:noFill/>
          <a:ln/>
        </p:spPr>
        <p:txBody>
          <a:bodyPr wrap="square" lIns="0" tIns="0" rIns="0" bIns="0" rtlCol="0" anchor="ctr"/>
          <a:lstStyle/>
          <a:p>
            <a:pPr marL="0" indent="0">
              <a:buNone/>
            </a:pPr>
            <a:r>
              <a:rPr lang="en-US" sz="1100" b="1" kern="0" spc="340" dirty="0">
                <a:solidFill>
                  <a:srgbClr val="8B6E3D"/>
                </a:solidFill>
                <a:latin typeface="Calibri" pitchFamily="34" charset="0"/>
                <a:ea typeface="Calibri" pitchFamily="34" charset="-122"/>
                <a:cs typeface="Calibri" pitchFamily="34" charset="-120"/>
              </a:rPr>
              <a:t>T H E   H A R D   S T O P</a:t>
            </a:r>
            <a:endParaRPr lang="en-US" sz="1100" dirty="0"/>
          </a:p>
        </p:txBody>
      </p:sp>
      <p:sp>
        <p:nvSpPr>
          <p:cNvPr id="3" name="Text 1"/>
          <p:cNvSpPr/>
          <p:nvPr/>
        </p:nvSpPr>
        <p:spPr>
          <a:xfrm>
            <a:off x="822960" y="1481328"/>
            <a:ext cx="10515600" cy="2651760"/>
          </a:xfrm>
          <a:prstGeom prst="rect">
            <a:avLst/>
          </a:prstGeom>
          <a:noFill/>
          <a:ln/>
        </p:spPr>
        <p:txBody>
          <a:bodyPr wrap="square" lIns="0" tIns="0" rIns="0" bIns="0" rtlCol="0" anchor="ctr"/>
          <a:lstStyle/>
          <a:p>
            <a:pPr marL="0" indent="0">
              <a:lnSpc>
                <a:spcPts val="15300"/>
              </a:lnSpc>
              <a:buNone/>
            </a:pPr>
            <a:r>
              <a:rPr lang="en-US" sz="15000" dirty="0">
                <a:solidFill>
                  <a:srgbClr val="8B6E3D"/>
                </a:solidFill>
                <a:latin typeface="Bookman Old Style" pitchFamily="34" charset="0"/>
                <a:ea typeface="Bookman Old Style" pitchFamily="34" charset="-122"/>
                <a:cs typeface="Bookman Old Style" pitchFamily="34" charset="-120"/>
              </a:rPr>
              <a:t>36 – 50</a:t>
            </a:r>
            <a:endParaRPr lang="en-US" sz="15000" dirty="0"/>
          </a:p>
        </p:txBody>
      </p:sp>
      <p:sp>
        <p:nvSpPr>
          <p:cNvPr id="4" name="Shape 2"/>
          <p:cNvSpPr/>
          <p:nvPr/>
        </p:nvSpPr>
        <p:spPr>
          <a:xfrm>
            <a:off x="822960" y="4443984"/>
            <a:ext cx="2971800" cy="0"/>
          </a:xfrm>
          <a:prstGeom prst="line">
            <a:avLst/>
          </a:prstGeom>
          <a:noFill/>
          <a:ln w="15875">
            <a:solidFill>
              <a:srgbClr val="6E5630"/>
            </a:solidFill>
            <a:prstDash val="solid"/>
          </a:ln>
        </p:spPr>
      </p:sp>
      <p:sp>
        <p:nvSpPr>
          <p:cNvPr id="5" name="Text 3"/>
          <p:cNvSpPr/>
          <p:nvPr/>
        </p:nvSpPr>
        <p:spPr>
          <a:xfrm>
            <a:off x="822960" y="4663440"/>
            <a:ext cx="10515600" cy="868680"/>
          </a:xfrm>
          <a:prstGeom prst="rect">
            <a:avLst/>
          </a:prstGeom>
          <a:noFill/>
          <a:ln/>
        </p:spPr>
        <p:txBody>
          <a:bodyPr wrap="square" lIns="0" tIns="0" rIns="0" bIns="0" rtlCol="0" anchor="ctr"/>
          <a:lstStyle/>
          <a:p>
            <a:pPr marL="0" indent="0">
              <a:lnSpc>
                <a:spcPts val="3300"/>
              </a:lnSpc>
              <a:buNone/>
            </a:pPr>
            <a:r>
              <a:rPr lang="en-US" sz="2600" dirty="0">
                <a:solidFill>
                  <a:srgbClr val="26221C"/>
                </a:solidFill>
                <a:latin typeface="Bookman Old Style" pitchFamily="34" charset="0"/>
                <a:ea typeface="Bookman Old Style" pitchFamily="34" charset="-122"/>
                <a:cs typeface="Bookman Old Style" pitchFamily="34" charset="-120"/>
              </a:rPr>
              <a:t>Your bottle is inside this band, or it does not go.</a:t>
            </a:r>
            <a:endParaRPr lang="en-US" sz="2600" dirty="0"/>
          </a:p>
        </p:txBody>
      </p:sp>
      <p:sp>
        <p:nvSpPr>
          <p:cNvPr id="6" name="Text 4"/>
          <p:cNvSpPr/>
          <p:nvPr/>
        </p:nvSpPr>
        <p:spPr>
          <a:xfrm>
            <a:off x="822960" y="5541264"/>
            <a:ext cx="10058400" cy="457200"/>
          </a:xfrm>
          <a:prstGeom prst="rect">
            <a:avLst/>
          </a:prstGeom>
          <a:noFill/>
          <a:ln/>
        </p:spPr>
        <p:txBody>
          <a:bodyPr wrap="square" lIns="0" tIns="0" rIns="0" bIns="0" rtlCol="0" anchor="ctr"/>
          <a:lstStyle/>
          <a:p>
            <a:pPr marL="0" indent="0">
              <a:lnSpc>
                <a:spcPts val="1800"/>
              </a:lnSpc>
              <a:buNone/>
            </a:pPr>
            <a:r>
              <a:rPr lang="en-US" sz="1300" dirty="0">
                <a:solidFill>
                  <a:srgbClr val="4A4338"/>
                </a:solidFill>
                <a:latin typeface="Calibri" pitchFamily="34" charset="0"/>
                <a:ea typeface="Calibri" pitchFamily="34" charset="-122"/>
                <a:cs typeface="Calibri" pitchFamily="34" charset="-120"/>
              </a:rPr>
              <a:t>Mexico allows 35 to 55 per cent. India allows 36 to 50. There is no sticker, no rectification and no appeal, because this is the liquid and not the label.</a:t>
            </a:r>
            <a:endParaRPr lang="en-US" sz="1300" dirty="0"/>
          </a:p>
        </p:txBody>
      </p:sp>
      <p:sp>
        <p:nvSpPr>
          <p:cNvPr id="7" name="Text 5"/>
          <p:cNvSpPr/>
          <p:nvPr/>
        </p:nvSpPr>
        <p:spPr>
          <a:xfrm>
            <a:off x="822960" y="6382512"/>
            <a:ext cx="10515600" cy="274320"/>
          </a:xfrm>
          <a:prstGeom prst="rect">
            <a:avLst/>
          </a:prstGeom>
          <a:noFill/>
          <a:ln/>
        </p:spPr>
        <p:txBody>
          <a:bodyPr wrap="square" lIns="0" tIns="0" rIns="0" bIns="0" rtlCol="0" anchor="ctr"/>
          <a:lstStyle/>
          <a:p>
            <a:pPr marL="0" indent="0">
              <a:buNone/>
            </a:pPr>
            <a:r>
              <a:rPr lang="en-US" sz="900" b="1" dirty="0">
                <a:solidFill>
                  <a:srgbClr val="8B6E3D"/>
                </a:solidFill>
                <a:latin typeface="Calibri" pitchFamily="34" charset="0"/>
                <a:ea typeface="Calibri" pitchFamily="34" charset="-122"/>
                <a:cs typeface="Calibri" pitchFamily="34" charset="-120"/>
              </a:rPr>
              <a:t>I N   T H I S   W E E K ' S   F I L E   S E T</a:t>
            </a:r>
            <a:r>
              <a:rPr lang="en-US" sz="1050" i="1" dirty="0">
                <a:solidFill>
                  <a:srgbClr val="6E5630"/>
                </a:solidFill>
                <a:latin typeface="Calibri" pitchFamily="34" charset="0"/>
                <a:ea typeface="Calibri" pitchFamily="34" charset="-122"/>
                <a:cs typeface="Calibri" pitchFamily="34" charset="-120"/>
              </a:rPr>
              <a:t>      No. 12 · The Three Gates</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bg>
      <p:bgPr>
        <a:solidFill>
          <a:srgbClr val="FBF8F1"/>
        </a:solidFill>
        <a:effectLst/>
      </p:bgPr>
    </p:bg>
    <p:spTree>
      <p:nvGrpSpPr>
        <p:cNvPr id="1" name=""/>
        <p:cNvGrpSpPr/>
        <p:nvPr/>
      </p:nvGrpSpPr>
      <p:grpSpPr>
        <a:xfrm>
          <a:off x="0" y="0"/>
          <a:ext cx="0" cy="0"/>
          <a:chOff x="0" y="0"/>
          <a:chExt cx="0" cy="0"/>
        </a:xfrm>
      </p:grpSpPr>
      <p:sp>
        <p:nvSpPr>
          <p:cNvPr id="2" name="Text 0"/>
          <p:cNvSpPr/>
          <p:nvPr/>
        </p:nvSpPr>
        <p:spPr>
          <a:xfrm>
            <a:off x="822960" y="502920"/>
            <a:ext cx="9601200" cy="310896"/>
          </a:xfrm>
          <a:prstGeom prst="rect">
            <a:avLst/>
          </a:prstGeom>
          <a:noFill/>
          <a:ln/>
        </p:spPr>
        <p:txBody>
          <a:bodyPr wrap="square" lIns="0" tIns="0" rIns="0" bIns="0" rtlCol="0" anchor="ctr"/>
          <a:lstStyle/>
          <a:p>
            <a:pPr marL="0" indent="0">
              <a:buNone/>
            </a:pPr>
            <a:r>
              <a:rPr lang="en-US" sz="1100" b="1" kern="0" spc="340" dirty="0">
                <a:solidFill>
                  <a:srgbClr val="8B6E3D"/>
                </a:solidFill>
                <a:latin typeface="Calibri" pitchFamily="34" charset="0"/>
                <a:ea typeface="Calibri" pitchFamily="34" charset="-122"/>
                <a:cs typeface="Calibri" pitchFamily="34" charset="-120"/>
              </a:rPr>
              <a:t>T H E   H A R D   S T O P      ·      W H A T   E L S E   T O   C H E C K</a:t>
            </a:r>
            <a:endParaRPr lang="en-US" sz="1100" dirty="0"/>
          </a:p>
        </p:txBody>
      </p:sp>
      <p:sp>
        <p:nvSpPr>
          <p:cNvPr id="3" name="Text 1"/>
          <p:cNvSpPr/>
          <p:nvPr/>
        </p:nvSpPr>
        <p:spPr>
          <a:xfrm>
            <a:off x="822960" y="877824"/>
            <a:ext cx="10515600" cy="914400"/>
          </a:xfrm>
          <a:prstGeom prst="rect">
            <a:avLst/>
          </a:prstGeom>
          <a:noFill/>
          <a:ln/>
        </p:spPr>
        <p:txBody>
          <a:bodyPr wrap="square" lIns="0" tIns="0" rIns="0" bIns="0" rtlCol="0" anchor="ctr"/>
          <a:lstStyle/>
          <a:p>
            <a:pPr marL="0" indent="0">
              <a:lnSpc>
                <a:spcPts val="3240"/>
              </a:lnSpc>
              <a:buNone/>
            </a:pPr>
            <a:r>
              <a:rPr lang="en-US" sz="2700" dirty="0">
                <a:solidFill>
                  <a:srgbClr val="26221C"/>
                </a:solidFill>
                <a:latin typeface="Bookman Old Style" pitchFamily="34" charset="0"/>
                <a:ea typeface="Bookman Old Style" pitchFamily="34" charset="-122"/>
                <a:cs typeface="Bookman Old Style" pitchFamily="34" charset="-120"/>
              </a:rPr>
              <a:t>Three more things that stop a shipment before it starts.</a:t>
            </a:r>
            <a:endParaRPr lang="en-US" sz="2700" dirty="0"/>
          </a:p>
        </p:txBody>
      </p:sp>
      <p:sp>
        <p:nvSpPr>
          <p:cNvPr id="4" name="Shape 2"/>
          <p:cNvSpPr/>
          <p:nvPr/>
        </p:nvSpPr>
        <p:spPr>
          <a:xfrm>
            <a:off x="822960" y="1847088"/>
            <a:ext cx="10545775" cy="0"/>
          </a:xfrm>
          <a:prstGeom prst="line">
            <a:avLst/>
          </a:prstGeom>
          <a:noFill/>
          <a:ln w="15875">
            <a:solidFill>
              <a:srgbClr val="26221C"/>
            </a:solidFill>
            <a:prstDash val="solid"/>
          </a:ln>
        </p:spPr>
      </p:sp>
      <p:sp>
        <p:nvSpPr>
          <p:cNvPr id="5" name="Text 3"/>
          <p:cNvSpPr/>
          <p:nvPr/>
        </p:nvSpPr>
        <p:spPr>
          <a:xfrm>
            <a:off x="822960" y="2084832"/>
            <a:ext cx="3977640" cy="822960"/>
          </a:xfrm>
          <a:prstGeom prst="rect">
            <a:avLst/>
          </a:prstGeom>
          <a:noFill/>
          <a:ln/>
        </p:spPr>
        <p:txBody>
          <a:bodyPr wrap="square" lIns="0" tIns="0" rIns="0" bIns="0" rtlCol="0" anchor="t"/>
          <a:lstStyle/>
          <a:p>
            <a:pPr marL="0" indent="0">
              <a:lnSpc>
                <a:spcPts val="1900"/>
              </a:lnSpc>
              <a:buNone/>
            </a:pPr>
            <a:r>
              <a:rPr lang="en-US" sz="1400" b="1" dirty="0">
                <a:solidFill>
                  <a:srgbClr val="26221C"/>
                </a:solidFill>
                <a:latin typeface="Calibri" pitchFamily="34" charset="0"/>
                <a:ea typeface="Calibri" pitchFamily="34" charset="-122"/>
                <a:cs typeface="Calibri" pitchFamily="34" charset="-120"/>
              </a:rPr>
              <a:t>Methanol has no headroom at all.</a:t>
            </a:r>
            <a:endParaRPr lang="en-US" sz="1400" dirty="0"/>
          </a:p>
        </p:txBody>
      </p:sp>
      <p:sp>
        <p:nvSpPr>
          <p:cNvPr id="6" name="Text 4"/>
          <p:cNvSpPr/>
          <p:nvPr/>
        </p:nvSpPr>
        <p:spPr>
          <a:xfrm>
            <a:off x="5120640" y="2084832"/>
            <a:ext cx="6248095" cy="896112"/>
          </a:xfrm>
          <a:prstGeom prst="rect">
            <a:avLst/>
          </a:prstGeom>
          <a:noFill/>
          <a:ln/>
        </p:spPr>
        <p:txBody>
          <a:bodyPr wrap="square" lIns="0" tIns="0" rIns="0" bIns="0" rtlCol="0" anchor="t"/>
          <a:lstStyle/>
          <a:p>
            <a:pPr marL="0" indent="0">
              <a:lnSpc>
                <a:spcPts val="1850"/>
              </a:lnSpc>
              <a:buNone/>
            </a:pPr>
            <a:r>
              <a:rPr lang="en-US" sz="1300" dirty="0">
                <a:solidFill>
                  <a:srgbClr val="4A4338"/>
                </a:solidFill>
                <a:latin typeface="Calibri" pitchFamily="34" charset="0"/>
                <a:ea typeface="Calibri" pitchFamily="34" charset="-122"/>
                <a:cs typeface="Calibri" pitchFamily="34" charset="-120"/>
              </a:rPr>
              <a:t>India's ceiling is exactly the Mexican ceiling, so a bottle that is legal at home has no margin against an Indian laboratory. Target below it, and evidence it on the certificate for the shipped batch.</a:t>
            </a:r>
            <a:endParaRPr lang="en-US" sz="1300" dirty="0"/>
          </a:p>
        </p:txBody>
      </p:sp>
      <p:sp>
        <p:nvSpPr>
          <p:cNvPr id="7" name="Shape 5"/>
          <p:cNvSpPr/>
          <p:nvPr/>
        </p:nvSpPr>
        <p:spPr>
          <a:xfrm>
            <a:off x="822960" y="3035808"/>
            <a:ext cx="10545775" cy="0"/>
          </a:xfrm>
          <a:prstGeom prst="line">
            <a:avLst/>
          </a:prstGeom>
          <a:noFill/>
          <a:ln w="9525">
            <a:solidFill>
              <a:srgbClr val="D8CDB6"/>
            </a:solidFill>
            <a:prstDash val="solid"/>
          </a:ln>
        </p:spPr>
      </p:sp>
      <p:sp>
        <p:nvSpPr>
          <p:cNvPr id="8" name="Text 6"/>
          <p:cNvSpPr/>
          <p:nvPr/>
        </p:nvSpPr>
        <p:spPr>
          <a:xfrm>
            <a:off x="822960" y="3310128"/>
            <a:ext cx="3977640" cy="822960"/>
          </a:xfrm>
          <a:prstGeom prst="rect">
            <a:avLst/>
          </a:prstGeom>
          <a:noFill/>
          <a:ln/>
        </p:spPr>
        <p:txBody>
          <a:bodyPr wrap="square" lIns="0" tIns="0" rIns="0" bIns="0" rtlCol="0" anchor="t"/>
          <a:lstStyle/>
          <a:p>
            <a:pPr marL="0" indent="0">
              <a:lnSpc>
                <a:spcPts val="1900"/>
              </a:lnSpc>
              <a:buNone/>
            </a:pPr>
            <a:r>
              <a:rPr lang="en-US" sz="1400" b="1" dirty="0">
                <a:solidFill>
                  <a:srgbClr val="26221C"/>
                </a:solidFill>
                <a:latin typeface="Calibri" pitchFamily="34" charset="0"/>
                <a:ea typeface="Calibri" pitchFamily="34" charset="-122"/>
                <a:cs typeface="Calibri" pitchFamily="34" charset="-120"/>
              </a:rPr>
              <a:t>Copper is the metal nobody tests for.</a:t>
            </a:r>
            <a:endParaRPr lang="en-US" sz="1400" dirty="0"/>
          </a:p>
        </p:txBody>
      </p:sp>
      <p:sp>
        <p:nvSpPr>
          <p:cNvPr id="9" name="Text 7"/>
          <p:cNvSpPr/>
          <p:nvPr/>
        </p:nvSpPr>
        <p:spPr>
          <a:xfrm>
            <a:off x="5120640" y="3310128"/>
            <a:ext cx="6248095" cy="896112"/>
          </a:xfrm>
          <a:prstGeom prst="rect">
            <a:avLst/>
          </a:prstGeom>
          <a:noFill/>
          <a:ln/>
        </p:spPr>
        <p:txBody>
          <a:bodyPr wrap="square" lIns="0" tIns="0" rIns="0" bIns="0" rtlCol="0" anchor="t"/>
          <a:lstStyle/>
          <a:p>
            <a:pPr marL="0" indent="0">
              <a:lnSpc>
                <a:spcPts val="1850"/>
              </a:lnSpc>
              <a:buNone/>
            </a:pPr>
            <a:r>
              <a:rPr lang="en-US" sz="1300" dirty="0">
                <a:solidFill>
                  <a:srgbClr val="4A4338"/>
                </a:solidFill>
                <a:latin typeface="Calibri" pitchFamily="34" charset="0"/>
                <a:ea typeface="Calibri" pitchFamily="34" charset="-122"/>
                <a:cs typeface="Calibri" pitchFamily="34" charset="-120"/>
              </a:rPr>
              <a:t>India sets a copper limit and Mexico does not, so it is rarely on a Mexican certificate. Add copper, lead, arsenic and cadmium before you ship.</a:t>
            </a:r>
            <a:endParaRPr lang="en-US" sz="1300" dirty="0"/>
          </a:p>
        </p:txBody>
      </p:sp>
      <p:sp>
        <p:nvSpPr>
          <p:cNvPr id="10" name="Shape 8"/>
          <p:cNvSpPr/>
          <p:nvPr/>
        </p:nvSpPr>
        <p:spPr>
          <a:xfrm>
            <a:off x="822960" y="4261104"/>
            <a:ext cx="10545775" cy="0"/>
          </a:xfrm>
          <a:prstGeom prst="line">
            <a:avLst/>
          </a:prstGeom>
          <a:noFill/>
          <a:ln w="9525">
            <a:solidFill>
              <a:srgbClr val="D8CDB6"/>
            </a:solidFill>
            <a:prstDash val="solid"/>
          </a:ln>
        </p:spPr>
      </p:sp>
      <p:sp>
        <p:nvSpPr>
          <p:cNvPr id="11" name="Text 9"/>
          <p:cNvSpPr/>
          <p:nvPr/>
        </p:nvSpPr>
        <p:spPr>
          <a:xfrm>
            <a:off x="822960" y="4535424"/>
            <a:ext cx="3977640" cy="822960"/>
          </a:xfrm>
          <a:prstGeom prst="rect">
            <a:avLst/>
          </a:prstGeom>
          <a:noFill/>
          <a:ln/>
        </p:spPr>
        <p:txBody>
          <a:bodyPr wrap="square" lIns="0" tIns="0" rIns="0" bIns="0" rtlCol="0" anchor="t"/>
          <a:lstStyle/>
          <a:p>
            <a:pPr marL="0" indent="0">
              <a:lnSpc>
                <a:spcPts val="1900"/>
              </a:lnSpc>
              <a:buNone/>
            </a:pPr>
            <a:r>
              <a:rPr lang="en-US" sz="1400" b="1" dirty="0">
                <a:solidFill>
                  <a:srgbClr val="26221C"/>
                </a:solidFill>
                <a:latin typeface="Calibri" pitchFamily="34" charset="0"/>
                <a:ea typeface="Calibri" pitchFamily="34" charset="-122"/>
                <a:cs typeface="Calibri" pitchFamily="34" charset="-120"/>
              </a:rPr>
              <a:t>If you make mezcal, read this twice.</a:t>
            </a:r>
            <a:endParaRPr lang="en-US" sz="1400" dirty="0"/>
          </a:p>
        </p:txBody>
      </p:sp>
      <p:sp>
        <p:nvSpPr>
          <p:cNvPr id="12" name="Text 10"/>
          <p:cNvSpPr/>
          <p:nvPr/>
        </p:nvSpPr>
        <p:spPr>
          <a:xfrm>
            <a:off x="5120640" y="4535424"/>
            <a:ext cx="6248095" cy="896112"/>
          </a:xfrm>
          <a:prstGeom prst="rect">
            <a:avLst/>
          </a:prstGeom>
          <a:noFill/>
          <a:ln/>
        </p:spPr>
        <p:txBody>
          <a:bodyPr wrap="square" lIns="0" tIns="0" rIns="0" bIns="0" rtlCol="0" anchor="t"/>
          <a:lstStyle/>
          <a:p>
            <a:pPr marL="0" indent="0">
              <a:lnSpc>
                <a:spcPts val="1850"/>
              </a:lnSpc>
              <a:buNone/>
            </a:pPr>
            <a:r>
              <a:rPr lang="en-US" sz="1300" dirty="0">
                <a:solidFill>
                  <a:srgbClr val="4A4338"/>
                </a:solidFill>
                <a:latin typeface="Calibri" pitchFamily="34" charset="0"/>
                <a:ea typeface="Calibri" pitchFamily="34" charset="-122"/>
                <a:cs typeface="Calibri" pitchFamily="34" charset="-120"/>
              </a:rPr>
              <a:t>India has no mezcal category, no mezcal Geographical Indication and no tariff line of its own. The duty is identical. The paperwork and the state classification are not.</a:t>
            </a:r>
            <a:endParaRPr lang="en-US" sz="1300" dirty="0"/>
          </a:p>
        </p:txBody>
      </p:sp>
      <p:sp>
        <p:nvSpPr>
          <p:cNvPr id="13" name="Text 11"/>
          <p:cNvSpPr/>
          <p:nvPr/>
        </p:nvSpPr>
        <p:spPr>
          <a:xfrm>
            <a:off x="822960" y="6382512"/>
            <a:ext cx="10515600" cy="274320"/>
          </a:xfrm>
          <a:prstGeom prst="rect">
            <a:avLst/>
          </a:prstGeom>
          <a:noFill/>
          <a:ln/>
        </p:spPr>
        <p:txBody>
          <a:bodyPr wrap="square" lIns="0" tIns="0" rIns="0" bIns="0" rtlCol="0" anchor="ctr"/>
          <a:lstStyle/>
          <a:p>
            <a:pPr marL="0" indent="0">
              <a:buNone/>
            </a:pPr>
            <a:r>
              <a:rPr lang="en-US" sz="900" b="1" dirty="0">
                <a:solidFill>
                  <a:srgbClr val="8B6E3D"/>
                </a:solidFill>
                <a:latin typeface="Calibri" pitchFamily="34" charset="0"/>
                <a:ea typeface="Calibri" pitchFamily="34" charset="-122"/>
                <a:cs typeface="Calibri" pitchFamily="34" charset="-120"/>
              </a:rPr>
              <a:t>I N   T H I S   W E E K ' S   F I L E   S E T</a:t>
            </a:r>
            <a:r>
              <a:rPr lang="en-US" sz="1050" i="1" dirty="0">
                <a:solidFill>
                  <a:srgbClr val="6E5630"/>
                </a:solidFill>
                <a:latin typeface="Calibri" pitchFamily="34" charset="0"/>
                <a:ea typeface="Calibri" pitchFamily="34" charset="-122"/>
                <a:cs typeface="Calibri" pitchFamily="34" charset="-120"/>
              </a:rPr>
              <a:t>      No. 12 · The Three Gates</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9">
    <p:bg>
      <p:bgPr>
        <a:solidFill>
          <a:srgbClr val="FBF8F1"/>
        </a:solidFill>
        <a:effectLst/>
      </p:bgPr>
    </p:bg>
    <p:spTree>
      <p:nvGrpSpPr>
        <p:cNvPr id="1" name=""/>
        <p:cNvGrpSpPr/>
        <p:nvPr/>
      </p:nvGrpSpPr>
      <p:grpSpPr>
        <a:xfrm>
          <a:off x="0" y="0"/>
          <a:ext cx="0" cy="0"/>
          <a:chOff x="0" y="0"/>
          <a:chExt cx="0" cy="0"/>
        </a:xfrm>
      </p:grpSpPr>
      <p:sp>
        <p:nvSpPr>
          <p:cNvPr id="2" name="Text 0"/>
          <p:cNvSpPr/>
          <p:nvPr/>
        </p:nvSpPr>
        <p:spPr>
          <a:xfrm>
            <a:off x="822960" y="502920"/>
            <a:ext cx="9601200" cy="310896"/>
          </a:xfrm>
          <a:prstGeom prst="rect">
            <a:avLst/>
          </a:prstGeom>
          <a:noFill/>
          <a:ln/>
        </p:spPr>
        <p:txBody>
          <a:bodyPr wrap="square" lIns="0" tIns="0" rIns="0" bIns="0" rtlCol="0" anchor="ctr"/>
          <a:lstStyle/>
          <a:p>
            <a:pPr marL="0" indent="0">
              <a:buNone/>
            </a:pPr>
            <a:r>
              <a:rPr lang="en-US" sz="1100" b="1" kern="0" spc="340" dirty="0">
                <a:solidFill>
                  <a:srgbClr val="8B6E3D"/>
                </a:solidFill>
                <a:latin typeface="Calibri" pitchFamily="34" charset="0"/>
                <a:ea typeface="Calibri" pitchFamily="34" charset="-122"/>
                <a:cs typeface="Calibri" pitchFamily="34" charset="-120"/>
              </a:rPr>
              <a:t>B E F O R E   W E D N E S D A Y   </a:t>
            </a:r>
            <a:r>
              <a:rPr lang="en-US" sz="1100" b="1" kern="0" spc="340" dirty="0" smtClean="0">
                <a:solidFill>
                  <a:srgbClr val="8B6E3D"/>
                </a:solidFill>
                <a:latin typeface="Calibri" pitchFamily="34" charset="0"/>
                <a:ea typeface="Calibri" pitchFamily="34" charset="-122"/>
                <a:cs typeface="Calibri" pitchFamily="34" charset="-120"/>
              </a:rPr>
              <a:t>5</a:t>
            </a:r>
            <a:r>
              <a:rPr lang="en-US" sz="1100" b="1" kern="0" spc="340" baseline="30000" dirty="0" smtClean="0">
                <a:solidFill>
                  <a:srgbClr val="8B6E3D"/>
                </a:solidFill>
                <a:latin typeface="Calibri" pitchFamily="34" charset="0"/>
                <a:ea typeface="Calibri" pitchFamily="34" charset="-122"/>
                <a:cs typeface="Calibri" pitchFamily="34" charset="-120"/>
              </a:rPr>
              <a:t>th</a:t>
            </a:r>
            <a:r>
              <a:rPr lang="en-US" sz="1100" b="1" kern="0" spc="340" dirty="0" smtClean="0">
                <a:solidFill>
                  <a:srgbClr val="8B6E3D"/>
                </a:solidFill>
                <a:latin typeface="Calibri" pitchFamily="34" charset="0"/>
                <a:ea typeface="Calibri" pitchFamily="34" charset="-122"/>
                <a:cs typeface="Calibri" pitchFamily="34" charset="-120"/>
              </a:rPr>
              <a:t>   </a:t>
            </a:r>
            <a:r>
              <a:rPr lang="en-US" sz="1100" b="1" kern="0" spc="340" dirty="0">
                <a:solidFill>
                  <a:srgbClr val="8B6E3D"/>
                </a:solidFill>
                <a:latin typeface="Calibri" pitchFamily="34" charset="0"/>
                <a:ea typeface="Calibri" pitchFamily="34" charset="-122"/>
                <a:cs typeface="Calibri" pitchFamily="34" charset="-120"/>
              </a:rPr>
              <a:t>A U G U S T</a:t>
            </a:r>
            <a:endParaRPr lang="en-US" sz="1100" dirty="0"/>
          </a:p>
        </p:txBody>
      </p:sp>
      <p:sp>
        <p:nvSpPr>
          <p:cNvPr id="3" name="Text 1"/>
          <p:cNvSpPr/>
          <p:nvPr/>
        </p:nvSpPr>
        <p:spPr>
          <a:xfrm>
            <a:off x="822960" y="877824"/>
            <a:ext cx="10515600" cy="914400"/>
          </a:xfrm>
          <a:prstGeom prst="rect">
            <a:avLst/>
          </a:prstGeom>
          <a:noFill/>
          <a:ln/>
        </p:spPr>
        <p:txBody>
          <a:bodyPr wrap="square" lIns="0" tIns="0" rIns="0" bIns="0" rtlCol="0" anchor="ctr"/>
          <a:lstStyle/>
          <a:p>
            <a:pPr marL="0" indent="0">
              <a:lnSpc>
                <a:spcPts val="3240"/>
              </a:lnSpc>
              <a:buNone/>
            </a:pPr>
            <a:r>
              <a:rPr lang="en-US" sz="2700" dirty="0">
                <a:solidFill>
                  <a:srgbClr val="26221C"/>
                </a:solidFill>
                <a:latin typeface="Bookman Old Style" pitchFamily="34" charset="0"/>
                <a:ea typeface="Bookman Old Style" pitchFamily="34" charset="-122"/>
                <a:cs typeface="Bookman Old Style" pitchFamily="34" charset="-120"/>
              </a:rPr>
              <a:t>Three sends. Then Phase 3 runs on your numbers.</a:t>
            </a:r>
            <a:endParaRPr lang="en-US" sz="2700" dirty="0"/>
          </a:p>
        </p:txBody>
      </p:sp>
      <p:sp>
        <p:nvSpPr>
          <p:cNvPr id="4" name="Shape 2"/>
          <p:cNvSpPr/>
          <p:nvPr/>
        </p:nvSpPr>
        <p:spPr>
          <a:xfrm>
            <a:off x="822960" y="1847088"/>
            <a:ext cx="10545775" cy="0"/>
          </a:xfrm>
          <a:prstGeom prst="line">
            <a:avLst/>
          </a:prstGeom>
          <a:noFill/>
          <a:ln w="15875">
            <a:solidFill>
              <a:srgbClr val="26221C"/>
            </a:solidFill>
            <a:prstDash val="solid"/>
          </a:ln>
        </p:spPr>
      </p:sp>
      <p:sp>
        <p:nvSpPr>
          <p:cNvPr id="5" name="Text 3"/>
          <p:cNvSpPr/>
          <p:nvPr/>
        </p:nvSpPr>
        <p:spPr>
          <a:xfrm>
            <a:off x="822960" y="2121408"/>
            <a:ext cx="3058058" cy="274320"/>
          </a:xfrm>
          <a:prstGeom prst="rect">
            <a:avLst/>
          </a:prstGeom>
          <a:noFill/>
          <a:ln/>
        </p:spPr>
        <p:txBody>
          <a:bodyPr wrap="square" lIns="0" tIns="0" rIns="0" bIns="0" rtlCol="0" anchor="ctr"/>
          <a:lstStyle/>
          <a:p>
            <a:pPr marL="0" indent="0">
              <a:buNone/>
            </a:pPr>
            <a:r>
              <a:rPr lang="en-US" sz="1000" b="1" kern="0" spc="240" dirty="0">
                <a:solidFill>
                  <a:srgbClr val="8B6E3D"/>
                </a:solidFill>
                <a:latin typeface="Calibri" pitchFamily="34" charset="0"/>
                <a:ea typeface="Calibri" pitchFamily="34" charset="-122"/>
                <a:cs typeface="Calibri" pitchFamily="34" charset="-120"/>
              </a:rPr>
              <a:t>O N E</a:t>
            </a:r>
            <a:endParaRPr lang="en-US" sz="1000" dirty="0"/>
          </a:p>
        </p:txBody>
      </p:sp>
      <p:sp>
        <p:nvSpPr>
          <p:cNvPr id="6" name="Text 4"/>
          <p:cNvSpPr/>
          <p:nvPr/>
        </p:nvSpPr>
        <p:spPr>
          <a:xfrm>
            <a:off x="822960" y="2432304"/>
            <a:ext cx="3058058" cy="731520"/>
          </a:xfrm>
          <a:prstGeom prst="rect">
            <a:avLst/>
          </a:prstGeom>
          <a:noFill/>
          <a:ln/>
        </p:spPr>
        <p:txBody>
          <a:bodyPr wrap="square" lIns="0" tIns="0" rIns="0" bIns="0" rtlCol="0" anchor="ctr"/>
          <a:lstStyle/>
          <a:p>
            <a:pPr marL="0" indent="0">
              <a:lnSpc>
                <a:spcPts val="3000"/>
              </a:lnSpc>
              <a:buNone/>
            </a:pPr>
            <a:r>
              <a:rPr lang="en-US" sz="2400" dirty="0">
                <a:solidFill>
                  <a:srgbClr val="26221C"/>
                </a:solidFill>
                <a:latin typeface="Bookman Old Style" pitchFamily="34" charset="0"/>
                <a:ea typeface="Bookman Old Style" pitchFamily="34" charset="-122"/>
                <a:cs typeface="Bookman Old Style" pitchFamily="34" charset="-120"/>
              </a:rPr>
              <a:t>Your pricing sheet</a:t>
            </a:r>
            <a:endParaRPr lang="en-US" sz="2400" dirty="0"/>
          </a:p>
        </p:txBody>
      </p:sp>
      <p:sp>
        <p:nvSpPr>
          <p:cNvPr id="7" name="Text 5"/>
          <p:cNvSpPr/>
          <p:nvPr/>
        </p:nvSpPr>
        <p:spPr>
          <a:xfrm>
            <a:off x="822960" y="3273552"/>
            <a:ext cx="3012338" cy="1005840"/>
          </a:xfrm>
          <a:prstGeom prst="rect">
            <a:avLst/>
          </a:prstGeom>
          <a:noFill/>
          <a:ln/>
        </p:spPr>
        <p:txBody>
          <a:bodyPr wrap="square" lIns="0" tIns="0" rIns="0" bIns="0" rtlCol="0" anchor="t"/>
          <a:lstStyle/>
          <a:p>
            <a:pPr marL="0" indent="0">
              <a:lnSpc>
                <a:spcPts val="1750"/>
              </a:lnSpc>
              <a:buNone/>
            </a:pPr>
            <a:r>
              <a:rPr lang="en-US" sz="1250" dirty="0">
                <a:solidFill>
                  <a:srgbClr val="4A4338"/>
                </a:solidFill>
                <a:latin typeface="Calibri" pitchFamily="34" charset="0"/>
                <a:ea typeface="Calibri" pitchFamily="34" charset="-122"/>
                <a:cs typeface="Calibri" pitchFamily="34" charset="-120"/>
              </a:rPr>
              <a:t>Thirteen of thirty-seven have sent it. Without your numbers your Phase 3 consultation cannot be built.</a:t>
            </a:r>
            <a:endParaRPr lang="en-US" sz="1250" dirty="0"/>
          </a:p>
        </p:txBody>
      </p:sp>
      <p:sp>
        <p:nvSpPr>
          <p:cNvPr id="8" name="Text 6"/>
          <p:cNvSpPr/>
          <p:nvPr/>
        </p:nvSpPr>
        <p:spPr>
          <a:xfrm>
            <a:off x="822960" y="4352544"/>
            <a:ext cx="3058058" cy="274320"/>
          </a:xfrm>
          <a:prstGeom prst="rect">
            <a:avLst/>
          </a:prstGeom>
          <a:noFill/>
          <a:ln/>
        </p:spPr>
        <p:txBody>
          <a:bodyPr wrap="square" lIns="0" tIns="0" rIns="0" bIns="0" rtlCol="0" anchor="ctr"/>
          <a:lstStyle/>
          <a:p>
            <a:pPr marL="0" indent="0">
              <a:buNone/>
            </a:pPr>
            <a:r>
              <a:rPr lang="en-US" sz="1150" b="1" dirty="0">
                <a:solidFill>
                  <a:srgbClr val="6E5630"/>
                </a:solidFill>
                <a:latin typeface="Calibri" pitchFamily="34" charset="0"/>
                <a:ea typeface="Calibri" pitchFamily="34" charset="-122"/>
                <a:cs typeface="Calibri" pitchFamily="34" charset="-120"/>
              </a:rPr>
              <a:t>the one that matters</a:t>
            </a:r>
            <a:endParaRPr lang="en-US" sz="1150" dirty="0"/>
          </a:p>
        </p:txBody>
      </p:sp>
      <p:sp>
        <p:nvSpPr>
          <p:cNvPr id="9" name="Shape 7"/>
          <p:cNvSpPr/>
          <p:nvPr/>
        </p:nvSpPr>
        <p:spPr>
          <a:xfrm>
            <a:off x="4063898" y="2157984"/>
            <a:ext cx="0" cy="2148840"/>
          </a:xfrm>
          <a:prstGeom prst="line">
            <a:avLst/>
          </a:prstGeom>
          <a:noFill/>
          <a:ln w="9525">
            <a:solidFill>
              <a:srgbClr val="D8CDB6"/>
            </a:solidFill>
            <a:prstDash val="solid"/>
          </a:ln>
        </p:spPr>
      </p:sp>
      <p:sp>
        <p:nvSpPr>
          <p:cNvPr id="10" name="Text 8"/>
          <p:cNvSpPr/>
          <p:nvPr/>
        </p:nvSpPr>
        <p:spPr>
          <a:xfrm>
            <a:off x="4338218" y="2121408"/>
            <a:ext cx="3058058" cy="274320"/>
          </a:xfrm>
          <a:prstGeom prst="rect">
            <a:avLst/>
          </a:prstGeom>
          <a:noFill/>
          <a:ln/>
        </p:spPr>
        <p:txBody>
          <a:bodyPr wrap="square" lIns="0" tIns="0" rIns="0" bIns="0" rtlCol="0" anchor="ctr"/>
          <a:lstStyle/>
          <a:p>
            <a:pPr marL="0" indent="0">
              <a:buNone/>
            </a:pPr>
            <a:r>
              <a:rPr lang="en-US" sz="1000" b="1" kern="0" spc="240" dirty="0">
                <a:solidFill>
                  <a:srgbClr val="8B6E3D"/>
                </a:solidFill>
                <a:latin typeface="Calibri" pitchFamily="34" charset="0"/>
                <a:ea typeface="Calibri" pitchFamily="34" charset="-122"/>
                <a:cs typeface="Calibri" pitchFamily="34" charset="-120"/>
              </a:rPr>
              <a:t>T W O</a:t>
            </a:r>
            <a:endParaRPr lang="en-US" sz="1000" dirty="0"/>
          </a:p>
        </p:txBody>
      </p:sp>
      <p:sp>
        <p:nvSpPr>
          <p:cNvPr id="11" name="Text 9"/>
          <p:cNvSpPr/>
          <p:nvPr/>
        </p:nvSpPr>
        <p:spPr>
          <a:xfrm>
            <a:off x="4338218" y="2432304"/>
            <a:ext cx="3058058" cy="731520"/>
          </a:xfrm>
          <a:prstGeom prst="rect">
            <a:avLst/>
          </a:prstGeom>
          <a:noFill/>
          <a:ln/>
        </p:spPr>
        <p:txBody>
          <a:bodyPr wrap="square" lIns="0" tIns="0" rIns="0" bIns="0" rtlCol="0" anchor="ctr"/>
          <a:lstStyle/>
          <a:p>
            <a:pPr marL="0" indent="0">
              <a:lnSpc>
                <a:spcPts val="3000"/>
              </a:lnSpc>
              <a:buNone/>
            </a:pPr>
            <a:r>
              <a:rPr lang="en-US" sz="2400" dirty="0">
                <a:solidFill>
                  <a:srgbClr val="26221C"/>
                </a:solidFill>
                <a:latin typeface="Bookman Old Style" pitchFamily="34" charset="0"/>
                <a:ea typeface="Bookman Old Style" pitchFamily="34" charset="-122"/>
                <a:cs typeface="Bookman Old Style" pitchFamily="34" charset="-120"/>
              </a:rPr>
              <a:t>Your label artwork</a:t>
            </a:r>
            <a:endParaRPr lang="en-US" sz="2400" dirty="0"/>
          </a:p>
        </p:txBody>
      </p:sp>
      <p:sp>
        <p:nvSpPr>
          <p:cNvPr id="12" name="Text 10"/>
          <p:cNvSpPr/>
          <p:nvPr/>
        </p:nvSpPr>
        <p:spPr>
          <a:xfrm>
            <a:off x="4338218" y="3273552"/>
            <a:ext cx="3012338" cy="1005840"/>
          </a:xfrm>
          <a:prstGeom prst="rect">
            <a:avLst/>
          </a:prstGeom>
          <a:noFill/>
          <a:ln/>
        </p:spPr>
        <p:txBody>
          <a:bodyPr wrap="square" lIns="0" tIns="0" rIns="0" bIns="0" rtlCol="0" anchor="t"/>
          <a:lstStyle/>
          <a:p>
            <a:pPr marL="0" indent="0">
              <a:lnSpc>
                <a:spcPts val="1750"/>
              </a:lnSpc>
              <a:buNone/>
            </a:pPr>
            <a:r>
              <a:rPr lang="en-US" sz="1250" dirty="0">
                <a:solidFill>
                  <a:srgbClr val="4A4338"/>
                </a:solidFill>
                <a:latin typeface="Calibri" pitchFamily="34" charset="0"/>
                <a:ea typeface="Calibri" pitchFamily="34" charset="-122"/>
                <a:cs typeface="Calibri" pitchFamily="34" charset="-120"/>
              </a:rPr>
              <a:t>AI or INDD, front and back, for your lead SKU. Two files will not open, and a photograph is not artwork.</a:t>
            </a:r>
            <a:endParaRPr lang="en-US" sz="1250" dirty="0"/>
          </a:p>
        </p:txBody>
      </p:sp>
      <p:sp>
        <p:nvSpPr>
          <p:cNvPr id="13" name="Text 11"/>
          <p:cNvSpPr/>
          <p:nvPr/>
        </p:nvSpPr>
        <p:spPr>
          <a:xfrm>
            <a:off x="4338218" y="4352544"/>
            <a:ext cx="3058058" cy="274320"/>
          </a:xfrm>
          <a:prstGeom prst="rect">
            <a:avLst/>
          </a:prstGeom>
          <a:noFill/>
          <a:ln/>
        </p:spPr>
        <p:txBody>
          <a:bodyPr wrap="square" lIns="0" tIns="0" rIns="0" bIns="0" rtlCol="0" anchor="ctr"/>
          <a:lstStyle/>
          <a:p>
            <a:pPr marL="0" indent="0">
              <a:buNone/>
            </a:pPr>
            <a:r>
              <a:rPr lang="en-US" sz="1150" b="1" dirty="0">
                <a:solidFill>
                  <a:srgbClr val="6E5630"/>
                </a:solidFill>
                <a:latin typeface="Calibri" pitchFamily="34" charset="0"/>
                <a:ea typeface="Calibri" pitchFamily="34" charset="-122"/>
                <a:cs typeface="Calibri" pitchFamily="34" charset="-120"/>
              </a:rPr>
              <a:t>source files only</a:t>
            </a:r>
            <a:endParaRPr lang="en-US" sz="1150" dirty="0"/>
          </a:p>
        </p:txBody>
      </p:sp>
      <p:sp>
        <p:nvSpPr>
          <p:cNvPr id="14" name="Shape 12"/>
          <p:cNvSpPr/>
          <p:nvPr/>
        </p:nvSpPr>
        <p:spPr>
          <a:xfrm>
            <a:off x="7579157" y="2157984"/>
            <a:ext cx="0" cy="2148840"/>
          </a:xfrm>
          <a:prstGeom prst="line">
            <a:avLst/>
          </a:prstGeom>
          <a:noFill/>
          <a:ln w="9525">
            <a:solidFill>
              <a:srgbClr val="D8CDB6"/>
            </a:solidFill>
            <a:prstDash val="solid"/>
          </a:ln>
        </p:spPr>
      </p:sp>
      <p:sp>
        <p:nvSpPr>
          <p:cNvPr id="15" name="Text 13"/>
          <p:cNvSpPr/>
          <p:nvPr/>
        </p:nvSpPr>
        <p:spPr>
          <a:xfrm>
            <a:off x="7853477" y="2121408"/>
            <a:ext cx="3058058" cy="274320"/>
          </a:xfrm>
          <a:prstGeom prst="rect">
            <a:avLst/>
          </a:prstGeom>
          <a:noFill/>
          <a:ln/>
        </p:spPr>
        <p:txBody>
          <a:bodyPr wrap="square" lIns="0" tIns="0" rIns="0" bIns="0" rtlCol="0" anchor="ctr"/>
          <a:lstStyle/>
          <a:p>
            <a:pPr marL="0" indent="0">
              <a:buNone/>
            </a:pPr>
            <a:r>
              <a:rPr lang="en-US" sz="1000" b="1" kern="0" spc="240" dirty="0">
                <a:solidFill>
                  <a:srgbClr val="8B6E3D"/>
                </a:solidFill>
                <a:latin typeface="Calibri" pitchFamily="34" charset="0"/>
                <a:ea typeface="Calibri" pitchFamily="34" charset="-122"/>
                <a:cs typeface="Calibri" pitchFamily="34" charset="-120"/>
              </a:rPr>
              <a:t>T H R E E</a:t>
            </a:r>
            <a:endParaRPr lang="en-US" sz="1000" dirty="0"/>
          </a:p>
        </p:txBody>
      </p:sp>
      <p:sp>
        <p:nvSpPr>
          <p:cNvPr id="16" name="Text 14"/>
          <p:cNvSpPr/>
          <p:nvPr/>
        </p:nvSpPr>
        <p:spPr>
          <a:xfrm>
            <a:off x="7853477" y="2432304"/>
            <a:ext cx="3058058" cy="731520"/>
          </a:xfrm>
          <a:prstGeom prst="rect">
            <a:avLst/>
          </a:prstGeom>
          <a:noFill/>
          <a:ln/>
        </p:spPr>
        <p:txBody>
          <a:bodyPr wrap="square" lIns="0" tIns="0" rIns="0" bIns="0" rtlCol="0" anchor="ctr"/>
          <a:lstStyle/>
          <a:p>
            <a:pPr marL="0" indent="0">
              <a:lnSpc>
                <a:spcPts val="3000"/>
              </a:lnSpc>
              <a:buNone/>
            </a:pPr>
            <a:r>
              <a:rPr lang="en-US" sz="2400" dirty="0">
                <a:solidFill>
                  <a:srgbClr val="26221C"/>
                </a:solidFill>
                <a:latin typeface="Bookman Old Style" pitchFamily="34" charset="0"/>
                <a:ea typeface="Bookman Old Style" pitchFamily="34" charset="-122"/>
                <a:cs typeface="Bookman Old Style" pitchFamily="34" charset="-120"/>
              </a:rPr>
              <a:t>Your folder, if open</a:t>
            </a:r>
            <a:endParaRPr lang="en-US" sz="2400" dirty="0"/>
          </a:p>
        </p:txBody>
      </p:sp>
      <p:sp>
        <p:nvSpPr>
          <p:cNvPr id="17" name="Text 15"/>
          <p:cNvSpPr/>
          <p:nvPr/>
        </p:nvSpPr>
        <p:spPr>
          <a:xfrm>
            <a:off x="7853477" y="3273552"/>
            <a:ext cx="3012338" cy="1005840"/>
          </a:xfrm>
          <a:prstGeom prst="rect">
            <a:avLst/>
          </a:prstGeom>
          <a:noFill/>
          <a:ln/>
        </p:spPr>
        <p:txBody>
          <a:bodyPr wrap="square" lIns="0" tIns="0" rIns="0" bIns="0" rtlCol="0" anchor="t"/>
          <a:lstStyle/>
          <a:p>
            <a:pPr marL="0" indent="0">
              <a:lnSpc>
                <a:spcPts val="1750"/>
              </a:lnSpc>
              <a:buNone/>
            </a:pPr>
            <a:r>
              <a:rPr lang="en-US" sz="1250" dirty="0">
                <a:solidFill>
                  <a:srgbClr val="4A4338"/>
                </a:solidFill>
                <a:latin typeface="Calibri" pitchFamily="34" charset="0"/>
                <a:ea typeface="Calibri" pitchFamily="34" charset="-122"/>
                <a:cs typeface="Calibri" pitchFamily="34" charset="-120"/>
              </a:rPr>
              <a:t>Questionnaire plus documents. The CRT line means your Certificado de Cumplimiento.</a:t>
            </a:r>
            <a:endParaRPr lang="en-US" sz="1250" dirty="0"/>
          </a:p>
        </p:txBody>
      </p:sp>
      <p:sp>
        <p:nvSpPr>
          <p:cNvPr id="18" name="Text 16"/>
          <p:cNvSpPr/>
          <p:nvPr/>
        </p:nvSpPr>
        <p:spPr>
          <a:xfrm>
            <a:off x="7853477" y="4352544"/>
            <a:ext cx="3058058" cy="274320"/>
          </a:xfrm>
          <a:prstGeom prst="rect">
            <a:avLst/>
          </a:prstGeom>
          <a:noFill/>
          <a:ln/>
        </p:spPr>
        <p:txBody>
          <a:bodyPr wrap="square" lIns="0" tIns="0" rIns="0" bIns="0" rtlCol="0" anchor="ctr"/>
          <a:lstStyle/>
          <a:p>
            <a:pPr marL="0" indent="0">
              <a:buNone/>
            </a:pPr>
            <a:r>
              <a:rPr lang="en-US" sz="1150" b="1" dirty="0">
                <a:solidFill>
                  <a:srgbClr val="6E5630"/>
                </a:solidFill>
                <a:latin typeface="Calibri" pitchFamily="34" charset="0"/>
                <a:ea typeface="Calibri" pitchFamily="34" charset="-122"/>
                <a:cs typeface="Calibri" pitchFamily="34" charset="-120"/>
              </a:rPr>
              <a:t>a past CAET is optional</a:t>
            </a:r>
            <a:endParaRPr lang="en-US" sz="1150" dirty="0"/>
          </a:p>
        </p:txBody>
      </p:sp>
      <p:sp>
        <p:nvSpPr>
          <p:cNvPr id="19" name="Shape 17"/>
          <p:cNvSpPr/>
          <p:nvPr/>
        </p:nvSpPr>
        <p:spPr>
          <a:xfrm>
            <a:off x="822960" y="4809744"/>
            <a:ext cx="10545775" cy="0"/>
          </a:xfrm>
          <a:prstGeom prst="line">
            <a:avLst/>
          </a:prstGeom>
          <a:noFill/>
          <a:ln w="9525">
            <a:solidFill>
              <a:srgbClr val="D8CDB6"/>
            </a:solidFill>
            <a:prstDash val="solid"/>
          </a:ln>
        </p:spPr>
      </p:sp>
      <p:sp>
        <p:nvSpPr>
          <p:cNvPr id="20" name="Text 18"/>
          <p:cNvSpPr/>
          <p:nvPr/>
        </p:nvSpPr>
        <p:spPr>
          <a:xfrm>
            <a:off x="822960" y="5047488"/>
            <a:ext cx="10241280" cy="822960"/>
          </a:xfrm>
          <a:prstGeom prst="rect">
            <a:avLst/>
          </a:prstGeom>
          <a:noFill/>
          <a:ln/>
        </p:spPr>
        <p:txBody>
          <a:bodyPr wrap="square" lIns="0" tIns="0" rIns="0" bIns="0" rtlCol="0" anchor="ctr"/>
          <a:lstStyle/>
          <a:p>
            <a:pPr marL="0" indent="0">
              <a:lnSpc>
                <a:spcPts val="2800"/>
              </a:lnSpc>
              <a:buNone/>
            </a:pPr>
            <a:r>
              <a:rPr lang="en-US" sz="2100" dirty="0">
                <a:solidFill>
                  <a:srgbClr val="26221C"/>
                </a:solidFill>
                <a:latin typeface="Bookman Old Style" pitchFamily="34" charset="0"/>
                <a:ea typeface="Bookman Old Style" pitchFamily="34" charset="-122"/>
                <a:cs typeface="Bookman Old Style" pitchFamily="34" charset="-120"/>
              </a:rPr>
              <a:t>Session 5 opens Phase 3 on Wednesday </a:t>
            </a:r>
            <a:r>
              <a:rPr lang="en-US" sz="2100" dirty="0" smtClean="0">
                <a:solidFill>
                  <a:srgbClr val="26221C"/>
                </a:solidFill>
                <a:latin typeface="Bookman Old Style" pitchFamily="34" charset="0"/>
                <a:ea typeface="Bookman Old Style" pitchFamily="34" charset="-122"/>
                <a:cs typeface="Bookman Old Style" pitchFamily="34" charset="-120"/>
              </a:rPr>
              <a:t>5</a:t>
            </a:r>
            <a:r>
              <a:rPr lang="en-US" sz="2100" baseline="30000" dirty="0" smtClean="0">
                <a:solidFill>
                  <a:srgbClr val="26221C"/>
                </a:solidFill>
                <a:latin typeface="Bookman Old Style" pitchFamily="34" charset="0"/>
                <a:ea typeface="Bookman Old Style" pitchFamily="34" charset="-122"/>
                <a:cs typeface="Bookman Old Style" pitchFamily="34" charset="-120"/>
              </a:rPr>
              <a:t>th</a:t>
            </a:r>
            <a:r>
              <a:rPr lang="en-US" sz="2100" dirty="0" smtClean="0">
                <a:solidFill>
                  <a:srgbClr val="26221C"/>
                </a:solidFill>
                <a:latin typeface="Bookman Old Style" pitchFamily="34" charset="0"/>
                <a:ea typeface="Bookman Old Style" pitchFamily="34" charset="-122"/>
                <a:cs typeface="Bookman Old Style" pitchFamily="34" charset="-120"/>
              </a:rPr>
              <a:t> August</a:t>
            </a:r>
            <a:r>
              <a:rPr lang="en-US" sz="2100" dirty="0">
                <a:solidFill>
                  <a:srgbClr val="26221C"/>
                </a:solidFill>
                <a:latin typeface="Bookman Old Style" pitchFamily="34" charset="0"/>
                <a:ea typeface="Bookman Old Style" pitchFamily="34" charset="-122"/>
                <a:cs typeface="Bookman Old Style" pitchFamily="34" charset="-120"/>
              </a:rPr>
              <a:t>: pricing, route to market, and which state you enter first.</a:t>
            </a:r>
            <a:endParaRPr lang="en-US" sz="2100" dirty="0"/>
          </a:p>
        </p:txBody>
      </p:sp>
      <p:sp>
        <p:nvSpPr>
          <p:cNvPr id="21" name="Text 19"/>
          <p:cNvSpPr/>
          <p:nvPr/>
        </p:nvSpPr>
        <p:spPr>
          <a:xfrm>
            <a:off x="822960" y="6382512"/>
            <a:ext cx="10515600" cy="274320"/>
          </a:xfrm>
          <a:prstGeom prst="rect">
            <a:avLst/>
          </a:prstGeom>
          <a:noFill/>
          <a:ln/>
        </p:spPr>
        <p:txBody>
          <a:bodyPr wrap="square" lIns="0" tIns="0" rIns="0" bIns="0" rtlCol="0" anchor="ctr"/>
          <a:lstStyle/>
          <a:p>
            <a:pPr marL="0" indent="0">
              <a:buNone/>
            </a:pPr>
            <a:r>
              <a:rPr lang="en-US" sz="900" b="1" dirty="0">
                <a:solidFill>
                  <a:srgbClr val="8B6E3D"/>
                </a:solidFill>
                <a:latin typeface="Calibri" pitchFamily="34" charset="0"/>
                <a:ea typeface="Calibri" pitchFamily="34" charset="-122"/>
                <a:cs typeface="Calibri" pitchFamily="34" charset="-120"/>
              </a:rPr>
              <a:t>A L R E A D Y   I N   Y O U R   S E T</a:t>
            </a:r>
            <a:r>
              <a:rPr lang="en-US" sz="1050" i="1" dirty="0">
                <a:solidFill>
                  <a:srgbClr val="6E5630"/>
                </a:solidFill>
                <a:latin typeface="Calibri" pitchFamily="34" charset="0"/>
                <a:ea typeface="Calibri" pitchFamily="34" charset="-122"/>
                <a:cs typeface="Calibri" pitchFamily="34" charset="-120"/>
              </a:rPr>
              <a:t>      No. 12 · The Three Gates   ·   No. 17 · The India Label</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0">
    <p:bg>
      <p:bgPr>
        <a:solidFill>
          <a:srgbClr val="FBF8F1"/>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366760" y="1874520"/>
            <a:ext cx="3383280" cy="3383280"/>
          </a:xfrm>
          <a:prstGeom prst="rect">
            <a:avLst/>
          </a:prstGeom>
        </p:spPr>
      </p:pic>
      <p:sp>
        <p:nvSpPr>
          <p:cNvPr id="3" name="Text 0"/>
          <p:cNvSpPr/>
          <p:nvPr/>
        </p:nvSpPr>
        <p:spPr>
          <a:xfrm>
            <a:off x="822960" y="2103120"/>
            <a:ext cx="6949440" cy="320040"/>
          </a:xfrm>
          <a:prstGeom prst="rect">
            <a:avLst/>
          </a:prstGeom>
          <a:noFill/>
          <a:ln/>
        </p:spPr>
        <p:txBody>
          <a:bodyPr wrap="square" lIns="0" tIns="0" rIns="0" bIns="0" rtlCol="0" anchor="ctr"/>
          <a:lstStyle/>
          <a:p>
            <a:pPr marL="0" indent="0">
              <a:buNone/>
            </a:pPr>
            <a:r>
              <a:rPr lang="en-US" sz="1100" b="1" kern="0" spc="340" dirty="0">
                <a:solidFill>
                  <a:srgbClr val="8B6E3D"/>
                </a:solidFill>
                <a:latin typeface="Calibri" pitchFamily="34" charset="0"/>
                <a:ea typeface="Calibri" pitchFamily="34" charset="-122"/>
                <a:cs typeface="Calibri" pitchFamily="34" charset="-120"/>
              </a:rPr>
              <a:t>T H A N K   Y O U</a:t>
            </a:r>
            <a:endParaRPr lang="en-US" sz="1100" dirty="0"/>
          </a:p>
        </p:txBody>
      </p:sp>
      <p:sp>
        <p:nvSpPr>
          <p:cNvPr id="4" name="Text 1"/>
          <p:cNvSpPr/>
          <p:nvPr/>
        </p:nvSpPr>
        <p:spPr>
          <a:xfrm>
            <a:off x="822960" y="2523744"/>
            <a:ext cx="6949440" cy="1554480"/>
          </a:xfrm>
          <a:prstGeom prst="rect">
            <a:avLst/>
          </a:prstGeom>
          <a:noFill/>
          <a:ln/>
        </p:spPr>
        <p:txBody>
          <a:bodyPr wrap="square" lIns="0" tIns="0" rIns="0" bIns="0" rtlCol="0" anchor="ctr"/>
          <a:lstStyle/>
          <a:p>
            <a:pPr marL="0" indent="0">
              <a:lnSpc>
                <a:spcPts val="5000"/>
              </a:lnSpc>
              <a:buNone/>
            </a:pPr>
            <a:r>
              <a:rPr lang="en-US" sz="3800" dirty="0">
                <a:solidFill>
                  <a:srgbClr val="26221C"/>
                </a:solidFill>
                <a:latin typeface="Bookman Old Style" pitchFamily="34" charset="0"/>
                <a:ea typeface="Bookman Old Style" pitchFamily="34" charset="-122"/>
                <a:cs typeface="Bookman Old Style" pitchFamily="34" charset="-120"/>
              </a:rPr>
              <a:t>See you Wednesday,</a:t>
            </a:r>
            <a:endParaRPr lang="en-US" sz="3800" dirty="0"/>
          </a:p>
          <a:p>
            <a:pPr marL="0" indent="0">
              <a:lnSpc>
                <a:spcPts val="5000"/>
              </a:lnSpc>
              <a:buNone/>
            </a:pPr>
            <a:r>
              <a:rPr lang="en-US" sz="3800" dirty="0" smtClean="0">
                <a:solidFill>
                  <a:srgbClr val="26221C"/>
                </a:solidFill>
                <a:latin typeface="Bookman Old Style" pitchFamily="34" charset="0"/>
                <a:ea typeface="Bookman Old Style" pitchFamily="34" charset="-122"/>
                <a:cs typeface="Bookman Old Style" pitchFamily="34" charset="-120"/>
              </a:rPr>
              <a:t>5</a:t>
            </a:r>
            <a:r>
              <a:rPr lang="en-US" sz="3800" baseline="30000" dirty="0" smtClean="0">
                <a:solidFill>
                  <a:srgbClr val="26221C"/>
                </a:solidFill>
                <a:latin typeface="Bookman Old Style" pitchFamily="34" charset="0"/>
                <a:ea typeface="Bookman Old Style" pitchFamily="34" charset="-122"/>
                <a:cs typeface="Bookman Old Style" pitchFamily="34" charset="-120"/>
              </a:rPr>
              <a:t>th</a:t>
            </a:r>
            <a:r>
              <a:rPr lang="en-US" sz="3800" dirty="0" smtClean="0">
                <a:solidFill>
                  <a:srgbClr val="26221C"/>
                </a:solidFill>
                <a:latin typeface="Bookman Old Style" pitchFamily="34" charset="0"/>
                <a:ea typeface="Bookman Old Style" pitchFamily="34" charset="-122"/>
                <a:cs typeface="Bookman Old Style" pitchFamily="34" charset="-120"/>
              </a:rPr>
              <a:t> August</a:t>
            </a:r>
            <a:r>
              <a:rPr lang="en-US" sz="3800" dirty="0">
                <a:solidFill>
                  <a:srgbClr val="26221C"/>
                </a:solidFill>
                <a:latin typeface="Bookman Old Style" pitchFamily="34" charset="0"/>
                <a:ea typeface="Bookman Old Style" pitchFamily="34" charset="-122"/>
                <a:cs typeface="Bookman Old Style" pitchFamily="34" charset="-120"/>
              </a:rPr>
              <a:t>.</a:t>
            </a:r>
            <a:endParaRPr lang="en-US" sz="3800" dirty="0"/>
          </a:p>
        </p:txBody>
      </p:sp>
      <p:sp>
        <p:nvSpPr>
          <p:cNvPr id="5" name="Shape 2"/>
          <p:cNvSpPr/>
          <p:nvPr/>
        </p:nvSpPr>
        <p:spPr>
          <a:xfrm>
            <a:off x="850392" y="4224528"/>
            <a:ext cx="2926080" cy="0"/>
          </a:xfrm>
          <a:prstGeom prst="line">
            <a:avLst/>
          </a:prstGeom>
          <a:noFill/>
          <a:ln w="12700">
            <a:solidFill>
              <a:srgbClr val="6E5630"/>
            </a:solidFill>
            <a:prstDash val="solid"/>
          </a:ln>
        </p:spPr>
      </p:sp>
      <p:sp>
        <p:nvSpPr>
          <p:cNvPr id="6" name="Text 3"/>
          <p:cNvSpPr/>
          <p:nvPr/>
        </p:nvSpPr>
        <p:spPr>
          <a:xfrm>
            <a:off x="822960" y="4480560"/>
            <a:ext cx="6858000" cy="731520"/>
          </a:xfrm>
          <a:prstGeom prst="rect">
            <a:avLst/>
          </a:prstGeom>
          <a:noFill/>
          <a:ln/>
        </p:spPr>
        <p:txBody>
          <a:bodyPr wrap="square" lIns="0" tIns="0" rIns="0" bIns="0" rtlCol="0" anchor="ctr"/>
          <a:lstStyle/>
          <a:p>
            <a:pPr>
              <a:lnSpc>
                <a:spcPts val="2100"/>
              </a:lnSpc>
            </a:pPr>
            <a:r>
              <a:rPr lang="en-US" sz="1400" dirty="0">
                <a:solidFill>
                  <a:srgbClr val="4A4338"/>
                </a:solidFill>
                <a:latin typeface="Calibri" pitchFamily="34" charset="0"/>
                <a:ea typeface="Calibri" pitchFamily="34" charset="-122"/>
                <a:cs typeface="Calibri" pitchFamily="34" charset="-120"/>
              </a:rPr>
              <a:t>Your folder this week. Your strategy on your call. Questions any time on the group and at </a:t>
            </a:r>
            <a:r>
              <a:rPr lang="en-US" sz="1400" dirty="0" smtClean="0">
                <a:hlinkClick r:id="rId4"/>
              </a:rPr>
              <a:t>office.ceo@mexicoindia.org</a:t>
            </a:r>
            <a:r>
              <a:rPr lang="en-US" sz="1400" dirty="0" smtClean="0"/>
              <a:t> </a:t>
            </a:r>
          </a:p>
          <a:p>
            <a:pPr>
              <a:lnSpc>
                <a:spcPts val="2100"/>
              </a:lnSpc>
            </a:pPr>
            <a:r>
              <a:rPr lang="en-US" sz="1400" dirty="0">
                <a:solidFill>
                  <a:srgbClr val="4A4338"/>
                </a:solidFill>
                <a:latin typeface="Calibri" pitchFamily="34" charset="0"/>
                <a:ea typeface="Calibri" pitchFamily="34" charset="-122"/>
                <a:cs typeface="Calibri" pitchFamily="34" charset="-120"/>
                <a:hlinkClick r:id="rId5"/>
              </a:rPr>
              <a:t>ceo@mexicoindia.org</a:t>
            </a:r>
            <a:r>
              <a:rPr lang="en-US" sz="1400" dirty="0">
                <a:solidFill>
                  <a:srgbClr val="4A4338"/>
                </a:solidFill>
                <a:latin typeface="Calibri" pitchFamily="34" charset="0"/>
                <a:ea typeface="Calibri" pitchFamily="34" charset="-122"/>
                <a:cs typeface="Calibri" pitchFamily="34" charset="-120"/>
              </a:rPr>
              <a:t> </a:t>
            </a:r>
          </a:p>
          <a:p>
            <a:pPr>
              <a:lnSpc>
                <a:spcPts val="2100"/>
              </a:lnSpc>
            </a:pPr>
            <a:endParaRPr lang="en-US" sz="1400" dirty="0"/>
          </a:p>
        </p:txBody>
      </p:sp>
      <p:sp>
        <p:nvSpPr>
          <p:cNvPr id="7" name="Text 4"/>
          <p:cNvSpPr/>
          <p:nvPr/>
        </p:nvSpPr>
        <p:spPr>
          <a:xfrm>
            <a:off x="822960" y="5394960"/>
            <a:ext cx="5486400" cy="292608"/>
          </a:xfrm>
          <a:prstGeom prst="rect">
            <a:avLst/>
          </a:prstGeom>
          <a:noFill/>
          <a:ln/>
        </p:spPr>
        <p:txBody>
          <a:bodyPr wrap="square" lIns="0" tIns="0" rIns="0" bIns="0" rtlCol="0" anchor="ctr"/>
          <a:lstStyle/>
          <a:p>
            <a:pPr marL="0" indent="0">
              <a:buNone/>
            </a:pPr>
            <a:r>
              <a:rPr lang="en-US" sz="1300" b="1" dirty="0">
                <a:solidFill>
                  <a:srgbClr val="26221C"/>
                </a:solidFill>
                <a:latin typeface="Calibri" pitchFamily="34" charset="0"/>
                <a:ea typeface="Calibri" pitchFamily="34" charset="-122"/>
                <a:cs typeface="Calibri" pitchFamily="34" charset="-120"/>
              </a:rPr>
              <a:t>Ravi K. Tiwari</a:t>
            </a:r>
            <a:endParaRPr lang="en-US" sz="1300" dirty="0"/>
          </a:p>
        </p:txBody>
      </p:sp>
      <p:sp>
        <p:nvSpPr>
          <p:cNvPr id="8" name="Text 5"/>
          <p:cNvSpPr/>
          <p:nvPr/>
        </p:nvSpPr>
        <p:spPr>
          <a:xfrm>
            <a:off x="822960" y="5669280"/>
            <a:ext cx="6400800" cy="274320"/>
          </a:xfrm>
          <a:prstGeom prst="rect">
            <a:avLst/>
          </a:prstGeom>
          <a:noFill/>
          <a:ln/>
        </p:spPr>
        <p:txBody>
          <a:bodyPr wrap="square" lIns="0" tIns="0" rIns="0" bIns="0" rtlCol="0" anchor="ctr"/>
          <a:lstStyle/>
          <a:p>
            <a:pPr marL="0" indent="0">
              <a:buNone/>
            </a:pPr>
            <a:r>
              <a:rPr lang="en-US" sz="1200" dirty="0">
                <a:solidFill>
                  <a:srgbClr val="4A4338"/>
                </a:solidFill>
                <a:latin typeface="Calibri" pitchFamily="34" charset="0"/>
                <a:ea typeface="Calibri" pitchFamily="34" charset="-122"/>
                <a:cs typeface="Calibri" pitchFamily="34" charset="-120"/>
              </a:rPr>
              <a:t>Chief Executive Officer, México–India Business Council</a:t>
            </a:r>
            <a:endParaRPr lang="en-US" sz="1200" dirty="0"/>
          </a:p>
        </p:txBody>
      </p:sp>
      <p:sp>
        <p:nvSpPr>
          <p:cNvPr id="9" name="Text 6"/>
          <p:cNvSpPr/>
          <p:nvPr/>
        </p:nvSpPr>
        <p:spPr>
          <a:xfrm>
            <a:off x="822960" y="5925312"/>
            <a:ext cx="7315200" cy="274320"/>
          </a:xfrm>
          <a:prstGeom prst="rect">
            <a:avLst/>
          </a:prstGeom>
          <a:noFill/>
          <a:ln/>
        </p:spPr>
        <p:txBody>
          <a:bodyPr wrap="square" lIns="0" tIns="0" rIns="0" bIns="0" rtlCol="0" anchor="ctr"/>
          <a:lstStyle/>
          <a:p>
            <a:pPr marL="0" indent="0">
              <a:buNone/>
            </a:pPr>
            <a:r>
              <a:rPr lang="en-US" sz="1200" dirty="0">
                <a:solidFill>
                  <a:srgbClr val="4A4338"/>
                </a:solidFill>
                <a:latin typeface="Calibri" pitchFamily="34" charset="0"/>
                <a:ea typeface="Calibri" pitchFamily="34" charset="-122"/>
                <a:cs typeface="Calibri" pitchFamily="34" charset="-120"/>
              </a:rPr>
              <a:t>ceo@mexicoindia.org   ·   www.mexicoindia.org   ·   linkedin.com/company/mibcorg</a:t>
            </a:r>
            <a:endParaRPr lang="en-US" sz="1200" dirty="0"/>
          </a:p>
        </p:txBody>
      </p:sp>
      <p:sp>
        <p:nvSpPr>
          <p:cNvPr id="10" name="Text 7"/>
          <p:cNvSpPr/>
          <p:nvPr/>
        </p:nvSpPr>
        <p:spPr>
          <a:xfrm>
            <a:off x="822960" y="6309360"/>
            <a:ext cx="7315200" cy="274320"/>
          </a:xfrm>
          <a:prstGeom prst="rect">
            <a:avLst/>
          </a:prstGeom>
          <a:noFill/>
          <a:ln/>
        </p:spPr>
        <p:txBody>
          <a:bodyPr wrap="square" lIns="0" tIns="0" rIns="0" bIns="0" rtlCol="0" anchor="ctr"/>
          <a:lstStyle/>
          <a:p>
            <a:pPr marL="0" indent="0">
              <a:buNone/>
            </a:pPr>
            <a:r>
              <a:rPr lang="en-US" sz="1050" b="1" kern="0" spc="160" dirty="0">
                <a:solidFill>
                  <a:srgbClr val="8B6E3D"/>
                </a:solidFill>
                <a:latin typeface="Calibri" pitchFamily="34" charset="0"/>
                <a:ea typeface="Calibri" pitchFamily="34" charset="-122"/>
                <a:cs typeface="Calibri" pitchFamily="34" charset="-120"/>
              </a:rPr>
              <a:t>D I S C O V E R .     C O N N E C T .     G R O W   I N   I N D I A .</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3327</Words>
  <Application>Microsoft Office PowerPoint</Application>
  <PresentationFormat>Widescreen</PresentationFormat>
  <Paragraphs>241</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Bookman Old Style</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Tequila Accelerator Session 4</dc:title>
  <dc:subject>PptxGenJS Presentation</dc:subject>
  <dc:creator>Mexico-India Business Council</dc:creator>
  <cp:lastModifiedBy>Microsoft account</cp:lastModifiedBy>
  <cp:revision>4</cp:revision>
  <dcterms:created xsi:type="dcterms:W3CDTF">2026-08-01T13:01:10Z</dcterms:created>
  <dcterms:modified xsi:type="dcterms:W3CDTF">2026-08-01T13:56:40Z</dcterms:modified>
</cp:coreProperties>
</file>