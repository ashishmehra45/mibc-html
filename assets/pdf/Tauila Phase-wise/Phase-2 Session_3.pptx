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3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628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minutes on Phase 1 close-out, then the gear change: foundations first, then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names, ever. Row four calmly, to camera.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right column is the reward for the left. Scores travel by voice on the call, then in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July decides November. Say it twice.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foundations, three actions, one tool. Set that rhythm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Trade Map live for sixty seconds if bandwidth allows: India, 2208, imports by origin. The room seeing México's line on screen is the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number, three documents, one rule: consistency. This is the smallest slide with the biggest port-delay prevention.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it lane by lane, once fast, once slow. Fifteen boxes; every later phase hangs on one of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items, two columns, one week. The prevention line replaces the old stalls slide: same lesson, action-first.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name the 29-of-32 figure again from stage; the last line lands it without the number. Offer the counsel connection openly.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Friday-for-live-review offer is the collection device. Confirm privately before showing any house's label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01 measured readiness; Tool 02 tracks evidence. Same rhythm: questionnaire opens, tool closes, 1:1 verifies.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three asks as this week's messages; repetition is the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pairing sells itself. Keep this slide to forty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pairing: folder in, strategy out. Stay for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quila/media/image-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4572000" cy="457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5192" y="502920"/>
            <a:ext cx="22677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270248" y="53035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MÉXICO–INDIA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270248" y="777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" kern="0" spc="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COUNCIL</a:t>
            </a:r>
            <a:endParaRPr lang="en-US" sz="620" dirty="0"/>
          </a:p>
        </p:txBody>
      </p:sp>
      <p:sp>
        <p:nvSpPr>
          <p:cNvPr id="6" name="Shape 3"/>
          <p:cNvSpPr/>
          <p:nvPr/>
        </p:nvSpPr>
        <p:spPr>
          <a:xfrm>
            <a:off x="4965192" y="978408"/>
            <a:ext cx="22677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33172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1  ·  SESSION 3 OF 8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86384" y="2697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4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Compliance</a:t>
            </a:r>
            <a:endParaRPr lang="en-US" sz="44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4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&amp; Licensing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7091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opens today. The tools, the numbers, the full journey of your bottle, and the actions your house takes this week.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 ·  Phase 2: Compliance &amp; Market Navigation  ·  22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PHASE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cohort stands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programme grows.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60520" y="1847088"/>
            <a:ext cx="720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houses join the Full Programme from the Listener Track this week. Bienvenidos; your questionnaire and consultation are being scheduled now.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73405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8803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files are complete.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60520" y="2898648"/>
            <a:ext cx="720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majority of houses have finished the questionnaire and the consultation. Scores are ready for every complete file.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8561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93192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few are pending.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60520" y="3950208"/>
            <a:ext cx="720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items take under forty minutes combined, and both close this week.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83717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9834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8B6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it matters.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160520" y="5001768"/>
            <a:ext cx="7205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Unscored houses cannot be matched to buyers. Phase 4 introductions are prepared only for complete files. Not a penalty; simply how buyer matching works.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60533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house is pending, a message from the Office of the CEO reaches you today with your two links.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OPENS 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 receive, and what happens this week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TODAY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507492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5074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spcAft>
                <a:spcPts val="1600"/>
              </a:spcAft>
              <a:buNone/>
            </a:pPr>
            <a:r>
              <a:rPr lang="en-US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2 Questionnaire. </a:t>
            </a: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and evidence, not opinions. Three new questions only: IMPI and Convenio status, proof points at home, your global suggested retail price</a:t>
            </a:r>
            <a:r>
              <a:rPr lang="en-US" dirty="0" smtClean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850"/>
              </a:lnSpc>
              <a:spcAft>
                <a:spcPts val="1600"/>
              </a:spcAft>
              <a:buNone/>
            </a:pP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Submission Pack, File 11. </a:t>
            </a: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folder, your English deck, your pricing in the Excel template. Dates on the page.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WEEK, ON YOUR 1:1 CALL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057400"/>
            <a:ext cx="50109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4028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50"/>
              </a:lnSpc>
              <a:spcAft>
                <a:spcPts val="1300"/>
              </a:spcAft>
              <a:buNone/>
            </a:pPr>
            <a:r>
              <a:rPr lang="en-US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readiness score, </a:t>
            </a: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dimensions, against your own evidence</a:t>
            </a:r>
            <a:r>
              <a:rPr lang="en-US" dirty="0" smtClean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ts val="1850"/>
              </a:lnSpc>
              <a:spcAft>
                <a:spcPts val="1300"/>
              </a:spcAft>
              <a:buNone/>
            </a:pP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gaps, </a:t>
            </a: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plainly, each with a fix and a date.
</a:t>
            </a:r>
            <a:endParaRPr lang="en-US" dirty="0" smtClean="0">
              <a:solidFill>
                <a:srgbClr val="4A43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850"/>
              </a:lnSpc>
              <a:spcAft>
                <a:spcPts val="1300"/>
              </a:spcAft>
              <a:buNone/>
            </a:pPr>
            <a:r>
              <a:rPr lang="en-US" b="1" dirty="0" smtClean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r>
              <a:rPr lang="en-US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entry strategy, </a:t>
            </a:r>
            <a:r>
              <a:rPr lang="en-US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customised: your SKU, your states, your channel, your price corridor. One plan per house.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0" cy="384048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asked what you know and what you intend. Phase 2 asks what you can show.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SIGNAL · WEEK THREE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Filing season is open, literally this month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5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Several states run brand and label registration on the excise year, with windows opening 1 April or 1 July. The July window is open now, and importers report registrations of four to five months in some states.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429000" cy="2514600"/>
          </a:xfrm>
          <a:prstGeom prst="roundRect">
            <a:avLst>
              <a:gd name="adj" fmla="val 2545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2944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3474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filed in the coming weeks can sell in the festive quarter. A label filed in October sells next year.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2697480"/>
            <a:ext cx="3429000" cy="2514600"/>
          </a:xfrm>
          <a:prstGeom prst="roundRect">
            <a:avLst>
              <a:gd name="adj" fmla="val 2545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944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it demands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90872" y="3474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folder, complete. File 11 exists so no filing ever waits on paper from México.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2697480"/>
            <a:ext cx="3429000" cy="2514600"/>
          </a:xfrm>
          <a:prstGeom prst="roundRect">
            <a:avLst>
              <a:gd name="adj" fmla="val 2545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2944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do today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02752" y="347472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tools, the numbers and the full journey, so nothing at the gate ever surprises you.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623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ritual, week three: one live signal, decoded for this cohort.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11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of the trade, all free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73405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HS number, in both countries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48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60273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by state: where the opportunity sits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452628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171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447141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chain: port to shelf, one diagram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9110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32320" y="186537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1: assemble your folder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0" y="278892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27797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273405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2: file your trademark, Class 33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0" y="365760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6484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360273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3: hand over your label file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0" y="452628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5171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2320" y="4471416"/>
            <a:ext cx="4709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02: your Compliance Checklist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2960" y="5715000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7044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foundations everyone asked for. Then the actions your house takes this week.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THE TOOLS OF THE TRADE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Five tools, what each answers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ITC Trade Map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4160520" y="1801368"/>
            <a:ext cx="7205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trademap.org. Who imports what, from whom: India's imports under 2208, by origin and year. Free with registration.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532888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79192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Export Potential Map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160520" y="2697480"/>
            <a:ext cx="7205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exportpotential.intracen.org. Untapped export potential, México to India, product by product. Free.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75304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ITC MacMap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160520" y="3593592"/>
            <a:ext cx="7205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macmap.org. Tariffs and import measures for any HS line, any country pair. Free.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325112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471416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ICEGATE duty calculator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160520" y="4489704"/>
            <a:ext cx="7205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official customs portal computes the duty on your CIF, line by line. Free.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221224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367528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60"/>
              </a:lnSpc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Santander Trade Portal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160520" y="5385816"/>
            <a:ext cx="7205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82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Import-export flows and a customs duties tool by product code. Free registration gives limited access; full access is for Santander clients.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reach the group with today's recording. Ten minutes on Trade Map will teach you more about your competition than any report you can buy.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YOUR NUMBER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HS code, in both countries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· EXPORT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07492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9514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2208.90.03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3054097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Tequila, on your CAET, your invoice and your broker's pedimento. Confirm the exact line per SKU with your broker.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35508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IMPORT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50109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506443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dirty="0" smtClean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2208.90.11</a:t>
            </a:r>
          </a:p>
          <a:p>
            <a:r>
              <a:rPr lang="en-US" sz="4000" dirty="0" smtClean="0">
                <a:solidFill>
                  <a:srgbClr val="A07E45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2208.90.91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355080" y="3528653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classifies tequila under this heading; the exact eight-digit line is carried on your importer's bill of entry, and that line is what the duty attaches to.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89320" y="1828800"/>
            <a:ext cx="0" cy="237744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434840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177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matter: 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six digits, 2208.90, are the same worldwide; each country adds its own tail. Your invoice, CoA and CAET should carry one consistent code, and any mismatch between papers is a port query waiting to happen.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number in Trade Map and MacMap from the previous slide, and the tools come alive.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</a:t>
            </a:r>
            <a:r>
              <a:rPr lang="en-US" sz="1300" b="1" kern="0" spc="300" dirty="0" smtClean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VALUE CHAIN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Port to shelf, the whole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60934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MÉXICO · THE PAPER SIDE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96112" y="192024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97510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Distillery &amp; bottler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on every label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34086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26664" y="192024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18104" y="197510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verifies the lot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shipment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73752" y="234086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57216" y="192024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197510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CAET issued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· class · ABV · marca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04304" y="234086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287768" y="192024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79208" y="197510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files export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+ pedimento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234086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192024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0" y="197510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of Manzanillo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sealed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311810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CROSSING · PORT OF ENTRY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6112" y="342900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48386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freight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4 to 6 weeks, routing-dependent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84962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26664" y="342900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18104" y="348386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port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Nhava Sheva / Mundra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73752" y="384962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57216" y="342900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8656" y="348386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of entry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on ICEGATE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04304" y="384962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87768" y="342900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79208" y="348386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FSSAI check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consignment + label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34856" y="384962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418320" y="342900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0" y="348386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paid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150% on CIF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2960" y="4626864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· THE MARKET SIDE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96112" y="4937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7552" y="499262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Bonded warehouse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rests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0" y="535838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026664" y="4937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18104" y="499262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Over-label applied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additions only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73752" y="535838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157216" y="4937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48656" y="499262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release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permit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04304" y="535838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287768" y="4937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9208" y="499262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registered states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134856" y="5358384"/>
            <a:ext cx="265176" cy="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418320" y="4937760"/>
            <a:ext cx="182880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09760" y="4992624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1100" b="1" dirty="0">
                <a:solidFill>
                  <a:srgbClr val="6E5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&amp; bar
</a:t>
            </a:r>
            <a:r>
              <a:rPr lang="en-US" sz="8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consumer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0424160" y="2779776"/>
            <a:ext cx="0" cy="59436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10424160" y="4288536"/>
            <a:ext cx="0" cy="594360"/>
          </a:xfrm>
          <a:prstGeom prst="line">
            <a:avLst/>
          </a:prstGeom>
          <a:noFill/>
          <a:ln w="19050">
            <a:solidFill>
              <a:srgbClr val="8B6E3D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822960" y="59618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is either paper or money. Your folder feeds the paper; your Phase 3 model prices the money.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822960" y="6355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  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File 14 · The Consignment Journey, in this week's set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22960" y="6291072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1 · THIS WEEK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Assemble your folder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MÉXICO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048256"/>
            <a:ext cx="507492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31136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CRT certificate,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current, per SKU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NOM-marked label,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scan or photo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 registration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Convenio if a third party distils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Padrón proof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one CAET example if you have exported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recent CoA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lead SKU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048256"/>
            <a:ext cx="501091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31136"/>
            <a:ext cx="4983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Brand-owner authorisation letter,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one page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Trademark proof,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your India filing status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deck in English,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fifteen slides maximum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Excel template, numbers only
</a:t>
            </a:r>
            <a:r>
              <a:rPr lang="en-US" sz="14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 photography,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white background plus one lifestyle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89320" y="1783080"/>
            <a:ext cx="0" cy="356616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folder prevents the three classic stalls: label queries at the port, CoA mismatches, and the missing one-page letter. Complete beats perfect; scans are fine.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  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11 · The Submission Pack  +  File 03 · The Mexican Paper Trail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6291072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2 · THIS WEEK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File your trademark: Class 33, step by step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17904" y="1746504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Search first
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marca through IP India's public search. A clear name files clean; a conflict is better found today than opposed later.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998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17904" y="3072384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Choose the route
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national filing in India, or the Madrid Protocol through IMPI designating India. Your counsel advises which; MIBC connects you.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43484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425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17904" y="4398264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File in Class 33
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Alcoholic beverages. Discuss Classes 32 and 35 with counsel; do not over-buy classes you will never use.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7393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95744" y="1746504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Examination and reply
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may raise objections; counsel answers them. Routine, not alarming.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310896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0998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95744" y="3072384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Journal publication
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mark is published; the law allows four months for oppositions. Silence means it proceeds.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4434840"/>
            <a:ext cx="493776" cy="493776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4256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95744" y="4398264"/>
            <a:ext cx="4754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15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Registration
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issued; protection runs from your filing date, valid ten years, renewable. This is why filing now wins even before the certificate arrives.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fees are modest, thousands of rupees, not lakhs; the squatting you prevent costs years. Most of this room has not filed: this is your slide.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6355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  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07 · Protecting Your Marca, already with you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6291072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3 · THIS WEEK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 over your label 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India adds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60520" y="1892808"/>
            <a:ext cx="7205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Drink declaration, the statutory warning in English sized to the pack, ABV within ±1% of actual, importer details and MRP space. All of it on a rear over-label at the bonded warehouse.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05409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never changes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60520" y="3218688"/>
            <a:ext cx="7205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origin artwork and your NOM marking. Nobody redraws your label for India.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7997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 need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60520" y="4544568"/>
            <a:ext cx="7205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source files or press-quality PDF, front and back, lead SKU first. If your files sit with a designer or printer, this is the week to collect them.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file by Friday, and next Wednesday your label is reviewed live in Session 4.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6355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  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04 · The India Gate, already with you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6291072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Compliance Checklist: your document 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60520" y="1892808"/>
            <a:ext cx="7205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house: every document from today's folder list, marked held, pending or missing, with its owner and its date.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305409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20040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it drives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60520" y="3218688"/>
            <a:ext cx="7205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Session 4 label work, your state filing sequence, and the go decision before money moves. A green checklist is a filing that never bounces.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379976"/>
            <a:ext cx="1054303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26280"/>
            <a:ext cx="3063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40"/>
              </a:lnSpc>
              <a:buNone/>
            </a:pPr>
            <a:r>
              <a:rPr lang="en-US" sz="17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When it reaches you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60520" y="4544568"/>
            <a:ext cx="7205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48"/>
              </a:lnSpc>
              <a:buNone/>
            </a:pP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folders arrive, discussed on your 1:1. Complete folders move first.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63550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REFERENCE   </a:t>
            </a: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File 13 · The Compliance Checklist explained, in this week's set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6291072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SESSION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things on your side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653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Send the folder by Friday
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items, two columns, scans fine. Friday folders get their label reviewed live next Wednesday.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54480" y="2953512"/>
            <a:ext cx="981151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154680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45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645920" y="315468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Complete the Phase 2 questionnaire
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mostly uploads, three new questions. It builds your checklist.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554480" y="4233672"/>
            <a:ext cx="9811512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4434840"/>
            <a:ext cx="566928" cy="566928"/>
          </a:xfrm>
          <a:prstGeom prst="ellipse">
            <a:avLst/>
          </a:prstGeom>
          <a:solidFill>
            <a:srgbClr val="8B6E3D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256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645920" y="443484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500"/>
              </a:spcAft>
              <a:buNone/>
            </a:pPr>
            <a:r>
              <a:rPr lang="en-US" sz="180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Book your 1:1 if pending
</a:t>
            </a:r>
            <a:r>
              <a:rPr lang="en-US" sz="14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gaps and your customised strategy are delivered on the call. No call, no Phase 4 preparation.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5760720"/>
            <a:ext cx="10543032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897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 ·  Labelling, Import &amp; Customs  ·  Wednesday 29 July 2026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41248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Session 4: your label goes to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Artwork adaptation, live
</a:t>
            </a:r>
            <a:r>
              <a:rPr lang="en-US" sz="12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cohort labels on screen, anonymised where asked.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6949440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8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Customs valuation and the duty stack
</a:t>
            </a:r>
            <a:r>
              <a:rPr lang="en-US" sz="12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CIF is assessed, and what it means for your invoice.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6949440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documentation pack
</a:t>
            </a:r>
            <a:r>
              <a:rPr lang="en-US" sz="12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consignment file assembled against the fifteen boxes of today's diagram.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6949440" cy="0"/>
          </a:xfrm>
          <a:prstGeom prst="line">
            <a:avLst/>
          </a:prstGeom>
          <a:noFill/>
          <a:ln w="11430">
            <a:solidFill>
              <a:srgbClr val="D8CD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00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spcAft>
                <a:spcPts val="300"/>
              </a:spcAft>
              <a:buNone/>
            </a:pPr>
            <a:r>
              <a:rPr lang="en-US" sz="1550" dirty="0">
                <a:solidFill>
                  <a:srgbClr val="6E56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Filing sequence
</a:t>
            </a:r>
            <a:r>
              <a:rPr lang="en-US" sz="12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chosen states, ordered against the excise-year calendar.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229600" y="1783080"/>
            <a:ext cx="3136392" cy="3977640"/>
          </a:xfrm>
          <a:prstGeom prst="roundRect">
            <a:avLst>
              <a:gd name="adj" fmla="val 2041"/>
            </a:avLst>
          </a:prstGeom>
          <a:solidFill>
            <a:srgbClr val="F3EDE0"/>
          </a:solidFill>
          <a:ln w="12700">
            <a:solidFill>
              <a:srgbClr val="D8CD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0496" y="2194560"/>
            <a:ext cx="2514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b="1" kern="0" spc="2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OF 8
</a:t>
            </a:r>
            <a:r>
              <a:rPr lang="en-US" sz="16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Folder by Friday.</a:t>
            </a:r>
            <a:endParaRPr lang="en-US" sz="11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Label live on Wednesday.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8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equila/media/image-1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5720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50292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86384" y="13258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folder this week.</a:t>
            </a:r>
            <a:endParaRPr lang="en-US" sz="34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400" dirty="0">
                <a:solidFill>
                  <a:srgbClr val="26221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Your strategy on your call.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22960" y="3291840"/>
            <a:ext cx="2926080" cy="0"/>
          </a:xfrm>
          <a:prstGeom prst="line">
            <a:avLst/>
          </a:prstGeom>
          <a:noFill/>
          <a:ln w="15875">
            <a:solidFill>
              <a:srgbClr val="8B6E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34747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now, or any time on the group and at ceo@mexicoindia.org.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2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K. Tiwari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4782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3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Officer, México–India Business Council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22960" y="51206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ceo@mexicoindia.org   ·   www.mexicoindia.org   ·   linkedin.com/company/mibcorg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2296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B6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DISCOVER.   CONNECT.   GROW IN INDIA.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1714</Words>
  <Application>Microsoft Office PowerPoint</Application>
  <PresentationFormat>Widescreen</PresentationFormat>
  <Paragraphs>201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Tequila Accelerator · Session 3</dc:title>
  <dc:subject>PptxGenJS Presentation</dc:subject>
  <dc:creator>México–India Business Council</dc:creator>
  <cp:lastModifiedBy>Windows 11</cp:lastModifiedBy>
  <cp:revision>3</cp:revision>
  <dcterms:created xsi:type="dcterms:W3CDTF">2026-07-22T13:33:46Z</dcterms:created>
  <dcterms:modified xsi:type="dcterms:W3CDTF">2026-07-22T14:44:15Z</dcterms:modified>
</cp:coreProperties>
</file>