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people by name as they join. One breath, then: today has two parts. First, the programme you have joined. Second, the first working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part one is the deal. Part two is the work. Fifteen minutes on part one, then we teach.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264 is the verified registration count from the launch webinar. Selected, not enrolled. Let that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31 and 31: full symmetry. Peers, not competitors: each brand occupies a different rung and a different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reason they joined. Slow down on the Consulate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shape they saw at the webinar. The next four slides show what the shape contains.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selling slide pair. Walk the YOU RECEIVE column, not the topics. Detail is the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8 is the destination slide made real. Do not over-promise the date; the honesty builds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row two twice: a one-pager on every single topic. That is the sentence that separates this from every webinar series they have seen.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and let them read. Sixteen numbered documents is the dazzle: nobody else in this corridor hands over a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Repeat the phrase on a schedule, not on request. Mentorship is structured into the programme, not offered as a courtesy.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closing line is the moat. Deliver it plainly.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asks, none negotiable. The decision-maker ask matters most: pricing decisions stall programmes.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Housekeeping, kept brisk.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Genuine warmth here; several listeners will convert. No pressure is the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Credentials in thirty seconds; the corridor speaks for itself. USD 11.7 billion is the Embassy of India 2024 figure.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Gear change. From selling the programme to doing the work. Voice drops half a register.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weekly ritual begins: one live market signal every session. Do not go deep on mechanics; that is Phase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webinar said 28 markets. Today: which ones matter and why. Tell one Goa story and one Delhi policy-swing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who already sells to Indian diaspora buyers in the US; their instincts transfer. Festive quarter returns on the product-fit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Brisk; each door becomes its own module later. The fifth-door line is the MIBC differentiator.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ladder bottom to top, pause on the gap. D'YAVOL entering at 20 to 30 thousand rupees proves Indian capital believes in the ultra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slide they photograph. Walk every line. FOB of USD 15 lands at roughly USD 90 to 110 on a Mumbai shelf, exactly where Patrón and Don Julio sit on the previous slide. The maths and the shelf agree.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faces: some will realise a SKU cannot travel. That is the point of Week 1, before money is spent.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three mezcal and agave houses at the last row; give them their moment. All of this feeds the questionnaire.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Coffee-table voice, not slides voice. Fifteen years: ProMéxico, Ontario, now MIBC. One real anecdote per truth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gates spend: this programme will tell some brands to fix before they file. That honesty is the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thesis template aloud twice. The written-reaction promise creates the first personal touchpoint.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loop: the homework feeds every item here. No questionnaire, no briefing.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 time: 31 brands cannot all speak; invite five or six, promise the rest their moment on WhatsApp introductions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them. Recording, questionnaire and the first two India Files land today. Stay on after the formal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image" Target="../media/image-13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quila/media/image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828800"/>
            <a:ext cx="4572000" cy="457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5192" y="502920"/>
            <a:ext cx="2267712" cy="0"/>
          </a:xfrm>
          <a:prstGeom prst="line">
            <a:avLst/>
          </a:prstGeom>
          <a:noFill/>
          <a:ln w="15875">
            <a:solidFill>
              <a:srgbClr val="8B6E3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270248" y="53035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MÉXICO–INDIA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270248" y="777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spc="500" kern="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COUNCIL</a:t>
            </a:r>
            <a:endParaRPr lang="en-US" sz="620" dirty="0"/>
          </a:p>
        </p:txBody>
      </p:sp>
      <p:sp>
        <p:nvSpPr>
          <p:cNvPr id="6" name="Shape 3"/>
          <p:cNvSpPr/>
          <p:nvPr/>
        </p:nvSpPr>
        <p:spPr>
          <a:xfrm>
            <a:off x="4965192" y="978408"/>
            <a:ext cx="2267712" cy="0"/>
          </a:xfrm>
          <a:prstGeom prst="line">
            <a:avLst/>
          </a:prstGeom>
          <a:noFill/>
          <a:ln w="15875">
            <a:solidFill>
              <a:srgbClr val="8B6E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37744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3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1  ·  KICKOFF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86384" y="27432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6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Tequila Accelerator</a:t>
            </a:r>
            <a:endParaRPr lang="en-US" sz="46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6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begins today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617720"/>
            <a:ext cx="2926080" cy="0"/>
          </a:xfrm>
          <a:prstGeom prst="line">
            <a:avLst/>
          </a:prstGeom>
          <a:noFill/>
          <a:ln w="15875">
            <a:solidFill>
              <a:srgbClr val="8B6E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8006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the first cohort of Mexican tequila and mezcal brands entering the Indian market, together.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·  Phase 1: India Opportunity &amp; Product Readiness  ·  8 July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86384" y="26060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Programme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3886200"/>
            <a:ext cx="2926080" cy="0"/>
          </a:xfrm>
          <a:prstGeom prst="line">
            <a:avLst/>
          </a:prstGeom>
          <a:noFill/>
          <a:ln w="15875">
            <a:solidFill>
              <a:srgbClr val="8B6E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06908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have joined, how the eight weeks run, and everything you will hold in your hands along the way.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quila/media/image-2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737360"/>
            <a:ext cx="4206240" cy="4206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2801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BEGIN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786384" y="169164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7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264 registrations.</a:t>
            </a:r>
            <a:endParaRPr lang="en-US" sz="37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7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 are the ones we chose.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822960" y="3703320"/>
            <a:ext cx="2926080" cy="0"/>
          </a:xfrm>
          <a:prstGeom prst="line">
            <a:avLst/>
          </a:prstGeom>
          <a:noFill/>
          <a:ln w="15875">
            <a:solidFill>
              <a:srgbClr val="8B6E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38862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selective programme. You are here because your brand is export-ready and serious about India. Over the next eight weeks, we will earn that seriousness together.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COHORT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9601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76"/>
              </a:lnSpc>
              <a:buNone/>
            </a:pPr>
            <a:r>
              <a:rPr lang="en-US" sz="32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Who is in the room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383280" cy="310896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2249424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pic>
        <p:nvPicPr>
          <p:cNvPr id="6" name="Image 0" descr="/home/claude/tequila/media/image-3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0036" y="2423892"/>
            <a:ext cx="309433" cy="3094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1089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A07E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31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1115568" y="406908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in the full programme, through to buyer engagement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0" y="1920240"/>
            <a:ext cx="3383280" cy="310896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81728" y="2249424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pic>
        <p:nvPicPr>
          <p:cNvPr id="11" name="Image 1" descr="/home/claude/tequila/media/image-3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196" y="2423892"/>
            <a:ext cx="309433" cy="30943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1089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A07E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31</a:t>
            </a:r>
            <a:endParaRPr lang="en-US" sz="5200" dirty="0"/>
          </a:p>
        </p:txBody>
      </p:sp>
      <p:sp>
        <p:nvSpPr>
          <p:cNvPr id="13" name="Text 9"/>
          <p:cNvSpPr/>
          <p:nvPr/>
        </p:nvSpPr>
        <p:spPr>
          <a:xfrm>
            <a:off x="4681728" y="406908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on the Listener Track, learning alongside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955280" y="1920240"/>
            <a:ext cx="3383280" cy="310896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47888" y="2249424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pic>
        <p:nvPicPr>
          <p:cNvPr id="16" name="Image 2" descr="/home/claude/tequila/media/image-3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356" y="2423892"/>
            <a:ext cx="309433" cy="30943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31089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A07E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5200" dirty="0"/>
          </a:p>
        </p:txBody>
      </p:sp>
      <p:sp>
        <p:nvSpPr>
          <p:cNvPr id="18" name="Text 13"/>
          <p:cNvSpPr/>
          <p:nvPr/>
        </p:nvSpPr>
        <p:spPr>
          <a:xfrm>
            <a:off x="8247888" y="406908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destination: the Indian premium spirits market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22960" y="53949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not entering India alone. You are entering it with a cohort of peers, not competitors, all moving in the same direction.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DESTINATION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9601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 eight weeks, your brand stands in front of Indian buyers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we do points to one moment: the Tequila Tasting and Market Entry Evening, where you are introduced to importers, distributors and luxury buyers, with the Consulate of México behind you.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154680"/>
            <a:ext cx="69494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3392424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pic>
        <p:nvPicPr>
          <p:cNvPr id="7" name="Image 0" descr="/home/claude/tequila/media/image-4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8113" y="3528121"/>
            <a:ext cx="240670" cy="24067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19072" y="3300984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arrive prepared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719072" y="3630168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Compliant, priced, positioned, and ready for the Indian market.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22960" y="4288536"/>
            <a:ext cx="69494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42416" y="4526280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pic>
        <p:nvPicPr>
          <p:cNvPr id="12" name="Image 1" descr="/home/claude/tequila/media/image-4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113" y="4661977"/>
            <a:ext cx="240670" cy="24067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19072" y="443484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meet the right buyers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719072" y="4764024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introductions to vetted importers and distributors.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2960" y="5422392"/>
            <a:ext cx="69494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042416" y="5660136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pic>
        <p:nvPicPr>
          <p:cNvPr id="17" name="Image 2" descr="/home/claude/tequila/media/image-4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113" y="5795833"/>
            <a:ext cx="240670" cy="24067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19072" y="5568696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leave with momentum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719072" y="5897880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conversations, real leads, and a plan to scale.</a:t>
            </a:r>
            <a:endParaRPr lang="en-US" sz="1150" dirty="0"/>
          </a:p>
        </p:txBody>
      </p:sp>
      <p:pic>
        <p:nvPicPr>
          <p:cNvPr id="20" name="Image 3" descr="/home/claude/tequila/media/image-4-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3108960"/>
            <a:ext cx="3200400" cy="32004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29600" y="2103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Picture your bottle on that table.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8229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40"/>
              </a:lnSpc>
              <a:buNone/>
            </a:pPr>
            <a:r>
              <a:rPr lang="en-US" sz="30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Four phases. Eight weeks. Eight sessions.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weekly 60-minute cohort session, plus one-on-one guidance from market and industry experts.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2697480" cy="3154680"/>
          </a:xfrm>
          <a:prstGeom prst="roundRect">
            <a:avLst>
              <a:gd name="adj" fmla="val 2373"/>
            </a:avLst>
          </a:prstGeom>
          <a:solidFill>
            <a:srgbClr val="F3EDE0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441448"/>
            <a:ext cx="640080" cy="640080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4323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32278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97280" y="350215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Opportunity &amp; Product Readiness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4389120"/>
            <a:ext cx="2167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assessment, gap analysis, and your India Opportunity Briefing.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685032" y="2148840"/>
            <a:ext cx="2697480" cy="3154680"/>
          </a:xfrm>
          <a:prstGeom prst="roundRect">
            <a:avLst>
              <a:gd name="adj" fmla="val 2373"/>
            </a:avLst>
          </a:prstGeom>
          <a:solidFill>
            <a:srgbClr val="F3EDE0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59352" y="2441448"/>
            <a:ext cx="640080" cy="640080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13" name="Text 11"/>
          <p:cNvSpPr/>
          <p:nvPr/>
        </p:nvSpPr>
        <p:spPr>
          <a:xfrm>
            <a:off x="3959352" y="24323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959352" y="32278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959352" y="350215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Market Navigation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59352" y="4389120"/>
            <a:ext cx="2167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Licensing, state excise, labelling, import and customs.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547104" y="2148840"/>
            <a:ext cx="2697480" cy="3154680"/>
          </a:xfrm>
          <a:prstGeom prst="roundRect">
            <a:avLst>
              <a:gd name="adj" fmla="val 2373"/>
            </a:avLst>
          </a:prstGeom>
          <a:solidFill>
            <a:srgbClr val="F3EDE0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21424" y="2441448"/>
            <a:ext cx="640080" cy="640080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19" name="Text 17"/>
          <p:cNvSpPr/>
          <p:nvPr/>
        </p:nvSpPr>
        <p:spPr>
          <a:xfrm>
            <a:off x="6821424" y="24323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21424" y="32278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5–6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821424" y="350215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Readiness &amp; Positioning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21424" y="4389120"/>
            <a:ext cx="2167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 brand narrative, route-to-market, differentiation.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9409176" y="2148840"/>
            <a:ext cx="2697480" cy="3154680"/>
          </a:xfrm>
          <a:prstGeom prst="roundRect">
            <a:avLst>
              <a:gd name="adj" fmla="val 2373"/>
            </a:avLst>
          </a:prstGeom>
          <a:solidFill>
            <a:srgbClr val="F3EDE0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83496" y="2441448"/>
            <a:ext cx="640080" cy="640080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25" name="Text 23"/>
          <p:cNvSpPr/>
          <p:nvPr/>
        </p:nvSpPr>
        <p:spPr>
          <a:xfrm>
            <a:off x="9683496" y="24323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683496" y="32278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7–8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683496" y="350215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Mission &amp; Buyer Engagement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83496" y="4389120"/>
            <a:ext cx="2167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trade mission, buyer introductions, the Tequila Tasting.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822960" y="55778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Followed by two months of post-programme advisory: distributor follow-up and expansion planning.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CALENDAR · SESSIONS 1–4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8229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4"/>
              </a:lnSpc>
              <a:buNone/>
            </a:pPr>
            <a:r>
              <a:rPr lang="en-US" sz="28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eight sessions, in detail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35331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these now. Every session ends with deliverables in your hands. All sessions live, México morning / India evening.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10543032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2084832"/>
            <a:ext cx="566928" cy="566928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7" name="Text 5"/>
          <p:cNvSpPr/>
          <p:nvPr/>
        </p:nvSpPr>
        <p:spPr>
          <a:xfrm>
            <a:off x="1042416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792224" y="2029968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8 July
</a:t>
            </a:r>
            <a:pPr indent="0" marL="0">
              <a:lnSpc>
                <a:spcPts val="1400"/>
              </a:lnSpc>
              <a:buNone/>
            </a:pPr>
            <a:r>
              <a:rPr lang="en-US" sz="900" b="1" spc="2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01568" y="1956816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3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Opportunity &amp; Product Readiness
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market: states, channels, consumers, the competitive shelf, and the FOB-to-shelf price equation.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83880" y="1993392"/>
            <a:ext cx="0" cy="749808"/>
          </a:xfrm>
          <a:prstGeom prst="line">
            <a:avLst/>
          </a:prstGeom>
          <a:noFill/>
          <a:ln w="12700">
            <a:solidFill>
              <a:srgbClr val="D8CD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1947672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b="1" spc="2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
</a:t>
            </a:r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01: the Readiness Questionnaire
</a:t>
            </a:r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One-pagers: The State Map · The Landed-Cost Equation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22960" y="3017520"/>
            <a:ext cx="10543032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2416" y="3273552"/>
            <a:ext cx="566928" cy="566928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14" name="Text 12"/>
          <p:cNvSpPr/>
          <p:nvPr/>
        </p:nvSpPr>
        <p:spPr>
          <a:xfrm>
            <a:off x="1042416" y="3264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92224" y="3218688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15 July
</a:t>
            </a:r>
            <a:pPr indent="0" marL="0">
              <a:lnSpc>
                <a:spcPts val="1400"/>
              </a:lnSpc>
              <a:buNone/>
            </a:pPr>
            <a:r>
              <a:rPr lang="en-US" sz="900" b="1" spc="2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01568" y="3145536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3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Deep-Dive &amp; Opportunity Briefing
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readiness debrief, gap and risk analysis brand by brand, and the go-or-fix gate before compliance spend.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83880" y="3182112"/>
            <a:ext cx="0" cy="749808"/>
          </a:xfrm>
          <a:prstGeom prst="line">
            <a:avLst/>
          </a:prstGeom>
          <a:noFill/>
          <a:ln w="12700">
            <a:solidFill>
              <a:srgbClr val="D8CD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3136392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b="1" spc="2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
</a:t>
            </a:r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individual India Opportunity Briefing
</a:t>
            </a:r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No. 1: readiness review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22960" y="4206240"/>
            <a:ext cx="10543032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2416" y="4462272"/>
            <a:ext cx="566928" cy="566928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21" name="Text 19"/>
          <p:cNvSpPr/>
          <p:nvPr/>
        </p:nvSpPr>
        <p:spPr>
          <a:xfrm>
            <a:off x="1042416" y="4453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792224" y="4407408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22 July
</a:t>
            </a:r>
            <a:pPr indent="0" marL="0">
              <a:lnSpc>
                <a:spcPts val="1400"/>
              </a:lnSpc>
              <a:buNone/>
            </a:pPr>
            <a:r>
              <a:rPr lang="en-US" sz="900" b="1" spc="2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401568" y="4334256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3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Licensing
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import gate end to end: FSSAI licence, IEC, per-consignment NOC, and state label registration.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83880" y="4370832"/>
            <a:ext cx="0" cy="749808"/>
          </a:xfrm>
          <a:prstGeom prst="line">
            <a:avLst/>
          </a:prstGeom>
          <a:noFill/>
          <a:ln w="12700">
            <a:solidFill>
              <a:srgbClr val="D8CD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66760" y="4325112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b="1" spc="2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
</a:t>
            </a:r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Compliance Checklist &amp; document map
</a:t>
            </a:r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One-pagers: FSSAI 2025 Labels · State Excise Primer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22960" y="5394960"/>
            <a:ext cx="10543032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2416" y="5650992"/>
            <a:ext cx="566928" cy="566928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28" name="Text 26"/>
          <p:cNvSpPr/>
          <p:nvPr/>
        </p:nvSpPr>
        <p:spPr>
          <a:xfrm>
            <a:off x="1042416" y="5641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1792224" y="5596128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29 July
</a:t>
            </a:r>
            <a:pPr indent="0" marL="0">
              <a:lnSpc>
                <a:spcPts val="1400"/>
              </a:lnSpc>
              <a:buNone/>
            </a:pPr>
            <a:r>
              <a:rPr lang="en-US" sz="900" b="1" spc="2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401568" y="5522976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3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Labelling, Import &amp; Customs
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Over-labelling and artwork adaptation, customs valuation, the duty stack, and your documentation file.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183880" y="5559552"/>
            <a:ext cx="0" cy="749808"/>
          </a:xfrm>
          <a:prstGeom prst="line">
            <a:avLst/>
          </a:prstGeom>
          <a:noFill/>
          <a:ln w="12700">
            <a:solidFill>
              <a:srgbClr val="D8CD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66760" y="5513832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b="1" spc="2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
</a:t>
            </a:r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adaptation review, per brand
</a:t>
            </a:r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Documentation Pack · 1:1 No. 2: compliance file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22960" y="65379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Recordings, decks and one-pagers follow every session within 24 hours.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CALENDAR · SESSIONS 5–8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8229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4"/>
              </a:lnSpc>
              <a:buNone/>
            </a:pPr>
            <a:r>
              <a:rPr lang="en-US" sz="28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eight sessions, in detail (continued)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35331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these now. Every session ends with deliverables in your hands. All sessions live, México morning / India evening.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10543032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2084832"/>
            <a:ext cx="566928" cy="566928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7" name="Text 5"/>
          <p:cNvSpPr/>
          <p:nvPr/>
        </p:nvSpPr>
        <p:spPr>
          <a:xfrm>
            <a:off x="1042416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792224" y="2029968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5 August
</a:t>
            </a:r>
            <a:pPr indent="0" marL="0">
              <a:lnSpc>
                <a:spcPts val="1400"/>
              </a:lnSpc>
              <a:buNone/>
            </a:pPr>
            <a:r>
              <a:rPr lang="en-US" sz="900" b="1" spc="2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01568" y="1956816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3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Route-to-Market
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landed-cost model built live on your numbers, the price ladder, distributor economics, state sequencing.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83880" y="1993392"/>
            <a:ext cx="0" cy="749808"/>
          </a:xfrm>
          <a:prstGeom prst="line">
            <a:avLst/>
          </a:prstGeom>
          <a:noFill/>
          <a:ln w="12700">
            <a:solidFill>
              <a:srgbClr val="D8CD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1947672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b="1" spc="2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
</a:t>
            </a:r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Landed-Cost Model, on your numbers
</a:t>
            </a:r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One-pager: Route-to-Market Options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22960" y="3017520"/>
            <a:ext cx="10543032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2416" y="3273552"/>
            <a:ext cx="566928" cy="566928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14" name="Text 12"/>
          <p:cNvSpPr/>
          <p:nvPr/>
        </p:nvSpPr>
        <p:spPr>
          <a:xfrm>
            <a:off x="1042416" y="3264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92224" y="3218688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12 August
</a:t>
            </a:r>
            <a:pPr indent="0" marL="0">
              <a:lnSpc>
                <a:spcPts val="1400"/>
              </a:lnSpc>
              <a:buNone/>
            </a:pPr>
            <a:r>
              <a:rPr lang="en-US" sz="900" b="1" spc="2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01568" y="3145536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3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&amp; Brand Narrative
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against the Indian shelf, the story buyers respond to, and the portfolio you lead with.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83880" y="3182112"/>
            <a:ext cx="0" cy="749808"/>
          </a:xfrm>
          <a:prstGeom prst="line">
            <a:avLst/>
          </a:prstGeom>
          <a:noFill/>
          <a:ln w="12700">
            <a:solidFill>
              <a:srgbClr val="D8CD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3136392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b="1" spc="2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
</a:t>
            </a:r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India Positioning One-Pager
</a:t>
            </a:r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No. 3: pricing and positioning sign-off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22960" y="4206240"/>
            <a:ext cx="10543032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2416" y="4462272"/>
            <a:ext cx="566928" cy="566928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21" name="Text 19"/>
          <p:cNvSpPr/>
          <p:nvPr/>
        </p:nvSpPr>
        <p:spPr>
          <a:xfrm>
            <a:off x="1042416" y="4453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792224" y="4407408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19 August
</a:t>
            </a:r>
            <a:pPr indent="0" marL="0">
              <a:lnSpc>
                <a:spcPts val="1400"/>
              </a:lnSpc>
              <a:buNone/>
            </a:pPr>
            <a:r>
              <a:rPr lang="en-US" sz="900" b="1" spc="2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401568" y="4334256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3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Trade Mission &amp; Buyer Prep
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 landscape, your pitch card, meeting formats, and negotiation preparation.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83880" y="4370832"/>
            <a:ext cx="0" cy="749808"/>
          </a:xfrm>
          <a:prstGeom prst="line">
            <a:avLst/>
          </a:prstGeom>
          <a:noFill/>
          <a:ln w="12700">
            <a:solidFill>
              <a:srgbClr val="D8CD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66760" y="4325112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b="1" spc="2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
</a:t>
            </a:r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Buyer Target List · Buyer Pitch Card
</a:t>
            </a:r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No. 4: pitch rehearsal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22960" y="5394960"/>
            <a:ext cx="10543032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2416" y="5650992"/>
            <a:ext cx="566928" cy="566928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28" name="Text 26"/>
          <p:cNvSpPr/>
          <p:nvPr/>
        </p:nvSpPr>
        <p:spPr>
          <a:xfrm>
            <a:off x="1042416" y="5641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1792224" y="5596128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August · in-person, India
</a:t>
            </a:r>
            <a:pPr indent="0" marL="0">
              <a:lnSpc>
                <a:spcPts val="1400"/>
              </a:lnSpc>
              <a:buNone/>
            </a:pPr>
            <a:r>
              <a:rPr lang="en-US" sz="900" b="1" spc="2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401568" y="5522976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3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Tequila Tasting &amp; Market Entry Evening
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buyer meetings, then the evening itself: importers, distributors and luxury buyers, with the Consulate of México.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183880" y="5559552"/>
            <a:ext cx="0" cy="749808"/>
          </a:xfrm>
          <a:prstGeom prst="line">
            <a:avLst/>
          </a:prstGeom>
          <a:noFill/>
          <a:ln w="12700">
            <a:solidFill>
              <a:srgbClr val="D8CD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66760" y="5513832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b="1" spc="2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
</a:t>
            </a:r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introductions, notes and follow-up plan
</a:t>
            </a:r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complete India Entry Dossier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22960" y="65379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in-person Tasting &amp; Market Entry Evening: date and venue confirmed with the cohort during Phase 4.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RECEIVE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40"/>
              </a:lnSpc>
              <a:buNone/>
            </a:pPr>
            <a:r>
              <a:rPr lang="en-US" sz="30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Everything we teach, you keep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programme is built on paper, not promises. A defined deliverable at every step, for every brand.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054303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2267712"/>
            <a:ext cx="512064" cy="512064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2258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00784" y="224028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Session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60520" y="2240280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Readiness Questionnaire: your baseline across six dimensions, scored and returned to you privately.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008376"/>
            <a:ext cx="1054303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4128" y="3127248"/>
            <a:ext cx="512064" cy="512064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31181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700784" y="309981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session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60520" y="3099816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recording, the session deck and a one-pager on every single topic covered. Within 24 hours, every week.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3867912"/>
            <a:ext cx="1054303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3986784"/>
            <a:ext cx="512064" cy="512064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17" name="Text 15"/>
          <p:cNvSpPr/>
          <p:nvPr/>
        </p:nvSpPr>
        <p:spPr>
          <a:xfrm>
            <a:off x="1024128" y="3977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700784" y="395935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phase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60520" y="3959352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tool built on your numbers: compliance checklist, landed-cost model, positioning canvas, buyer pitch card.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4727448"/>
            <a:ext cx="1054303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4128" y="4846320"/>
            <a:ext cx="512064" cy="512064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22" name="Text 20"/>
          <p:cNvSpPr/>
          <p:nvPr/>
        </p:nvSpPr>
        <p:spPr>
          <a:xfrm>
            <a:off x="1024128" y="48371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700784" y="481888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company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60520" y="4818888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one-on-ones at each phase gate, plus open mentorship slots after every session. All 31 brands, no exceptions.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960" y="5586984"/>
            <a:ext cx="1054303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4128" y="5705856"/>
            <a:ext cx="512064" cy="512064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27" name="Text 25"/>
          <p:cNvSpPr/>
          <p:nvPr/>
        </p:nvSpPr>
        <p:spPr>
          <a:xfrm>
            <a:off x="1024128" y="56967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700784" y="567842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160520" y="5678424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India Entry Dossier: seven buyer-ready documents. Followed by two months of post-programme advisory.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INDIA FILES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4"/>
              </a:lnSpc>
              <a:buNone/>
            </a:pPr>
            <a:r>
              <a:rPr lang="en-US" sz="28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Sixteen one-pagers. One per topic. Yours to keep.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week by week as we cover each topic. By Week 8, you hold the complete reference library for entering India.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2532888" cy="914400"/>
          </a:xfrm>
          <a:prstGeom prst="roundRect">
            <a:avLst>
              <a:gd name="adj" fmla="val 7000"/>
            </a:avLst>
          </a:prstGeom>
          <a:solidFill>
            <a:srgbClr val="F3EDE0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21284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7E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27632" y="2212848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Map &amp; priority markets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103120"/>
            <a:ext cx="2532888" cy="914400"/>
          </a:xfrm>
          <a:prstGeom prst="roundRect">
            <a:avLst>
              <a:gd name="adj" fmla="val 7000"/>
            </a:avLst>
          </a:prstGeom>
          <a:solidFill>
            <a:srgbClr val="F3EDE0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221284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7E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25112" y="2212848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Indian premium consumer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2103120"/>
            <a:ext cx="2532888" cy="914400"/>
          </a:xfrm>
          <a:prstGeom prst="roundRect">
            <a:avLst>
              <a:gd name="adj" fmla="val 7000"/>
            </a:avLst>
          </a:prstGeom>
          <a:solidFill>
            <a:srgbClr val="F3EDE0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21284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7E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022592" y="2212848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economics: the four doors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915400" y="2103120"/>
            <a:ext cx="2532888" cy="914400"/>
          </a:xfrm>
          <a:prstGeom prst="roundRect">
            <a:avLst>
              <a:gd name="adj" fmla="val 7000"/>
            </a:avLst>
          </a:prstGeom>
          <a:solidFill>
            <a:srgbClr val="F3EDE0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98280" y="221284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7E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720072" y="2212848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competitive shelf &amp; price bands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3145536"/>
            <a:ext cx="2532888" cy="914400"/>
          </a:xfrm>
          <a:prstGeom prst="roundRect">
            <a:avLst>
              <a:gd name="adj" fmla="val 7000"/>
            </a:avLst>
          </a:prstGeom>
          <a:solidFill>
            <a:srgbClr val="F3EDE0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255264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7E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27632" y="3255264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FSSAI 2025: the new label rules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20440" y="3145536"/>
            <a:ext cx="2532888" cy="914400"/>
          </a:xfrm>
          <a:prstGeom prst="roundRect">
            <a:avLst>
              <a:gd name="adj" fmla="val 7000"/>
            </a:avLst>
          </a:prstGeom>
          <a:solidFill>
            <a:srgbClr val="F3EDE0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3255264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7E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325112" y="3255264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import gate: licence, IEC, NOC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3145536"/>
            <a:ext cx="2532888" cy="914400"/>
          </a:xfrm>
          <a:prstGeom prst="roundRect">
            <a:avLst>
              <a:gd name="adj" fmla="val 7000"/>
            </a:avLst>
          </a:prstGeom>
          <a:solidFill>
            <a:srgbClr val="F3EDE0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3255264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7E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07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022592" y="3255264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excise primer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915400" y="3145536"/>
            <a:ext cx="2532888" cy="914400"/>
          </a:xfrm>
          <a:prstGeom prst="roundRect">
            <a:avLst>
              <a:gd name="adj" fmla="val 7000"/>
            </a:avLst>
          </a:prstGeom>
          <a:solidFill>
            <a:srgbClr val="F3EDE0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98280" y="3255264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7E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08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720072" y="3255264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structure &amp; customs valuation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2960" y="4187952"/>
            <a:ext cx="2532888" cy="914400"/>
          </a:xfrm>
          <a:prstGeom prst="roundRect">
            <a:avLst>
              <a:gd name="adj" fmla="val 7000"/>
            </a:avLst>
          </a:prstGeom>
          <a:solidFill>
            <a:srgbClr val="F3EDE0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42976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7E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09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627632" y="4297680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landed-cost equation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520440" y="4187952"/>
            <a:ext cx="2532888" cy="914400"/>
          </a:xfrm>
          <a:prstGeom prst="roundRect">
            <a:avLst>
              <a:gd name="adj" fmla="val 7000"/>
            </a:avLst>
          </a:prstGeom>
          <a:solidFill>
            <a:srgbClr val="F3EDE0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03320" y="42976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7E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325112" y="4297680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pricing ladder &amp; margin math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4187952"/>
            <a:ext cx="2532888" cy="914400"/>
          </a:xfrm>
          <a:prstGeom prst="roundRect">
            <a:avLst>
              <a:gd name="adj" fmla="val 7000"/>
            </a:avLst>
          </a:prstGeom>
          <a:solidFill>
            <a:srgbClr val="F3EDE0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42976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7E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11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022592" y="4297680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Route-to-market options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915400" y="4187952"/>
            <a:ext cx="2532888" cy="914400"/>
          </a:xfrm>
          <a:prstGeom prst="roundRect">
            <a:avLst>
              <a:gd name="adj" fmla="val 7000"/>
            </a:avLst>
          </a:prstGeom>
          <a:solidFill>
            <a:srgbClr val="F3EDE0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98280" y="42976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7E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12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9720072" y="4297680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positioning canvas for India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22960" y="5230368"/>
            <a:ext cx="2532888" cy="914400"/>
          </a:xfrm>
          <a:prstGeom prst="roundRect">
            <a:avLst>
              <a:gd name="adj" fmla="val 7000"/>
            </a:avLst>
          </a:prstGeom>
          <a:solidFill>
            <a:srgbClr val="F3EDE0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5840" y="5340096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7E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13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627632" y="5340096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 landscape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520440" y="5230368"/>
            <a:ext cx="2532888" cy="914400"/>
          </a:xfrm>
          <a:prstGeom prst="roundRect">
            <a:avLst>
              <a:gd name="adj" fmla="val 7000"/>
            </a:avLst>
          </a:prstGeom>
          <a:solidFill>
            <a:srgbClr val="F3EDE0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03320" y="5340096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7E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4325112" y="5340096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 &amp; meeting playbook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17920" y="5230368"/>
            <a:ext cx="2532888" cy="914400"/>
          </a:xfrm>
          <a:prstGeom prst="roundRect">
            <a:avLst>
              <a:gd name="adj" fmla="val 7000"/>
            </a:avLst>
          </a:prstGeom>
          <a:solidFill>
            <a:srgbClr val="F3EDE0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5340096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7E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7022592" y="5340096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&amp; terms guide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915400" y="5230368"/>
            <a:ext cx="2532888" cy="914400"/>
          </a:xfrm>
          <a:prstGeom prst="roundRect">
            <a:avLst>
              <a:gd name="adj" fmla="val 7000"/>
            </a:avLst>
          </a:prstGeom>
          <a:solidFill>
            <a:srgbClr val="F3EDE0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98280" y="5340096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7E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16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9720072" y="5340096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90-day post-programme plan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22960" y="64465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Programme brands receive all sixteen. Listener Track receives the files for the applicable sessions.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ONE-ON-ONE MENTORSHIP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40"/>
              </a:lnSpc>
              <a:buNone/>
            </a:pPr>
            <a:r>
              <a:rPr lang="en-US" sz="30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31 brands. 31 private tracks.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cohort teaches the market. Your one-on-ones build your entry. Every Full Programme company receives individual expert time, on a schedule, not on request.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539496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606040"/>
            <a:ext cx="548640" cy="548640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596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10512" y="26243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scheduled 1:1s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115568" y="317296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at each phase gate: readiness review, compliance file, pricing and positioning sign-off, and buyer-pitch rehearsal before Phase 4.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0" y="2331720"/>
            <a:ext cx="539496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2606040"/>
            <a:ext cx="548640" cy="548640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2596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88352" y="26243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mentorship slots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693408" y="317296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Bookable after every weekly session for anything in between: your label, your costs, your importer questions.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4251960"/>
            <a:ext cx="539496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4526280"/>
            <a:ext cx="548640" cy="548640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5171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10512" y="45445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numbers stay private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115568" y="509320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Scores, costs and commercial terms are discussed only in your one-on-ones. The cohort sees patterns, never your data.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0" y="4251960"/>
            <a:ext cx="539496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0" y="4526280"/>
            <a:ext cx="548640" cy="548640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45171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88352" y="45445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line between sessions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693408" y="509320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cohort WhatsApp group for quick questions, and ceo@mexicoindia.org for anything that needs a longer answer.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HANDLE FOR YOU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8229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40"/>
              </a:lnSpc>
              <a:buNone/>
            </a:pPr>
            <a:r>
              <a:rPr lang="en-US" sz="30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 make the tequila. We handle India.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3511296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19202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pic>
        <p:nvPicPr>
          <p:cNvPr id="6" name="Image 0" descr="/home/claude/tequila/media/image-7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9228" y="2070476"/>
            <a:ext cx="266456" cy="266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20240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2560320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Analysis, consumer insight, pricing, positioning.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98848" y="1645920"/>
            <a:ext cx="3511296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0" y="19202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pic>
        <p:nvPicPr>
          <p:cNvPr id="11" name="Image 1" descr="/home/claude/tequila/media/image-7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116" y="2070476"/>
            <a:ext cx="266456" cy="266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8968" y="1920240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Navigation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773168" y="2560320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Licensing, import documentation, labelling, excise.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74736" y="1645920"/>
            <a:ext cx="3511296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30768" y="19202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pic>
        <p:nvPicPr>
          <p:cNvPr id="16" name="Image 2" descr="/home/claude/tequila/media/image-7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1004" y="2070476"/>
            <a:ext cx="266456" cy="266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34856" y="1920240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Development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49056" y="2560320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distributor introductions and negotiation.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22960" y="3310128"/>
            <a:ext cx="3511296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78992" y="3584448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pic>
        <p:nvPicPr>
          <p:cNvPr id="21" name="Image 3" descr="/home/claude/tequila/media/image-7-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228" y="3734684"/>
            <a:ext cx="266456" cy="266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3584448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Launch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097280" y="422452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events and trade and media outreach.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498848" y="3310128"/>
            <a:ext cx="3511296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754880" y="3584448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pic>
        <p:nvPicPr>
          <p:cNvPr id="26" name="Image 4" descr="/home/claude/tequila/media/image-7-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5116" y="3734684"/>
            <a:ext cx="266456" cy="266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58968" y="3584448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Coordination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773168" y="422452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Consulate of México and state excise liaison.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74736" y="3310128"/>
            <a:ext cx="3511296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30768" y="3584448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pic>
        <p:nvPicPr>
          <p:cNvPr id="31" name="Image 5" descr="/home/claude/tequila/media/image-7-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1004" y="3734684"/>
            <a:ext cx="266456" cy="266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34856" y="3584448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Post-Launch Advisory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449056" y="422452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months of support for optimisation and scale.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822960" y="58521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Coordination is the one thing no private consultant can offer. Only MIBC puts your brand in the room with the Consulate behind it.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ASK OF YOU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40"/>
              </a:lnSpc>
              <a:buNone/>
            </a:pPr>
            <a:r>
              <a:rPr lang="en-US" sz="30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This works if you show up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bring the corridor, the expertise and the doors. You bring commitment. That is the deal.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051560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2249424"/>
            <a:ext cx="347472" cy="347472"/>
          </a:xfrm>
          <a:prstGeom prst="ellipse">
            <a:avLst/>
          </a:prstGeom>
          <a:solidFill>
            <a:srgbClr val="8B6E3D"/>
          </a:solidFill>
          <a:ln/>
        </p:spPr>
      </p:sp>
      <p:pic>
        <p:nvPicPr>
          <p:cNvPr id="7" name="Image 0" descr="/home/claude/tequila/media/image-8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345436"/>
            <a:ext cx="155448" cy="155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14884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the weekly sessions. Consistency is where results are made.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22960" y="2807208"/>
            <a:ext cx="1051560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24128" y="2907792"/>
            <a:ext cx="347472" cy="347472"/>
          </a:xfrm>
          <a:prstGeom prst="ellipse">
            <a:avLst/>
          </a:prstGeom>
          <a:solidFill>
            <a:srgbClr val="8B6E3D"/>
          </a:solidFill>
          <a:ln/>
        </p:spPr>
      </p:sp>
      <p:pic>
        <p:nvPicPr>
          <p:cNvPr id="11" name="Image 1" descr="/home/claude/tequila/media/image-8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" y="3003804"/>
            <a:ext cx="155448" cy="155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72768" y="2807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Phase 1 readiness questionnaire before Session 2.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22960" y="3465576"/>
            <a:ext cx="1051560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24128" y="3566160"/>
            <a:ext cx="347472" cy="347472"/>
          </a:xfrm>
          <a:prstGeom prst="ellipse">
            <a:avLst/>
          </a:prstGeom>
          <a:solidFill>
            <a:srgbClr val="8B6E3D"/>
          </a:solidFill>
          <a:ln/>
        </p:spPr>
      </p:sp>
      <p:pic>
        <p:nvPicPr>
          <p:cNvPr id="15" name="Image 2" descr="/home/claude/tequila/media/image-8-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3662172"/>
            <a:ext cx="155448" cy="1554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72768" y="346557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your brand materials, label artwork and product details as we request them.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822960" y="4123944"/>
            <a:ext cx="1051560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1024128" y="4224528"/>
            <a:ext cx="347472" cy="347472"/>
          </a:xfrm>
          <a:prstGeom prst="ellipse">
            <a:avLst/>
          </a:prstGeom>
          <a:solidFill>
            <a:srgbClr val="8B6E3D"/>
          </a:solidFill>
          <a:ln/>
        </p:spPr>
      </p:sp>
      <p:pic>
        <p:nvPicPr>
          <p:cNvPr id="19" name="Image 3" descr="/home/claude/tequila/media/image-8-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" y="4320540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72768" y="412394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decision-maker who can act on pricing and partnerships.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822960" y="4782312"/>
            <a:ext cx="1051560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1024128" y="4882896"/>
            <a:ext cx="347472" cy="347472"/>
          </a:xfrm>
          <a:prstGeom prst="ellipse">
            <a:avLst/>
          </a:prstGeom>
          <a:solidFill>
            <a:srgbClr val="8B6E3D"/>
          </a:solidFill>
          <a:ln/>
        </p:spPr>
      </p:sp>
      <p:pic>
        <p:nvPicPr>
          <p:cNvPr id="23" name="Image 4" descr="/home/claude/tequila/media/image-8-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140" y="4978908"/>
            <a:ext cx="155448" cy="1554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72768" y="478231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in the cohort. Ask, share, and use your peers.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 TOGETHER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40"/>
              </a:lnSpc>
              <a:buNone/>
            </a:pPr>
            <a:r>
              <a:rPr lang="en-US" sz="30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things happen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39496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965960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pic>
        <p:nvPicPr>
          <p:cNvPr id="6" name="Image 0" descr="/home/claude/tequila/media/image-9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362" y="2121042"/>
            <a:ext cx="275052" cy="2750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47088" y="19842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groups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115568" y="253288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groups, one for the full cohort and one for the Listener Track. Announcements, materials and quick questions. Please keep it professional and on-topic.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0" y="1691640"/>
            <a:ext cx="539496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75120" y="1965960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pic>
        <p:nvPicPr>
          <p:cNvPr id="11" name="Image 1" descr="/home/claude/tequila/media/image-9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202" y="2121042"/>
            <a:ext cx="275052" cy="2750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24928" y="19842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sessions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693408" y="253288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Weekly, on the same link each time. Recordings and materials shared after each session for anyone who misses one.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" y="3657600"/>
            <a:ext cx="539496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97280" y="3931920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pic>
        <p:nvPicPr>
          <p:cNvPr id="16" name="Image 2" descr="/home/claude/tequila/media/image-9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362" y="4087002"/>
            <a:ext cx="275052" cy="2750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47088" y="39502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One-on-one guidance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115568" y="449884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Full-programme brands receive individual expert time at key phases. We will schedule these directly with you.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0" y="3657600"/>
            <a:ext cx="539496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675120" y="3931920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pic>
        <p:nvPicPr>
          <p:cNvPr id="21" name="Image 3" descr="/home/claude/tequila/media/image-9-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202" y="4087002"/>
            <a:ext cx="275052" cy="2750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24928" y="39502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point of contact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693408" y="449884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us any time at ceo@mexicoindia.org. We are here to make this work for you.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quila/media/image-10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640080"/>
            <a:ext cx="3474720" cy="3474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40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OUR LISTENER TRACK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786384" y="9601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22"/>
              </a:lnSpc>
              <a:buNone/>
            </a:pPr>
            <a:r>
              <a:rPr lang="en-US" sz="29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Learn now. Decide when you are ready.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822960" y="17830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joined as a listener, you are genuinely welcome here. You will follow the applicable sessions, absorb the market knowledge, and see how the programme works, with no pressure.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926080"/>
            <a:ext cx="10515600" cy="932688"/>
          </a:xfrm>
          <a:prstGeom prst="roundRect">
            <a:avLst>
              <a:gd name="adj" fmla="val 6863"/>
            </a:avLst>
          </a:prstGeom>
          <a:solidFill>
            <a:srgbClr val="F3EDE0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2416" y="3136392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pic>
        <p:nvPicPr>
          <p:cNvPr id="8" name="Image 1" descr="/home/claude/tequila/media/image-10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113" y="3272089"/>
            <a:ext cx="240670" cy="24067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37360" y="306324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480560" y="3063240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the applicable sessions, the market intelligence and the network.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22960" y="4005072"/>
            <a:ext cx="10515600" cy="932688"/>
          </a:xfrm>
          <a:prstGeom prst="roundRect">
            <a:avLst>
              <a:gd name="adj" fmla="val 6863"/>
            </a:avLst>
          </a:prstGeom>
          <a:solidFill>
            <a:srgbClr val="F3EDE0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042416" y="4215384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pic>
        <p:nvPicPr>
          <p:cNvPr id="13" name="Image 2" descr="/home/claude/tequila/media/image-10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113" y="4351081"/>
            <a:ext cx="240670" cy="24067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37360" y="414223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reserved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480560" y="4142232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business-meetings and buyer-engagement stage is for full-programme brands.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22960" y="5084064"/>
            <a:ext cx="10515600" cy="932688"/>
          </a:xfrm>
          <a:prstGeom prst="roundRect">
            <a:avLst>
              <a:gd name="adj" fmla="val 6863"/>
            </a:avLst>
          </a:prstGeom>
          <a:solidFill>
            <a:srgbClr val="F3EDE0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042416" y="5294376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pic>
        <p:nvPicPr>
          <p:cNvPr id="18" name="Image 3" descr="/home/claude/tequila/media/image-10-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113" y="5430073"/>
            <a:ext cx="240670" cy="24067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737360" y="5221224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upgrade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4480560" y="5221224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go further? Tell us any time and we will move you into the full programme.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ARE IN GOOD HANDS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9144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40"/>
              </a:lnSpc>
              <a:buNone/>
            </a:pPr>
            <a:r>
              <a:rPr lang="en-US" sz="30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corridor built over fifteen years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394960" cy="1627632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148840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pic>
        <p:nvPicPr>
          <p:cNvPr id="6" name="Image 0" descr="/home/claude/tequila/media/image-12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362" y="2303922"/>
            <a:ext cx="275052" cy="2750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47088" y="2167128"/>
            <a:ext cx="4187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expertise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115568" y="27889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years representing the governments of México (ProMéxico) and Ontario, Canada, as a senior trade diplomat in India.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0" y="1874520"/>
            <a:ext cx="5394960" cy="1627632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75120" y="2148840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pic>
        <p:nvPicPr>
          <p:cNvPr id="11" name="Image 1" descr="/home/claude/tequila/media/image-12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202" y="2303922"/>
            <a:ext cx="275052" cy="2750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24928" y="2167128"/>
            <a:ext cx="4187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relationships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693408" y="27889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ties to the Consulate of México and Indian state excise departments.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" y="3666744"/>
            <a:ext cx="5394960" cy="1627632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97280" y="3941064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pic>
        <p:nvPicPr>
          <p:cNvPr id="16" name="Image 2" descr="/home/claude/tequila/media/image-12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362" y="4096146"/>
            <a:ext cx="275052" cy="2750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47088" y="3959352"/>
            <a:ext cx="4187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trade corridor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115568" y="458114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India–México trade at an all-time high of USD 11.7 billion in 2024.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0" y="3666744"/>
            <a:ext cx="5394960" cy="1627632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675120" y="3941064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pic>
        <p:nvPicPr>
          <p:cNvPr id="21" name="Image 3" descr="/home/claude/tequila/media/image-12-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202" y="4096146"/>
            <a:ext cx="275052" cy="2750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24928" y="3959352"/>
            <a:ext cx="4187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proven record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693408" y="458114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USD 500 million in qualified investment leads facilitated.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86384" y="242316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India Opportunity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&amp; Product Readiness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22960" y="4343400"/>
            <a:ext cx="2926080" cy="0"/>
          </a:xfrm>
          <a:prstGeom prst="line">
            <a:avLst/>
          </a:prstGeom>
          <a:noFill/>
          <a:ln w="15875">
            <a:solidFill>
              <a:srgbClr val="8B6E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52628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working module. Sixty minutes from the market to the math: the states, the shelf, and the equation that decides your price.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SIGNAL · WEEK ONE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4"/>
              </a:lnSpc>
              <a:buNone/>
            </a:pPr>
            <a:r>
              <a:rPr lang="en-US" sz="28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Seven days ago, India's alcohol rulebook changed.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FSSAI Alcoholic Beverages Regulations 2025 came into force on 1 July 2026. You are the first cohort to enter India entirely under the new regime.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2852928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Drink declaration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mandatory on every label. Your India artwork will carry it.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0" y="2651760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93408" y="2852928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2018 framework, updated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 and category standards refreshed, agave spirits included.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4133088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4334256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import gate stands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FSSAI licence, per-consignment NOC and an IEC remain non-negotiable.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0" y="4133088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3408" y="4334256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Over-labelling allowed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for India without touching origin details. Your NOM stays intact.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2960" y="58978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compliance playbook written before July is now out of date. Yours will not be: Phase 2 starts from this baseline.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· GEOGRAPHY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India is not one market. A short list of states decides your first three years.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FIRST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2231136"/>
            <a:ext cx="3520440" cy="0"/>
          </a:xfrm>
          <a:prstGeom prst="line">
            <a:avLst/>
          </a:prstGeom>
          <a:noFill/>
          <a:ln w="12700">
            <a:solidFill>
              <a:srgbClr val="8B6E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95728"/>
            <a:ext cx="3520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Mumbai, the premium capital and your gateway port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NCR 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deepest imported-spirits culture; policy swings to watch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Bengaluru's cocktail scene sets national taste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 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duties, tourism, the category's test kitchen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Haryana 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Gurugram affluence, retail-friendly excise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Telangana 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Hyderabad's fast-premiumising on-trade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09160" y="1920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FOLLOW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2231136"/>
            <a:ext cx="3246120" cy="0"/>
          </a:xfrm>
          <a:prstGeom prst="line">
            <a:avLst/>
          </a:prstGeom>
          <a:noFill/>
          <a:ln w="12700">
            <a:solidFill>
              <a:srgbClr val="8B6E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2395728"/>
            <a:ext cx="32461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 &amp; Chandigarh 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spirits-forward, gifting-heavy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Rajasthan 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palace hospitality and destination weddings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Bengal 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Kolkata's bar revival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 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arriving; watch the corridor cities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321040" y="1920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MAP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321040" y="2231136"/>
            <a:ext cx="3017520" cy="0"/>
          </a:xfrm>
          <a:prstGeom prst="line">
            <a:avLst/>
          </a:prstGeom>
          <a:noFill/>
          <a:ln w="12700">
            <a:solidFill>
              <a:srgbClr val="8B6E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2395728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states 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Gujarat, Bihar, Mizoram, Nagaland. No route in.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Monopoly models 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Kerala and Tamil Nadu buy through state corporations. A different game, for a later stage.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 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its own licence, label and price file.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80560" y="1965960"/>
            <a:ext cx="0" cy="3977640"/>
          </a:xfrm>
          <a:prstGeom prst="line">
            <a:avLst/>
          </a:prstGeom>
          <a:noFill/>
          <a:ln w="12700">
            <a:solidFill>
              <a:srgbClr val="D8CD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965960"/>
            <a:ext cx="0" cy="3977640"/>
          </a:xfrm>
          <a:prstGeom prst="line">
            <a:avLst/>
          </a:prstGeom>
          <a:noFill/>
          <a:ln w="12700">
            <a:solidFill>
              <a:srgbClr val="D8CD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41908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sequences these states for your brand and budget. One-pager 01 lands this week.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· WHO BUYS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40"/>
              </a:lnSpc>
              <a:buNone/>
            </a:pPr>
            <a:r>
              <a:rPr lang="en-US" sz="30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Who trades up to tequila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394960" cy="2029968"/>
          </a:xfrm>
          <a:prstGeom prst="roundRect">
            <a:avLst>
              <a:gd name="adj" fmla="val 3153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3856" y="2020824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whisky upgrader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33856" y="2532888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largest whisky market is, above all, a premium-spirits culture. Tequila recruits directly from the scotch and single-malt shelf, gifting included.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5394960" cy="2029968"/>
          </a:xfrm>
          <a:prstGeom prst="roundRect">
            <a:avLst>
              <a:gd name="adj" fmla="val 3153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11696" y="2020824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cocktail-first discoverer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711696" y="2532888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bar culture is the category's front door. The margarita and modern agave serves make blanco the natural entry SKU.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995928"/>
            <a:ext cx="5394960" cy="2029968"/>
          </a:xfrm>
          <a:prstGeom prst="roundRect">
            <a:avLst>
              <a:gd name="adj" fmla="val 3153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423367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young affluent signaller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33856" y="4745736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to 40, urban, well travelled. They buy the story, the ritual and the label as much as the liquid. Heritage is currency here.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3995928"/>
            <a:ext cx="5394960" cy="2029968"/>
          </a:xfrm>
          <a:prstGeom prst="roundRect">
            <a:avLst>
              <a:gd name="adj" fmla="val 3153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11696" y="423367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festive-quarter buyer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711696" y="4745736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to December carries an outsized share of premium sales. Boxed reposado and añejo are built for Diwali gifting.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· CHANNELS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40"/>
              </a:lnSpc>
              <a:buNone/>
            </a:pPr>
            <a:r>
              <a:rPr lang="en-US" sz="30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Four doors in, and what each one costs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" y="16916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DOOR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212080" y="16916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BUILDS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0" y="1691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DEMANDS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2057400"/>
            <a:ext cx="1054303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17627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4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On-trade
</a:t>
            </a:r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hotels, cocktail bars, clubs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12080" y="205740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brand and the serve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0" y="2057400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Pouring deals, staff training, patience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2990088"/>
            <a:ext cx="1054303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10896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4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Off-trade
</a:t>
            </a:r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Retail; open or state-run, by state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12080" y="2990088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and visibility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0" y="2990088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Registrations, margins, MRP discipline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3922776"/>
            <a:ext cx="1054303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04164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4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retail
</a:t>
            </a:r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and Mumbai duty-free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2080" y="3922776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super-premium showcase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0" y="3922776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coherence, exclusive packs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" y="4855464"/>
            <a:ext cx="1054303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974336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4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
</a:t>
            </a:r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pilots in select states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12080" y="4855464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reach, data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0" y="4855464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Partner-led only; regulation in motion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2960" y="59893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fifth door is ours: Consulate and MIBC events, sampling inside the rules.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· COMPETITION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40"/>
              </a:lnSpc>
              <a:buNone/>
            </a:pPr>
            <a:r>
              <a:rPr lang="en-US" sz="30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shelf before you arrive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7556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834640" y="170078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₹3,000 to ₹5,000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834640" y="2066544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 Cuervo, Sierra, Camino Real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660904"/>
            <a:ext cx="6400800" cy="0"/>
          </a:xfrm>
          <a:prstGeom prst="line">
            <a:avLst/>
          </a:prstGeom>
          <a:noFill/>
          <a:ln w="12700">
            <a:solidFill>
              <a:srgbClr val="D8CD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8072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275234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₹6,000 to ₹10,000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34640" y="3118104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Silver, Don Julio Blanco, 1800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712464"/>
            <a:ext cx="6400800" cy="0"/>
          </a:xfrm>
          <a:prstGeom prst="line">
            <a:avLst/>
          </a:prstGeom>
          <a:noFill/>
          <a:ln w="12700">
            <a:solidFill>
              <a:srgbClr val="D8CD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8587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&amp; ULTRA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380390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₹15,000 and above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34640" y="4169664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Aged expressions; largely duty-free and gifting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4764024"/>
            <a:ext cx="6400800" cy="0"/>
          </a:xfrm>
          <a:prstGeom prst="line">
            <a:avLst/>
          </a:prstGeom>
          <a:noFill/>
          <a:ln w="12700">
            <a:solidFill>
              <a:srgbClr val="D8CD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9103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ENTERING NOW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34640" y="485546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₹20,000 to ₹30,000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834640" y="5221224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D'YAVOL Añejo: Radico Khaitan with Shah Rukh Khan and Nikhil Kamath, bottled in origin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89520" y="1737360"/>
            <a:ext cx="3776472" cy="4069080"/>
          </a:xfrm>
          <a:prstGeom prst="roundRect">
            <a:avLst>
              <a:gd name="adj" fmla="val 1695"/>
            </a:avLst>
          </a:prstGeom>
          <a:solidFill>
            <a:srgbClr val="F3EDE0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82128" y="20574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Two or three brands hold meaningful national presence.
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100% agave has no champion. Mezcal has no shelf at all. The rungs are open.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61722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Maharashtra retail, 750ml. State prices vary widely. D'YAVOL pricing as announced by Radico Khaitan.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TECHNICAL CORE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40"/>
              </a:lnSpc>
              <a:buNone/>
            </a:pPr>
            <a:r>
              <a:rPr lang="en-US" sz="30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only equation that matters: FOB to shelf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FOB Jalisco, premium blanco 750ml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4920" y="17647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₹1,300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217420"/>
            <a:ext cx="6492240" cy="0"/>
          </a:xfrm>
          <a:prstGeom prst="line">
            <a:avLst/>
          </a:prstGeom>
          <a:noFill/>
          <a:ln w="9525">
            <a:solidFill>
              <a:srgbClr val="D8CD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1800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and insurance to CIF Mumbai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4920" y="229971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₹150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752344"/>
            <a:ext cx="6492240" cy="0"/>
          </a:xfrm>
          <a:prstGeom prst="line">
            <a:avLst/>
          </a:prstGeom>
          <a:noFill/>
          <a:ln w="9525">
            <a:solidFill>
              <a:srgbClr val="D8CD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85292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duty, about 150% on CIF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4920" y="2834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₹2,175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287268"/>
            <a:ext cx="6492240" cy="0"/>
          </a:xfrm>
          <a:prstGeom prst="line">
            <a:avLst/>
          </a:prstGeom>
          <a:noFill/>
          <a:ln w="15875">
            <a:solidFill>
              <a:srgbClr val="8B6E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38785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Landed, before state charges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74920" y="336956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B6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₹3,625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3822192"/>
            <a:ext cx="6492240" cy="0"/>
          </a:xfrm>
          <a:prstGeom prst="line">
            <a:avLst/>
          </a:prstGeom>
          <a:noFill/>
          <a:ln w="9525">
            <a:solidFill>
              <a:srgbClr val="D8CD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92277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excise, label and fees, 40 to 80%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4920" y="39044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₹1,450 to ₹2,900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4357116"/>
            <a:ext cx="6492240" cy="0"/>
          </a:xfrm>
          <a:prstGeom prst="line">
            <a:avLst/>
          </a:prstGeom>
          <a:noFill/>
          <a:ln w="9525">
            <a:solidFill>
              <a:srgbClr val="D8CD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45770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Importer and distributor margins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4920" y="443941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+ 25 to 35%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4892040"/>
            <a:ext cx="6492240" cy="0"/>
          </a:xfrm>
          <a:prstGeom prst="line">
            <a:avLst/>
          </a:prstGeom>
          <a:noFill/>
          <a:ln w="9525">
            <a:solidFill>
              <a:srgbClr val="D8CD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99262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margin and MRP rounding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74920" y="497433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+ 15 to 25%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5426964"/>
            <a:ext cx="6492240" cy="0"/>
          </a:xfrm>
          <a:prstGeom prst="line">
            <a:avLst/>
          </a:prstGeom>
          <a:noFill/>
          <a:ln w="15875">
            <a:solidFill>
              <a:srgbClr val="8B6E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52754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SHELF, MUMBAI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74920" y="55092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B6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₹7,500 to ₹9,500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818120" y="1874520"/>
            <a:ext cx="0" cy="3977640"/>
          </a:xfrm>
          <a:prstGeom prst="line">
            <a:avLst/>
          </a:prstGeom>
          <a:noFill/>
          <a:ln w="15875">
            <a:solidFill>
              <a:srgbClr val="8B6E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0" y="19659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A07E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5–7x</a:t>
            </a:r>
            <a:endParaRPr lang="en-US" sz="6400" dirty="0"/>
          </a:p>
        </p:txBody>
      </p:sp>
      <p:sp>
        <p:nvSpPr>
          <p:cNvPr id="29" name="Text 27"/>
          <p:cNvSpPr/>
          <p:nvPr/>
        </p:nvSpPr>
        <p:spPr>
          <a:xfrm>
            <a:off x="8257032" y="338328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Indian shelf price is five to seven times your FOB. Every decision this programme makes with you starts from this line.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" y="62179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Maharashtra structure at ₹87 per USD. Your exact model is built with you in Phase 3.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TECHNICAL CORE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40"/>
              </a:lnSpc>
              <a:buNone/>
            </a:pPr>
            <a:r>
              <a:rPr lang="en-US" sz="30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Now work it backwards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sit at ₹4,000 on the shelf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394960" y="18562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FOB must land near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29600" y="17099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A07E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USD 6.5 to 9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2441448"/>
            <a:ext cx="10543032" cy="0"/>
          </a:xfrm>
          <a:prstGeom prst="line">
            <a:avLst/>
          </a:prstGeom>
          <a:noFill/>
          <a:ln w="9525">
            <a:solidFill>
              <a:srgbClr val="D8CD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5877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sit at ₹6,000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394960" y="2660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FOB must land near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0" y="2514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A07E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USD 10 to 14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22960" y="3246120"/>
            <a:ext cx="10543032" cy="0"/>
          </a:xfrm>
          <a:prstGeom prst="line">
            <a:avLst/>
          </a:prstGeom>
          <a:noFill/>
          <a:ln w="9525">
            <a:solidFill>
              <a:srgbClr val="D8CD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39242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sit at ₹9,000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394960" y="346557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FOB must land near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0" y="33192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A07E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USD 15 to 21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22960" y="4160520"/>
            <a:ext cx="10543032" cy="0"/>
          </a:xfrm>
          <a:prstGeom prst="line">
            <a:avLst/>
          </a:prstGeom>
          <a:noFill/>
          <a:ln w="15875">
            <a:solidFill>
              <a:srgbClr val="8B6E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3434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FOR YOUR TEAM THIS WEEK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470916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your SKUs lives profitably inside the winning band?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needs a new format or pack before it travels?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stays home, for now?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" y="617220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FOB per SKU to your first 1:1. We run your numbers together.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READINESS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40"/>
              </a:lnSpc>
              <a:buNone/>
            </a:pPr>
            <a:r>
              <a:rPr lang="en-US" sz="30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Shape the offer before the paperwork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Lead with blanco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4846320" y="1810512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clear-spirit preference and cocktail culture make silver the entry SKU.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560320"/>
            <a:ext cx="10543032" cy="0"/>
          </a:xfrm>
          <a:prstGeom prst="line">
            <a:avLst/>
          </a:prstGeom>
          <a:noFill/>
          <a:ln w="9525">
            <a:solidFill>
              <a:srgbClr val="D8CD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9748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Two formats carry the category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846320" y="2724912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180ml recruits trial; 750ml builds ritual and gifting. Plan the export pack around both.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474720"/>
            <a:ext cx="10543032" cy="0"/>
          </a:xfrm>
          <a:prstGeom prst="line">
            <a:avLst/>
          </a:prstGeom>
          <a:noFill/>
          <a:ln w="9525">
            <a:solidFill>
              <a:srgbClr val="D8CD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61188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Choose your lane deliberately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846320" y="3639312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agave earns the premium story. Mixto plays accessible volume. Both work; drifting between them does not.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389120"/>
            <a:ext cx="10543032" cy="0"/>
          </a:xfrm>
          <a:prstGeom prst="line">
            <a:avLst/>
          </a:prstGeom>
          <a:noFill/>
          <a:ln w="9525">
            <a:solidFill>
              <a:srgbClr val="D8CD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52628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Aged is your Diwali play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846320" y="4553712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festive gifting quarter rewards boxed reposado and añejo. Time your launch to it.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5303520"/>
            <a:ext cx="10543032" cy="0"/>
          </a:xfrm>
          <a:prstGeom prst="line">
            <a:avLst/>
          </a:prstGeom>
          <a:noFill/>
          <a:ln w="9525">
            <a:solidFill>
              <a:srgbClr val="D8CD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44068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Mezcal is open field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846320" y="5468112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almost no organised presence, a first mover can define the category. Three houses in this cohort are positioned for exactly this.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CORRIDOR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40"/>
              </a:lnSpc>
              <a:buNone/>
            </a:pPr>
            <a:r>
              <a:rPr lang="en-US" sz="30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Three truths that never make the webinar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43032" cy="1316736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2148840"/>
            <a:ext cx="585216" cy="585216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13969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920240" y="19659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60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India buys relationships before it buys brands.
</a:t>
            </a:r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18 to 24 months from first meeting to stable distribution. The accelerator compresses the paperwork and the search, not the trust. Budget patience like capital.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3264408"/>
            <a:ext cx="10543032" cy="1316736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3630168"/>
            <a:ext cx="585216" cy="585216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362102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920240" y="3447288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60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importer is choosing you too.
</a:t>
            </a:r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screen for margin room, marketing commitment, supply reliability and staying power. Walk in with your landed-cost model already built and you are ahead of nine pitches in ten.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4745736"/>
            <a:ext cx="10543032" cy="1316736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8992" y="5111496"/>
            <a:ext cx="585216" cy="585216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992" y="51023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920240" y="4928616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60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Institutional doors change the first meeting.
</a:t>
            </a:r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consulate-backed introduction moves you from cold pitch to considered partner before you say a word. That is the room Phase 4 builds for you.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01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40"/>
              </a:lnSpc>
              <a:buNone/>
            </a:pPr>
            <a:r>
              <a:rPr lang="en-US" sz="30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Readiness Questionnaire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dimensions, scored 1 to 5. Fifteen minutes. It reaches you today by email and WhatsApp, and it shapes everything we build for you.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53949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" y="2350008"/>
            <a:ext cx="512064" cy="512064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7" name="Text 5"/>
          <p:cNvSpPr/>
          <p:nvPr/>
        </p:nvSpPr>
        <p:spPr>
          <a:xfrm>
            <a:off x="1060704" y="23408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55648" y="2295144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35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certification
</a:t>
            </a:r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CRT or COMERCAM standing, NOM, export-ready SKUs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0" y="2148840"/>
            <a:ext cx="53949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38544" y="2350008"/>
            <a:ext cx="512064" cy="512064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11" name="Text 9"/>
          <p:cNvSpPr/>
          <p:nvPr/>
        </p:nvSpPr>
        <p:spPr>
          <a:xfrm>
            <a:off x="6638544" y="23408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33488" y="2295144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35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operations
</a:t>
            </a:r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markets, capacity headroom, documentation muscle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264408"/>
            <a:ext cx="53949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0704" y="3465576"/>
            <a:ext cx="512064" cy="512064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15" name="Text 13"/>
          <p:cNvSpPr/>
          <p:nvPr/>
        </p:nvSpPr>
        <p:spPr>
          <a:xfrm>
            <a:off x="1060704" y="3456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755648" y="3410712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35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&amp; compliance adaptability
</a:t>
            </a:r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FSSAI 2025 readiness, over-labelling flexibility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0" y="3264408"/>
            <a:ext cx="53949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38544" y="3465576"/>
            <a:ext cx="512064" cy="512064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19" name="Text 17"/>
          <p:cNvSpPr/>
          <p:nvPr/>
        </p:nvSpPr>
        <p:spPr>
          <a:xfrm>
            <a:off x="6638544" y="3456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333488" y="3410712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35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capacity
</a:t>
            </a:r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Duties, registrations and a launch-marketing runway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22960" y="4379976"/>
            <a:ext cx="53949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0704" y="4581144"/>
            <a:ext cx="512064" cy="512064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23" name="Text 21"/>
          <p:cNvSpPr/>
          <p:nvPr/>
        </p:nvSpPr>
        <p:spPr>
          <a:xfrm>
            <a:off x="1060704" y="4572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755648" y="452628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35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positioning
</a:t>
            </a:r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Story, assets, price ambition against the ladder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0" y="4379976"/>
            <a:ext cx="53949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38544" y="4581144"/>
            <a:ext cx="512064" cy="512064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27" name="Text 25"/>
          <p:cNvSpPr/>
          <p:nvPr/>
        </p:nvSpPr>
        <p:spPr>
          <a:xfrm>
            <a:off x="6638544" y="4572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333488" y="452628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35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
</a:t>
            </a:r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time, decision speed, an owner in the room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22960" y="576072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24+  </a:t>
            </a:r>
            <a:pPr indent="0" marL="0">
              <a:buNone/>
            </a:pPr>
            <a:r>
              <a:rPr lang="en-US" sz="12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light to Phase 2 spend        </a:t>
            </a:r>
            <a:pPr indent="0" marL="0">
              <a:buNone/>
            </a:pPr>
            <a:r>
              <a:rPr lang="en-US" sz="1200" b="1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18–23  </a:t>
            </a:r>
            <a:pPr indent="0" marL="0">
              <a:buNone/>
            </a:pPr>
            <a:r>
              <a:rPr lang="en-US" sz="12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fixes in your 1:1        </a:t>
            </a:r>
            <a:pPr indent="0" marL="0">
              <a:buNone/>
            </a:pPr>
            <a:r>
              <a:rPr lang="en-US" sz="1200" b="1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18  </a:t>
            </a:r>
            <a:pPr indent="0" marL="0">
              <a:buNone/>
            </a:pPr>
            <a:r>
              <a:rPr lang="en-US" sz="12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rework before you spend a peso on compliance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612648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are private, between you and MIBC.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HOMEWORK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40"/>
              </a:lnSpc>
              <a:buNone/>
            </a:pPr>
            <a:r>
              <a:rPr lang="en-US" sz="30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Before Session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43032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2066544"/>
            <a:ext cx="566928" cy="566928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883664" y="1947672"/>
            <a:ext cx="9189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70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Complete the Readiness Questionnaire
</a:t>
            </a:r>
            <a:pPr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minutes. Honest beats optimistic: your answers shape your briefing.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3081528"/>
            <a:ext cx="10543032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3364992"/>
            <a:ext cx="566928" cy="566928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3355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883664" y="3246120"/>
            <a:ext cx="9189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70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Write your India thesis, one line
</a:t>
            </a:r>
            <a:pPr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 India, [brand] will be the ____ for ____ at ₹____.” Every thesis gets a written reaction from MIBC before Session 2.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379976"/>
            <a:ext cx="10543032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8992" y="4663440"/>
            <a:ext cx="566928" cy="566928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992" y="4654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883664" y="4544568"/>
            <a:ext cx="9189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70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Book your first 1:1
</a:t>
            </a:r>
            <a:pPr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FOB per SKU. We run your equation together.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2960" y="5897880"/>
            <a:ext cx="10543032" cy="0"/>
          </a:xfrm>
          <a:prstGeom prst="line">
            <a:avLst/>
          </a:prstGeom>
          <a:noFill/>
          <a:ln w="15875">
            <a:solidFill>
              <a:srgbClr val="8B6E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60350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Tuesday 14 July   ·   Session 2 live on Wednesday 15 July 2026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40"/>
              </a:lnSpc>
              <a:buNone/>
            </a:pPr>
            <a:r>
              <a:rPr lang="en-US" sz="30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Session 2: your brand, stress-tested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Cohort readiness debrief, anonymised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group is strong, where it is exposed.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642616"/>
            <a:ext cx="6949440" cy="0"/>
          </a:xfrm>
          <a:prstGeom prst="line">
            <a:avLst/>
          </a:prstGeom>
          <a:noFill/>
          <a:ln w="9525">
            <a:solidFill>
              <a:srgbClr val="D8CD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889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Gap and risk analysis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by brand, against the six dimensions.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648456"/>
            <a:ext cx="6949440" cy="0"/>
          </a:xfrm>
          <a:prstGeom prst="line">
            <a:avLst/>
          </a:prstGeom>
          <a:noFill/>
          <a:ln w="9525">
            <a:solidFill>
              <a:srgbClr val="D8CD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7947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Your India Opportunity Briefing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and positioning mapped to your SKUs.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4654296"/>
            <a:ext cx="6949440" cy="0"/>
          </a:xfrm>
          <a:prstGeom prst="line">
            <a:avLst/>
          </a:prstGeom>
          <a:noFill/>
          <a:ln w="9525">
            <a:solidFill>
              <a:srgbClr val="D8CD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8006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gate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or fix, before a peso of Phase 2 compliance spend.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0" y="1783080"/>
            <a:ext cx="3136392" cy="3840480"/>
          </a:xfrm>
          <a:prstGeom prst="roundRect">
            <a:avLst>
              <a:gd name="adj" fmla="val 2041"/>
            </a:avLst>
          </a:prstGeom>
          <a:solidFill>
            <a:srgbClr val="F3EDE0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40496" y="2148840"/>
            <a:ext cx="2514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100" b="1" spc="2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OF 8
</a:t>
            </a:r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Phase 1 closes next week. Phase 2 opens your compliance file.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9601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76"/>
              </a:lnSpc>
              <a:buNone/>
            </a:pPr>
            <a:r>
              <a:rPr lang="en-US" sz="32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Let's open the floor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yourself, share your brand, and ask us anything. This cohort starts today, and it starts with you.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1051560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2953512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pic>
        <p:nvPicPr>
          <p:cNvPr id="7" name="Image 0" descr="/home/claude/tequila/media/image-13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8113" y="3089209"/>
            <a:ext cx="240670" cy="24067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8803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of introductions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120640" y="2880360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brand, and one goal for India.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3822192"/>
            <a:ext cx="1051560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42416" y="4032504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pic>
        <p:nvPicPr>
          <p:cNvPr id="12" name="Image 1" descr="/home/claude/tequila/media/image-13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113" y="4168201"/>
            <a:ext cx="240670" cy="24067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37360" y="395935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5120640" y="3959352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about the programme, the market or the path ahead.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22960" y="4901184"/>
            <a:ext cx="1051560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042416" y="5111496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pic>
        <p:nvPicPr>
          <p:cNvPr id="17" name="Image 2" descr="/home/claude/tequila/media/image-13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113" y="5247193"/>
            <a:ext cx="240670" cy="24067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37360" y="503834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confirmed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5120640" y="5038344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questionnaire, and Session 2 on Wednesday 15 July.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quila/media/image-14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57200"/>
            <a:ext cx="4206240" cy="4206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731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ABOARD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786384" y="118872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100"/>
              </a:lnSpc>
              <a:buNone/>
            </a:pPr>
            <a:r>
              <a:rPr lang="en-US" sz="33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next decade of tequila is being decided in India.</a:t>
            </a:r>
            <a:endParaRPr lang="en-US" sz="3300" dirty="0"/>
          </a:p>
          <a:p>
            <a:pPr indent="0" marL="0">
              <a:lnSpc>
                <a:spcPts val="4100"/>
              </a:lnSpc>
              <a:buNone/>
            </a:pPr>
            <a:r>
              <a:rPr lang="en-US" sz="33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 are in the room.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822960" y="3200400"/>
            <a:ext cx="2926080" cy="0"/>
          </a:xfrm>
          <a:prstGeom prst="line">
            <a:avLst/>
          </a:prstGeom>
          <a:noFill/>
          <a:ln w="15875">
            <a:solidFill>
              <a:srgbClr val="8B6E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33832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your questionnaire this week. We will see you at Session 2. Let's build this together.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822960" y="4343400"/>
            <a:ext cx="10515600" cy="1188720"/>
          </a:xfrm>
          <a:prstGeom prst="roundRect">
            <a:avLst>
              <a:gd name="adj" fmla="val 5385"/>
            </a:avLst>
          </a:prstGeom>
          <a:solidFill>
            <a:srgbClr val="ECE3D2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45537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K. Tiwari</a:t>
            </a:r>
            <a:pPr indent="0" marL="0">
              <a:buNone/>
            </a:pPr>
            <a:r>
              <a:rPr lang="en-US" sz="16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Chief Executive Officer, México–India Business Council</a:t>
            </a:r>
            <a:endParaRPr lang="en-US" sz="1600" dirty="0"/>
          </a:p>
        </p:txBody>
      </p:sp>
      <p:pic>
        <p:nvPicPr>
          <p:cNvPr id="9" name="Image 1" descr="/home/claude/tequila/media/image-14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507492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08176" y="50566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ceo@mexicoindia.org</a:t>
            </a:r>
            <a:endParaRPr lang="en-US" sz="1300" dirty="0"/>
          </a:p>
        </p:txBody>
      </p:sp>
      <p:pic>
        <p:nvPicPr>
          <p:cNvPr id="11" name="Image 2" descr="/home/claude/tequila/media/image-14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5074920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45736" y="50566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www.mexicoindia.org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7726680" y="50566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linkedin.com/company/mibcorg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22960" y="59436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DISCOVER.   CONNECT.   GROW IN INDIA.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Tequila Accelerator · Cohort 1 Kickoff &amp; Session 1</dc:title>
  <dc:subject>PptxGenJS Presentation</dc:subject>
  <dc:creator>México–India Business Council</dc:creator>
  <cp:lastModifiedBy>México–India Business Council</cp:lastModifiedBy>
  <cp:revision>1</cp:revision>
  <dcterms:created xsi:type="dcterms:W3CDTF">2026-07-08T14:44:43Z</dcterms:created>
  <dcterms:modified xsi:type="dcterms:W3CDTF">2026-07-08T14:44:43Z</dcterms:modified>
</cp:coreProperties>
</file>