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0" r:id="rId2"/>
    <p:sldId id="301" r:id="rId22"/>
    <p:sldId id="302" r:id="rId3"/>
    <p:sldId id="303" r:id="rId5"/>
    <p:sldId id="304" r:id="rId6"/>
    <p:sldId id="305" r:id="rId24"/>
    <p:sldId id="306" r:id="rId23"/>
    <p:sldId id="307" r:id="rId7"/>
    <p:sldId id="308" r:id="rId8"/>
    <p:sldId id="309" r:id="rId9"/>
    <p:sldId id="310" r:id="rId10"/>
    <p:sldId id="311" r:id="rId11"/>
    <p:sldId id="312" r:id="rId12"/>
    <p:sldId id="313" r:id="rId25"/>
    <p:sldId id="314" r:id="rId13"/>
    <p:sldId id="315" r:id="rId14"/>
    <p:sldId id="316"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scene, and lean on the date: in the last week of THIS month you sit across from an Indian importer, and they decide in thirty minutes. Phase 3 exists to make sure you pass that meeting before you enter it. Say the date once and let it create the urgency; do not apologise for the pace. Quote the live pricing-sheet count from the tracker when you reach step one; nothing is printed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steps, briskly. Steps 4 to 9 are the six tests; step 5, the five sentences, is the slide of the day. Step 10 is new and theirs: the questions they ask the importer.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concretely, and give them the clock: five story, ten numbers, ten terms, five next steps. The importer reads the sheet before the meeting, so the houses without sheets understand the stakes without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empathy slide, and the numbers make it real: the importer fronts the duty months before revenue, runs hundreds of brands with a small sales team, and already knows the category pays because Cuervo went from three thousand cases to sixty thousand. Land the punchline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because Phase 2 built it. The two meeting-specific papers are the news: the authorisation letter template naming importer and SKUs, FSSAI requires it anyway, so having it drafted signals readiness; and the Class 33 status, because Maharashtra asks for proof and serious importers ask sooner. The Council files Class 33 for any house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of the day. Read the five aloud, slowly, then say: every founder in this cohort says these cold, in English, before September. Sentences two and three take their numbers from your own pricing work: your landed figure, your planned shelf, your anchor, your states. The mock pitch tests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norm is programme guidance, not statute; the Commercial Terms Framework carries the reasoning. Exclusivity is the one they will push on: state-wise or performance-linked, never blanket national first. Payment: LC or part-advance while trust builds. Registration: the importer pays and recovers, so the house must know the figures before the importer names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come from the Council this week so thirty-seven houses do not invent thirty-seven formats: the sell sheet and the ten-slide house deck. Price list carries incoterms stated plainly. The folder travels as one link, not seven attachments.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test. Thirty seconds of house story; one positioning sentence against the shelf they saw in Session 4, value bottles against the tax floor, premium bottles against Don Julio; home proof points; why India, why now; and a tasting script in English, because the founder pours and talks at the same time in these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questions live in File 18 in full; on stage, give the five clusters and the five never-dos. The twenty-four-hour rule closes it: folder link within a day, while the tasting is still on their palate.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of the teaching: nobody's first rehearsal is the real meeting. Tool 03 scores each house against the six tests; the mock pitch runs in the one-to-ones over the next two weeks, in English, timed, with the fifteen questions asked hard; and the September room is filled by readiness, not by queue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sends, one horizon. Pricing first, always. Mock-pitch booking opens today; slots run late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and short. Mock-pitch bookings and questions on the group and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every number checkable. Walk left to right: the programme is nearly complete on every line but one. Then the landing: twenty-three of thirty-seven, fourteen to go, and the late-August room is filled from those sheets. Say it once, no scolding.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three rows, not nine: Cuervo through Monika since 2019, Komos through a Delhi house incorporated only in 2023, Clase Azul through a curation house. The lesson: doors exist at every tier and new ones open every quarter; Brown-Forman has named El Jimador and Herradura next. For the mezcal houses, point at row five: the mezcal door is already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they photograph. Walk it tier by tier: the multinationals own their tequila and set the ceiling, so study them and do not pitch them. The large importers sign few and sign on numbers; Monika is the proof the category pays. Then underline the third row: the curated houses, where a craft house actually closes. Chason signed Komos inside its first year of 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muscle: the meeting runs both ways, and a prepared house interviews the importer. Read four aloud: states, the agave history, who pays registration, and who owns my brand by name. Question ten matters most; a brand with no named owner inside the importer dies quietly in month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1"/>
        </a:solidFill>
      </p:bgPr>
    </p:bg>
    <p:spTree>
      <p:nvGrpSpPr>
        <p:cNvPr id="1" name=""/>
        <p:cNvGrpSpPr/>
        <p:nvPr/>
      </p:nvGrpSpPr>
      <p:grpSpPr>
        <a:xfrm>
          <a:off x="0" y="0"/>
          <a:ext cx="0" cy="0"/>
          <a:chOff x="0" y="0"/>
          <a:chExt cx="0" cy="0"/>
        </a:xfrm>
      </p:grpSpPr>
      <p:sp>
        <p:nvSpPr>
          <p:cNvPr id="3" name="Shape 0"/>
          <p:cNvSpPr/>
          <p:nvPr/>
        </p:nvSpPr>
        <p:spPr>
          <a:xfrm>
            <a:off x="5001768" y="566928"/>
            <a:ext cx="2194560" cy="0"/>
          </a:xfrm>
          <a:prstGeom prst="line">
            <a:avLst/>
          </a:prstGeom>
          <a:noFill/>
          <a:ln w="12700">
            <a:solidFill>
              <a:srgbClr val="8B6E3D"/>
            </a:solidFill>
            <a:prstDash val="solid"/>
          </a:ln>
        </p:spPr>
      </p:sp>
      <p:sp>
        <p:nvSpPr>
          <p:cNvPr id="4" name="Text 1"/>
          <p:cNvSpPr/>
          <p:nvPr/>
        </p:nvSpPr>
        <p:spPr>
          <a:xfrm>
            <a:off x="3813048" y="640080"/>
            <a:ext cx="4572000" cy="329184"/>
          </a:xfrm>
          <a:prstGeom prst="rect">
            <a:avLst/>
          </a:prstGeom>
          <a:noFill/>
          <a:ln/>
        </p:spPr>
        <p:txBody>
          <a:bodyPr wrap="square" lIns="0" tIns="0" rIns="0" bIns="0" rtlCol="0" anchor="ctr"/>
          <a:lstStyle/>
          <a:p>
            <a:pPr algn="ctr" indent="0" marL="0">
              <a:buNone/>
            </a:pPr>
            <a:r>
              <a:rPr lang="en-US" sz="1700" b="1" spc="400" kern="0" dirty="0">
                <a:solidFill>
                  <a:srgbClr val="26221C"/>
                </a:solidFill>
                <a:latin typeface="Bookman Old Style" pitchFamily="34" charset="0"/>
                <a:ea typeface="Bookman Old Style" pitchFamily="34" charset="-122"/>
                <a:cs typeface="Bookman Old Style" pitchFamily="34" charset="-120"/>
              </a:rPr>
              <a:t>MÉXICO–INDIA</a:t>
            </a:r>
            <a:endParaRPr lang="en-US" sz="1700" dirty="0"/>
          </a:p>
        </p:txBody>
      </p:sp>
      <p:sp>
        <p:nvSpPr>
          <p:cNvPr id="5" name="Text 2"/>
          <p:cNvSpPr/>
          <p:nvPr/>
        </p:nvSpPr>
        <p:spPr>
          <a:xfrm>
            <a:off x="3813048" y="969264"/>
            <a:ext cx="4572000" cy="219456"/>
          </a:xfrm>
          <a:prstGeom prst="rect">
            <a:avLst/>
          </a:prstGeom>
          <a:noFill/>
          <a:ln/>
        </p:spPr>
        <p:txBody>
          <a:bodyPr wrap="square" lIns="0" tIns="0" rIns="0" bIns="0" rtlCol="0" anchor="ctr"/>
          <a:lstStyle/>
          <a:p>
            <a:pPr algn="ctr" indent="0" marL="0">
              <a:buNone/>
            </a:pPr>
            <a:r>
              <a:rPr lang="en-US" sz="850" spc="200" kern="0" dirty="0">
                <a:solidFill>
                  <a:srgbClr val="4A4338"/>
                </a:solidFill>
                <a:latin typeface="Calibri" pitchFamily="34" charset="0"/>
                <a:ea typeface="Calibri" pitchFamily="34" charset="-122"/>
                <a:cs typeface="Calibri" pitchFamily="34" charset="-120"/>
              </a:rPr>
              <a:t>B U S I N E S S   C O U N C I L</a:t>
            </a:r>
            <a:endParaRPr lang="en-US" sz="850" dirty="0"/>
          </a:p>
        </p:txBody>
      </p:sp>
      <p:sp>
        <p:nvSpPr>
          <p:cNvPr id="6" name="Shape 3"/>
          <p:cNvSpPr/>
          <p:nvPr/>
        </p:nvSpPr>
        <p:spPr>
          <a:xfrm>
            <a:off x="5001768" y="1261872"/>
            <a:ext cx="2194560" cy="0"/>
          </a:xfrm>
          <a:prstGeom prst="line">
            <a:avLst/>
          </a:prstGeom>
          <a:noFill/>
          <a:ln w="12700">
            <a:solidFill>
              <a:srgbClr val="8B6E3D"/>
            </a:solidFill>
            <a:prstDash val="solid"/>
          </a:ln>
        </p:spPr>
      </p:sp>
      <p:pic>
        <p:nvPicPr>
          <p:cNvPr id="7" name="Image 0" descr="/home/claude/tequila/build/media/image-1-1.png">    </p:cNvPr>
          <p:cNvPicPr>
            <a:picLocks noChangeAspect="1"/>
          </p:cNvPicPr>
          <p:nvPr/>
        </p:nvPicPr>
        <p:blipFill>
          <a:blip r:embed="rId1"/>
          <a:stretch>
            <a:fillRect/>
          </a:stretch>
        </p:blipFill>
        <p:spPr>
          <a:xfrm>
            <a:off x="8366760" y="2103120"/>
            <a:ext cx="3383280" cy="3383280"/>
          </a:xfrm>
          <a:prstGeom prst="rect">
            <a:avLst/>
          </a:prstGeom>
        </p:spPr>
      </p:pic>
      <p:sp>
        <p:nvSpPr>
          <p:cNvPr id="8" name="Text 4"/>
          <p:cNvSpPr/>
          <p:nvPr/>
        </p:nvSpPr>
        <p:spPr>
          <a:xfrm>
            <a:off x="822960" y="228600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C O H O R T   1      ·      S E S S I O N   5   O F   8      ·      P H A S E   3   O P E N S   T O D A Y</a:t>
            </a:r>
            <a:endParaRPr lang="en-US" sz="1100" dirty="0"/>
          </a:p>
        </p:txBody>
      </p:sp>
      <p:sp>
        <p:nvSpPr>
          <p:cNvPr id="9" name="Text 5"/>
          <p:cNvSpPr/>
          <p:nvPr/>
        </p:nvSpPr>
        <p:spPr>
          <a:xfrm>
            <a:off x="822960" y="2651760"/>
            <a:ext cx="7406640" cy="1554480"/>
          </a:xfrm>
          <a:prstGeom prst="rect">
            <a:avLst/>
          </a:prstGeom>
          <a:noFill/>
          <a:ln/>
        </p:spPr>
        <p:txBody>
          <a:bodyPr wrap="square" lIns="0" tIns="0" rIns="0" bIns="0" rtlCol="0" anchor="ctr"/>
          <a:lstStyle/>
          <a:p>
            <a:pPr indent="0" marL="0">
              <a:lnSpc>
                <a:spcPts val="4600"/>
              </a:lnSpc>
              <a:buNone/>
            </a:pPr>
            <a:r>
              <a:rPr lang="en-US" sz="4000" dirty="0">
                <a:solidFill>
                  <a:srgbClr val="26221C"/>
                </a:solidFill>
                <a:latin typeface="Bookman Old Style" pitchFamily="34" charset="0"/>
                <a:ea typeface="Bookman Old Style" pitchFamily="34" charset="-122"/>
                <a:cs typeface="Bookman Old Style" pitchFamily="34" charset="-120"/>
              </a:rPr>
              <a:t>Meeting</a:t>
            </a:r>
            <a:endParaRPr lang="en-US" sz="4000" dirty="0"/>
          </a:p>
          <a:p>
            <a:pPr indent="0" marL="0">
              <a:lnSpc>
                <a:spcPts val="4600"/>
              </a:lnSpc>
              <a:buNone/>
            </a:pPr>
            <a:r>
              <a:rPr lang="en-US" sz="4000" dirty="0">
                <a:solidFill>
                  <a:srgbClr val="26221C"/>
                </a:solidFill>
                <a:latin typeface="Bookman Old Style" pitchFamily="34" charset="0"/>
                <a:ea typeface="Bookman Old Style" pitchFamily="34" charset="-122"/>
                <a:cs typeface="Bookman Old Style" pitchFamily="34" charset="-120"/>
              </a:rPr>
              <a:t>the Importer</a:t>
            </a:r>
            <a:endParaRPr lang="en-US" sz="4000" dirty="0"/>
          </a:p>
        </p:txBody>
      </p:sp>
      <p:sp>
        <p:nvSpPr>
          <p:cNvPr id="10" name="Shape 6"/>
          <p:cNvSpPr/>
          <p:nvPr/>
        </p:nvSpPr>
        <p:spPr>
          <a:xfrm>
            <a:off x="850392" y="4434840"/>
            <a:ext cx="2926080" cy="0"/>
          </a:xfrm>
          <a:prstGeom prst="line">
            <a:avLst/>
          </a:prstGeom>
          <a:noFill/>
          <a:ln w="12700">
            <a:solidFill>
              <a:srgbClr val="6E5630"/>
            </a:solidFill>
            <a:prstDash val="solid"/>
          </a:ln>
        </p:spPr>
      </p:sp>
      <p:sp>
        <p:nvSpPr>
          <p:cNvPr id="11" name="Text 7"/>
          <p:cNvSpPr/>
          <p:nvPr/>
        </p:nvSpPr>
        <p:spPr>
          <a:xfrm>
            <a:off x="822960" y="4681728"/>
            <a:ext cx="7132320" cy="777240"/>
          </a:xfrm>
          <a:prstGeom prst="rect">
            <a:avLst/>
          </a:prstGeom>
          <a:noFill/>
          <a:ln/>
        </p:spPr>
        <p:txBody>
          <a:bodyPr wrap="square" lIns="0" tIns="0" rIns="0" bIns="0" rtlCol="0" anchor="ctr"/>
          <a:lstStyle/>
          <a:p>
            <a:pPr indent="0" marL="0">
              <a:lnSpc>
                <a:spcPts val="2000"/>
              </a:lnSpc>
              <a:buNone/>
            </a:pPr>
            <a:r>
              <a:rPr lang="en-US" sz="1450" dirty="0">
                <a:solidFill>
                  <a:srgbClr val="4A4338"/>
                </a:solidFill>
                <a:latin typeface="Calibri" pitchFamily="34" charset="0"/>
                <a:ea typeface="Calibri" pitchFamily="34" charset="-122"/>
                <a:cs typeface="Calibri" pitchFamily="34" charset="-120"/>
              </a:rPr>
              <a:t>In the last week of August you sit across from an Indian importer, and they decide in thirty minutes. Phase 3 has one job: preparing you to pass that meeting before you enter it.</a:t>
            </a:r>
            <a:endParaRPr lang="en-US" sz="1450" dirty="0"/>
          </a:p>
        </p:txBody>
      </p:sp>
      <p:sp>
        <p:nvSpPr>
          <p:cNvPr id="12" name="Text 8"/>
          <p:cNvSpPr/>
          <p:nvPr/>
        </p:nvSpPr>
        <p:spPr>
          <a:xfrm>
            <a:off x="822960" y="6172200"/>
            <a:ext cx="8229600" cy="274320"/>
          </a:xfrm>
          <a:prstGeom prst="rect">
            <a:avLst/>
          </a:prstGeom>
          <a:noFill/>
          <a:ln/>
        </p:spPr>
        <p:txBody>
          <a:bodyPr wrap="square" lIns="0" tIns="0" rIns="0" bIns="0" rtlCol="0" anchor="ctr"/>
          <a:lstStyle/>
          <a:p>
            <a:pPr indent="0" marL="0">
              <a:buNone/>
            </a:pPr>
            <a:r>
              <a:rPr lang="en-US" sz="1250" b="1" dirty="0">
                <a:solidFill>
                  <a:srgbClr val="26221C"/>
                </a:solidFill>
                <a:latin typeface="Calibri" pitchFamily="34" charset="0"/>
                <a:ea typeface="Calibri" pitchFamily="34" charset="-122"/>
                <a:cs typeface="Calibri" pitchFamily="34" charset="-120"/>
              </a:rPr>
              <a:t>Session 5  ·  Phase 3: Pricing &amp; Route to Market  ·  Saturday 8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E S S I O N   5</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Today, step by step</a:t>
            </a:r>
          </a:p>
        </p:txBody>
      </p:sp>
      <p:sp>
        <p:nvSpPr>
          <p:cNvPr id="4" name="Text 4"/>
          <p:cNvSpPr/>
          <p:nvPr/>
        </p:nvSpPr>
        <p:spPr>
          <a:xfrm>
            <a:off x="822960" y="1645920"/>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1</a:t>
            </a:r>
          </a:p>
        </p:txBody>
      </p:sp>
      <p:sp>
        <p:nvSpPr>
          <p:cNvPr id="5" name="Text 5"/>
          <p:cNvSpPr/>
          <p:nvPr/>
        </p:nvSpPr>
        <p:spPr>
          <a:xfrm>
            <a:off x="1417320" y="1656893"/>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The room in late August</a:t>
            </a:r>
          </a:p>
        </p:txBody>
      </p:sp>
      <p:sp>
        <p:nvSpPr>
          <p:cNvPr id="6" name="Text 6"/>
          <p:cNvSpPr/>
          <p:nvPr/>
        </p:nvSpPr>
        <p:spPr>
          <a:xfrm>
            <a:off x="822960" y="2039112"/>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2</a:t>
            </a:r>
          </a:p>
        </p:txBody>
      </p:sp>
      <p:sp>
        <p:nvSpPr>
          <p:cNvPr id="7" name="Text 7"/>
          <p:cNvSpPr/>
          <p:nvPr/>
        </p:nvSpPr>
        <p:spPr>
          <a:xfrm>
            <a:off x="1417320" y="2050085"/>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How the importer thinks</a:t>
            </a:r>
          </a:p>
        </p:txBody>
      </p:sp>
      <p:sp>
        <p:nvSpPr>
          <p:cNvPr id="8" name="Text 8"/>
          <p:cNvSpPr/>
          <p:nvPr/>
        </p:nvSpPr>
        <p:spPr>
          <a:xfrm>
            <a:off x="822960" y="2432304"/>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3</a:t>
            </a:r>
          </a:p>
        </p:txBody>
      </p:sp>
      <p:sp>
        <p:nvSpPr>
          <p:cNvPr id="9" name="Text 9"/>
          <p:cNvSpPr/>
          <p:nvPr/>
        </p:nvSpPr>
        <p:spPr>
          <a:xfrm>
            <a:off x="1417320" y="2443277"/>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The map of importers, by name</a:t>
            </a:r>
          </a:p>
        </p:txBody>
      </p:sp>
      <p:sp>
        <p:nvSpPr>
          <p:cNvPr id="10" name="Text 10"/>
          <p:cNvSpPr/>
          <p:nvPr/>
        </p:nvSpPr>
        <p:spPr>
          <a:xfrm>
            <a:off x="822960" y="2825496"/>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4</a:t>
            </a:r>
          </a:p>
        </p:txBody>
      </p:sp>
      <p:sp>
        <p:nvSpPr>
          <p:cNvPr id="11" name="Text 11"/>
          <p:cNvSpPr/>
          <p:nvPr/>
        </p:nvSpPr>
        <p:spPr>
          <a:xfrm>
            <a:off x="1417320" y="2836469"/>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one: the paper</a:t>
            </a:r>
          </a:p>
        </p:txBody>
      </p:sp>
      <p:sp>
        <p:nvSpPr>
          <p:cNvPr id="12" name="Text 12"/>
          <p:cNvSpPr/>
          <p:nvPr/>
        </p:nvSpPr>
        <p:spPr>
          <a:xfrm>
            <a:off x="822960" y="3218688"/>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5</a:t>
            </a:r>
          </a:p>
        </p:txBody>
      </p:sp>
      <p:sp>
        <p:nvSpPr>
          <p:cNvPr id="13" name="Text 13"/>
          <p:cNvSpPr/>
          <p:nvPr/>
        </p:nvSpPr>
        <p:spPr>
          <a:xfrm>
            <a:off x="1417320" y="3229661"/>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two: the five sentences</a:t>
            </a:r>
          </a:p>
        </p:txBody>
      </p:sp>
      <p:sp>
        <p:nvSpPr>
          <p:cNvPr id="14" name="Text 14"/>
          <p:cNvSpPr/>
          <p:nvPr/>
        </p:nvSpPr>
        <p:spPr>
          <a:xfrm>
            <a:off x="822960" y="3611880"/>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6</a:t>
            </a:r>
          </a:p>
        </p:txBody>
      </p:sp>
      <p:sp>
        <p:nvSpPr>
          <p:cNvPr id="15" name="Text 15"/>
          <p:cNvSpPr/>
          <p:nvPr/>
        </p:nvSpPr>
        <p:spPr>
          <a:xfrm>
            <a:off x="1417320" y="3622853"/>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three: decide before the meeting</a:t>
            </a:r>
          </a:p>
        </p:txBody>
      </p:sp>
      <p:sp>
        <p:nvSpPr>
          <p:cNvPr id="16" name="Text 16"/>
          <p:cNvSpPr/>
          <p:nvPr/>
        </p:nvSpPr>
        <p:spPr>
          <a:xfrm>
            <a:off x="822960" y="4005072"/>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7</a:t>
            </a:r>
          </a:p>
        </p:txBody>
      </p:sp>
      <p:sp>
        <p:nvSpPr>
          <p:cNvPr id="17" name="Text 17"/>
          <p:cNvSpPr/>
          <p:nvPr/>
        </p:nvSpPr>
        <p:spPr>
          <a:xfrm>
            <a:off x="1417320" y="4016045"/>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four: the kit you carry</a:t>
            </a:r>
          </a:p>
        </p:txBody>
      </p:sp>
      <p:sp>
        <p:nvSpPr>
          <p:cNvPr id="18" name="Text 18"/>
          <p:cNvSpPr/>
          <p:nvPr/>
        </p:nvSpPr>
        <p:spPr>
          <a:xfrm>
            <a:off x="822960" y="4398264"/>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8</a:t>
            </a:r>
          </a:p>
        </p:txBody>
      </p:sp>
      <p:sp>
        <p:nvSpPr>
          <p:cNvPr id="19" name="Text 19"/>
          <p:cNvSpPr/>
          <p:nvPr/>
        </p:nvSpPr>
        <p:spPr>
          <a:xfrm>
            <a:off x="1417320" y="4409237"/>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five: the story you tell</a:t>
            </a:r>
          </a:p>
        </p:txBody>
      </p:sp>
      <p:sp>
        <p:nvSpPr>
          <p:cNvPr id="20" name="Text 20"/>
          <p:cNvSpPr/>
          <p:nvPr/>
        </p:nvSpPr>
        <p:spPr>
          <a:xfrm>
            <a:off x="822960" y="4791456"/>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9</a:t>
            </a:r>
          </a:p>
        </p:txBody>
      </p:sp>
      <p:sp>
        <p:nvSpPr>
          <p:cNvPr id="21" name="Text 21"/>
          <p:cNvSpPr/>
          <p:nvPr/>
        </p:nvSpPr>
        <p:spPr>
          <a:xfrm>
            <a:off x="1417320" y="4802429"/>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Test six: the meeting itself</a:t>
            </a:r>
          </a:p>
        </p:txBody>
      </p:sp>
      <p:sp>
        <p:nvSpPr>
          <p:cNvPr id="22" name="Text 22"/>
          <p:cNvSpPr/>
          <p:nvPr/>
        </p:nvSpPr>
        <p:spPr>
          <a:xfrm>
            <a:off x="822960" y="5184648"/>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10</a:t>
            </a:r>
          </a:p>
        </p:txBody>
      </p:sp>
      <p:sp>
        <p:nvSpPr>
          <p:cNvPr id="23" name="Text 23"/>
          <p:cNvSpPr/>
          <p:nvPr/>
        </p:nvSpPr>
        <p:spPr>
          <a:xfrm>
            <a:off x="1417320" y="5195621"/>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The ten questions you ask them</a:t>
            </a:r>
          </a:p>
        </p:txBody>
      </p:sp>
      <p:sp>
        <p:nvSpPr>
          <p:cNvPr id="24" name="Text 24"/>
          <p:cNvSpPr/>
          <p:nvPr/>
        </p:nvSpPr>
        <p:spPr>
          <a:xfrm>
            <a:off x="822960" y="5577840"/>
            <a:ext cx="502920" cy="365760"/>
          </a:xfrm>
          <a:prstGeom prst="rect">
            <a:avLst/>
          </a:prstGeom>
          <a:noFill/>
          <a:ln/>
        </p:spPr>
        <p:txBody>
          <a:bodyPr wrap="square" lIns="0" tIns="0" rIns="0" bIns="0" rtlCol="0" anchor="ctr"/>
          <a:lstStyle/>
          <a:p>
            <a:pPr indent="0" marL="0">
              <a:buNone/>
            </a:pPr>
            <a:r>
              <a:rPr lang="en-US" sz="1500" b="1" dirty="0">
                <a:solidFill>
                  <a:srgbClr val="8B6E3D"/>
                </a:solidFill>
                <a:latin typeface="Bookman Old Style" pitchFamily="34" charset="0"/>
                <a:ea typeface="Bookman Old Style" pitchFamily="34" charset="-122"/>
                <a:cs typeface="Bookman Old Style" pitchFamily="34" charset="-120"/>
              </a:rPr>
              <a:t>11</a:t>
            </a:r>
          </a:p>
        </p:txBody>
      </p:sp>
      <p:sp>
        <p:nvSpPr>
          <p:cNvPr id="25" name="Text 25"/>
          <p:cNvSpPr/>
          <p:nvPr/>
        </p:nvSpPr>
        <p:spPr>
          <a:xfrm>
            <a:off x="1417320" y="5588813"/>
            <a:ext cx="9326880" cy="365760"/>
          </a:xfrm>
          <a:prstGeom prst="rect">
            <a:avLst/>
          </a:prstGeom>
          <a:noFill/>
          <a:ln/>
        </p:spPr>
        <p:txBody>
          <a:bodyPr wrap="square" lIns="0" tIns="0" rIns="0" bIns="0" rtlCol="0" anchor="ctr"/>
          <a:lstStyle/>
          <a:p>
            <a:pPr indent="0" marL="0">
              <a:buNone/>
            </a:pPr>
            <a:r>
              <a:rPr lang="en-US" sz="1400" b="1" dirty="0">
                <a:solidFill>
                  <a:srgbClr val="26221C"/>
                </a:solidFill>
                <a:latin typeface="Calibri" pitchFamily="34" charset="0"/>
                <a:ea typeface="Calibri" pitchFamily="34" charset="-122"/>
                <a:cs typeface="Calibri" pitchFamily="34" charset="-120"/>
              </a:rPr>
              <a:t>How we rehearse</a:t>
            </a:r>
          </a:p>
        </p:txBody>
      </p:sp>
      <p:sp>
        <p:nvSpPr>
          <p:cNvPr id="26" name="Text 26"/>
          <p:cNvSpPr/>
          <p:nvPr/>
        </p:nvSpPr>
        <p:spPr>
          <a:xfrm>
            <a:off x="822960" y="6053328"/>
            <a:ext cx="10424160" cy="457200"/>
          </a:xfrm>
          <a:prstGeom prst="rect">
            <a:avLst/>
          </a:prstGeom>
          <a:noFill/>
          <a:ln/>
        </p:spPr>
        <p:txBody>
          <a:bodyPr wrap="square" lIns="0" tIns="0" rIns="0" bIns="0" rtlCol="0" anchor="ctr"/>
          <a:lstStyle/>
          <a:p>
            <a:pPr indent="0" marL="0">
              <a:buNone/>
            </a:pPr>
            <a:r>
              <a:rPr lang="en-US" sz="1250" dirty="0">
                <a:solidFill>
                  <a:srgbClr val="4A4338"/>
                </a:solidFill>
                <a:latin typeface="Calibri" pitchFamily="34" charset="0"/>
                <a:ea typeface="Calibri" pitchFamily="34" charset="-122"/>
                <a:cs typeface="Calibri" pitchFamily="34" charset="-120"/>
              </a:rPr>
              <a:t>Then your three sends, and the late-August room. Everything taught today lands in File 18, The Importer Meeting, with Tool 03 scoring your house against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1      ·      T H E   R O O M   I N   L A T E   A U G U S T</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A curated meeting, not a trade fair.</a:t>
            </a:r>
          </a:p>
        </p:txBody>
      </p:sp>
      <p:sp>
        <p:nvSpPr>
          <p:cNvPr id="4" name="Text 4"/>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Council sets the table.</a:t>
            </a:r>
          </a:p>
        </p:txBody>
      </p:sp>
      <p:sp>
        <p:nvSpPr>
          <p:cNvPr id="5" name="Text 5"/>
          <p:cNvSpPr/>
          <p:nvPr/>
        </p:nvSpPr>
        <p:spPr>
          <a:xfrm>
            <a:off x="5029200" y="183794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Each meeting is matched: your category, your price tier, your chosen states, against an importer whose portfolio and footprint fit them. Your briefing and your samples reach them before you do.</a:t>
            </a:r>
          </a:p>
        </p:txBody>
      </p:sp>
      <p:sp>
        <p:nvSpPr>
          <p:cNvPr id="6" name="Shape 6"/>
          <p:cNvSpPr/>
          <p:nvPr/>
        </p:nvSpPr>
        <p:spPr>
          <a:xfrm>
            <a:off x="822960" y="2871216"/>
            <a:ext cx="10515600" cy="0"/>
          </a:xfrm>
          <a:prstGeom prst="line">
            <a:avLst/>
          </a:prstGeom>
          <a:noFill/>
          <a:ln w="6350">
            <a:solidFill>
              <a:srgbClr val="D8CDB6"/>
            </a:solidFill>
            <a:prstDash val="solid"/>
          </a:ln>
        </p:spPr>
      </p:sp>
      <p:sp>
        <p:nvSpPr>
          <p:cNvPr id="7" name="Text 7"/>
          <p:cNvSpPr/>
          <p:nvPr/>
        </p:nvSpPr>
        <p:spPr>
          <a:xfrm>
            <a:off x="822960" y="30175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thirty minutes, mapped.</a:t>
            </a:r>
          </a:p>
        </p:txBody>
      </p:sp>
      <p:sp>
        <p:nvSpPr>
          <p:cNvPr id="8" name="Text 8"/>
          <p:cNvSpPr/>
          <p:nvPr/>
        </p:nvSpPr>
        <p:spPr>
          <a:xfrm>
            <a:off x="5029200" y="302666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Five minutes of house and story. Ten minutes of numbers. Ten minutes of terms. Five on next steps. The importer has read your sheet before you sit down, so the meeting starts commercial.</a:t>
            </a:r>
          </a:p>
        </p:txBody>
      </p:sp>
      <p:sp>
        <p:nvSpPr>
          <p:cNvPr id="9" name="Shape 9"/>
          <p:cNvSpPr/>
          <p:nvPr/>
        </p:nvSpPr>
        <p:spPr>
          <a:xfrm>
            <a:off x="822960" y="4059936"/>
            <a:ext cx="10515600" cy="0"/>
          </a:xfrm>
          <a:prstGeom prst="line">
            <a:avLst/>
          </a:prstGeom>
          <a:noFill/>
          <a:ln w="6350">
            <a:solidFill>
              <a:srgbClr val="D8CDB6"/>
            </a:solidFill>
            <a:prstDash val="solid"/>
          </a:ln>
        </p:spPr>
      </p:sp>
      <p:sp>
        <p:nvSpPr>
          <p:cNvPr id="10" name="Text 10"/>
          <p:cNvSpPr/>
          <p:nvPr/>
        </p:nvSpPr>
        <p:spPr>
          <a:xfrm>
            <a:off x="822960" y="420624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They judge the house, not just the liquid.</a:t>
            </a:r>
          </a:p>
        </p:txBody>
      </p:sp>
      <p:sp>
        <p:nvSpPr>
          <p:cNvPr id="11" name="Text 11"/>
          <p:cNvSpPr/>
          <p:nvPr/>
        </p:nvSpPr>
        <p:spPr>
          <a:xfrm>
            <a:off x="5029200" y="421538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They are deciding whether you are easy to work with: papers ready, answers direct, follow-up inside a day. The tasting confirms; it does not decide.</a:t>
            </a:r>
          </a:p>
        </p:txBody>
      </p:sp>
      <p:sp>
        <p:nvSpPr>
          <p:cNvPr id="12" name="Shape 12"/>
          <p:cNvSpPr/>
          <p:nvPr/>
        </p:nvSpPr>
        <p:spPr>
          <a:xfrm>
            <a:off x="850392" y="5943600"/>
            <a:ext cx="2011680" cy="0"/>
          </a:xfrm>
          <a:prstGeom prst="line">
            <a:avLst/>
          </a:prstGeom>
          <a:noFill/>
          <a:ln w="12700">
            <a:solidFill>
              <a:srgbClr val="6E5630"/>
            </a:solidFill>
            <a:prstDash val="solid"/>
          </a:ln>
        </p:spPr>
      </p:sp>
      <p:sp>
        <p:nvSpPr>
          <p:cNvPr id="13" name="Text 13"/>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An importer decides in thirty minutes. We prepare for weeks.</a:t>
            </a:r>
          </a:p>
        </p:txBody>
      </p:sp>
      <p:sp>
        <p:nvSpPr>
          <p:cNvPr id="14" name="Text 14"/>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2      ·      H O W   T H E   I M P O R T E R   T H I N K S</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Sit on their side of the table for three minutes.</a:t>
            </a:r>
          </a:p>
        </p:txBody>
      </p:sp>
      <p:sp>
        <p:nvSpPr>
          <p:cNvPr id="4" name="Text 4"/>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They pay before they earn.</a:t>
            </a:r>
          </a:p>
        </p:txBody>
      </p:sp>
      <p:sp>
        <p:nvSpPr>
          <p:cNvPr id="5" name="Text 5"/>
          <p:cNvSpPr/>
          <p:nvPr/>
        </p:nvSpPr>
        <p:spPr>
          <a:xfrm>
            <a:off x="5029200" y="183794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Your importer writes the duty cheque at clearance, months before the first bottle sells. A slow brand is their money parked in a bonded warehouse. Every question they ask traces back to this.</a:t>
            </a:r>
          </a:p>
        </p:txBody>
      </p:sp>
      <p:sp>
        <p:nvSpPr>
          <p:cNvPr id="6" name="Shape 6"/>
          <p:cNvSpPr/>
          <p:nvPr/>
        </p:nvSpPr>
        <p:spPr>
          <a:xfrm>
            <a:off x="822960" y="2871216"/>
            <a:ext cx="10515600" cy="0"/>
          </a:xfrm>
          <a:prstGeom prst="line">
            <a:avLst/>
          </a:prstGeom>
          <a:noFill/>
          <a:ln w="6350">
            <a:solidFill>
              <a:srgbClr val="D8CDB6"/>
            </a:solidFill>
            <a:prstDash val="solid"/>
          </a:ln>
        </p:spPr>
      </p:sp>
      <p:sp>
        <p:nvSpPr>
          <p:cNvPr id="7" name="Text 7"/>
          <p:cNvSpPr/>
          <p:nvPr/>
        </p:nvSpPr>
        <p:spPr>
          <a:xfrm>
            <a:off x="822960" y="30175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They carry hundreds of brands.</a:t>
            </a:r>
          </a:p>
        </p:txBody>
      </p:sp>
      <p:sp>
        <p:nvSpPr>
          <p:cNvPr id="8" name="Text 8"/>
          <p:cNvSpPr/>
          <p:nvPr/>
        </p:nvSpPr>
        <p:spPr>
          <a:xfrm>
            <a:off x="5029200" y="302666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Aspri runs 323 brands across 835 SKUs. Monika Alcobev runs more than 200 labels. Your bottle is not competing for a shelf; it is competing for a salesman's day.</a:t>
            </a:r>
          </a:p>
        </p:txBody>
      </p:sp>
      <p:sp>
        <p:nvSpPr>
          <p:cNvPr id="9" name="Shape 9"/>
          <p:cNvSpPr/>
          <p:nvPr/>
        </p:nvSpPr>
        <p:spPr>
          <a:xfrm>
            <a:off x="822960" y="4059936"/>
            <a:ext cx="10515600" cy="0"/>
          </a:xfrm>
          <a:prstGeom prst="line">
            <a:avLst/>
          </a:prstGeom>
          <a:noFill/>
          <a:ln w="6350">
            <a:solidFill>
              <a:srgbClr val="D8CDB6"/>
            </a:solidFill>
            <a:prstDash val="solid"/>
          </a:ln>
        </p:spPr>
      </p:sp>
      <p:sp>
        <p:nvSpPr>
          <p:cNvPr id="10" name="Text 10"/>
          <p:cNvSpPr/>
          <p:nvPr/>
        </p:nvSpPr>
        <p:spPr>
          <a:xfrm>
            <a:off x="822960" y="420624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category already pays.</a:t>
            </a:r>
          </a:p>
        </p:txBody>
      </p:sp>
      <p:sp>
        <p:nvSpPr>
          <p:cNvPr id="11" name="Text 11"/>
          <p:cNvSpPr/>
          <p:nvPr/>
        </p:nvSpPr>
        <p:spPr>
          <a:xfrm>
            <a:off x="5029200" y="4215384"/>
            <a:ext cx="6309360" cy="105156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Tequila sales in India nearly doubled in 2024, and Jose Cuervo grew from 3,300 cases to 60,000 in seven years with one importer. You are not selling an idea. You are selling the next chapter of a story they already believe.</a:t>
            </a:r>
          </a:p>
        </p:txBody>
      </p:sp>
      <p:sp>
        <p:nvSpPr>
          <p:cNvPr id="12" name="Shape 12"/>
          <p:cNvSpPr/>
          <p:nvPr/>
        </p:nvSpPr>
        <p:spPr>
          <a:xfrm>
            <a:off x="850392" y="5943600"/>
            <a:ext cx="2011680" cy="0"/>
          </a:xfrm>
          <a:prstGeom prst="line">
            <a:avLst/>
          </a:prstGeom>
          <a:noFill/>
          <a:ln w="12700">
            <a:solidFill>
              <a:srgbClr val="6E5630"/>
            </a:solidFill>
            <a:prstDash val="solid"/>
          </a:ln>
        </p:spPr>
      </p:sp>
      <p:sp>
        <p:nvSpPr>
          <p:cNvPr id="13" name="Text 13"/>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You are not selling tequila. You are selling an easy partnership.</a:t>
            </a:r>
          </a:p>
        </p:txBody>
      </p:sp>
      <p:sp>
        <p:nvSpPr>
          <p:cNvPr id="14" name="Text 14"/>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4      ·      T E S T   O N E ,   T H E   P A P E R</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Your folder, plus two papers the meeting will ask for.</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folder you built in Phase 2.</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Certificado de Cumplimiento, IMPI and Convenio where a third party distils, the batch CoA with India's four metals, label artwork that passes the nine points, your pricing sheet.</a:t>
            </a:r>
            <a:endParaRPr lang="en-US" sz="1300" dirty="0"/>
          </a:p>
        </p:txBody>
      </p:sp>
      <p:sp>
        <p:nvSpPr>
          <p:cNvPr id="7" name="Shape 4"/>
          <p:cNvSpPr/>
          <p:nvPr/>
        </p:nvSpPr>
        <p:spPr>
          <a:xfrm>
            <a:off x="822960" y="2743200"/>
            <a:ext cx="10515600" cy="0"/>
          </a:xfrm>
          <a:prstGeom prst="line">
            <a:avLst/>
          </a:prstGeom>
          <a:noFill/>
          <a:ln w="6350">
            <a:solidFill>
              <a:srgbClr val="D8CDB6"/>
            </a:solidFill>
            <a:prstDash val="solid"/>
          </a:ln>
        </p:spPr>
      </p:sp>
      <p:sp>
        <p:nvSpPr>
          <p:cNvPr id="8" name="Text 5"/>
          <p:cNvSpPr/>
          <p:nvPr/>
        </p:nvSpPr>
        <p:spPr>
          <a:xfrm>
            <a:off x="822960" y="288036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A brand-owner authorisation, drafted.</a:t>
            </a:r>
            <a:endParaRPr lang="en-US" sz="1400" dirty="0"/>
          </a:p>
        </p:txBody>
      </p:sp>
      <p:sp>
        <p:nvSpPr>
          <p:cNvPr id="9" name="Text 6"/>
          <p:cNvSpPr/>
          <p:nvPr/>
        </p:nvSpPr>
        <p:spPr>
          <a:xfrm>
            <a:off x="5029200" y="288950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The letter naming your importer and every SKU. FSSAI requires it at clearance anyway; walking in with it drafted says your house is ready to sign.</a:t>
            </a:r>
            <a:endParaRPr lang="en-US" sz="1300" dirty="0"/>
          </a:p>
        </p:txBody>
      </p:sp>
      <p:sp>
        <p:nvSpPr>
          <p:cNvPr id="10" name="Shape 7"/>
          <p:cNvSpPr/>
          <p:nvPr/>
        </p:nvSpPr>
        <p:spPr>
          <a:xfrm>
            <a:off x="822960" y="3794760"/>
            <a:ext cx="10515600" cy="0"/>
          </a:xfrm>
          <a:prstGeom prst="line">
            <a:avLst/>
          </a:prstGeom>
          <a:noFill/>
          <a:ln w="6350">
            <a:solidFill>
              <a:srgbClr val="D8CDB6"/>
            </a:solidFill>
            <a:prstDash val="solid"/>
          </a:ln>
        </p:spPr>
      </p:sp>
      <p:sp>
        <p:nvSpPr>
          <p:cNvPr id="11" name="Text 8"/>
          <p:cNvSpPr/>
          <p:nvPr/>
        </p:nvSpPr>
        <p:spPr>
          <a:xfrm>
            <a:off x="822960" y="39319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Your trademark, filed or filing.</a:t>
            </a:r>
            <a:endParaRPr lang="en-US" sz="1400" dirty="0"/>
          </a:p>
        </p:txBody>
      </p:sp>
      <p:sp>
        <p:nvSpPr>
          <p:cNvPr id="12" name="Text 9"/>
          <p:cNvSpPr/>
          <p:nvPr/>
        </p:nvSpPr>
        <p:spPr>
          <a:xfrm>
            <a:off x="5029200" y="39410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Maharashtra lists it as a required document and serious importers ask about it early. The Council files Class 33 for any house on request.</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No folder, no meeting.</a:t>
            </a:r>
            <a:endParaRPr lang="en-US" sz="1350" dirty="0"/>
          </a:p>
        </p:txBody>
      </p:sp>
      <p:sp>
        <p:nvSpPr>
          <p:cNvPr id="15" name="Text 12"/>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A L R E A D Y   I N   Y O U R   S E T</a:t>
            </a:r>
            <a:pPr indent="0" marL="0">
              <a:buNone/>
            </a:pPr>
            <a:r>
              <a:rPr lang="en-US" sz="1050" i="1" dirty="0">
                <a:solidFill>
                  <a:srgbClr val="6E5630"/>
                </a:solidFill>
                <a:latin typeface="Calibri" pitchFamily="34" charset="0"/>
                <a:ea typeface="Calibri" pitchFamily="34" charset="-122"/>
                <a:cs typeface="Calibri" pitchFamily="34" charset="-120"/>
              </a:rPr>
              <a:t>      No. 11 · The Phase 2 Submission Pack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5      ·      T E S T   T W O ,   T H E   F I V E   S E N T E N C E S</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Five sentences, cold, in English. That is the entry fee.</a:t>
            </a:r>
            <a:endParaRPr lang="en-US" sz="2600" dirty="0"/>
          </a:p>
        </p:txBody>
      </p:sp>
      <p:sp>
        <p:nvSpPr>
          <p:cNvPr id="5" name="Text 2"/>
          <p:cNvSpPr/>
          <p:nvPr/>
        </p:nvSpPr>
        <p:spPr>
          <a:xfrm>
            <a:off x="822960" y="1783080"/>
            <a:ext cx="457200" cy="457200"/>
          </a:xfrm>
          <a:prstGeom prst="rect">
            <a:avLst/>
          </a:prstGeom>
          <a:noFill/>
          <a:ln/>
        </p:spPr>
        <p:txBody>
          <a:bodyPr wrap="square" lIns="0" tIns="0" rIns="0" bIns="0" rtlCol="0" anchor="ctr"/>
          <a:lstStyle/>
          <a:p>
            <a:pPr indent="0" marL="0">
              <a:buNone/>
            </a:pPr>
            <a:r>
              <a:rPr lang="en-US" sz="1700" b="1" dirty="0">
                <a:solidFill>
                  <a:srgbClr val="8B6E3D"/>
                </a:solidFill>
                <a:latin typeface="Bookman Old Style" pitchFamily="34" charset="0"/>
                <a:ea typeface="Bookman Old Style" pitchFamily="34" charset="-122"/>
                <a:cs typeface="Bookman Old Style" pitchFamily="34" charset="-120"/>
              </a:rPr>
              <a:t>1</a:t>
            </a:r>
            <a:endParaRPr lang="en-US" sz="1700" dirty="0"/>
          </a:p>
        </p:txBody>
      </p:sp>
      <p:sp>
        <p:nvSpPr>
          <p:cNvPr id="6" name="Text 3"/>
          <p:cNvSpPr/>
          <p:nvPr/>
        </p:nvSpPr>
        <p:spPr>
          <a:xfrm>
            <a:off x="1371600" y="1810512"/>
            <a:ext cx="9875520" cy="658368"/>
          </a:xfrm>
          <a:prstGeom prst="rect">
            <a:avLst/>
          </a:prstGeom>
          <a:noFill/>
          <a:ln/>
        </p:spPr>
        <p:txBody>
          <a:bodyPr wrap="square" lIns="0" tIns="0" rIns="0" bIns="0" rtlCol="0" anchor="ctr"/>
          <a:lstStyle/>
          <a:p>
            <a:pPr indent="0" marL="0">
              <a:lnSpc>
                <a:spcPts val="1800"/>
              </a:lnSpc>
              <a:buNone/>
            </a:pPr>
            <a:r>
              <a:rPr lang="en-US" sz="1450" b="1" dirty="0">
                <a:solidFill>
                  <a:srgbClr val="26221C"/>
                </a:solidFill>
                <a:latin typeface="Calibri" pitchFamily="34" charset="0"/>
                <a:ea typeface="Calibri" pitchFamily="34" charset="-122"/>
                <a:cs typeface="Calibri" pitchFamily="34" charset="-120"/>
              </a:rPr>
              <a:t>India charges 150 percent duty. My price is built for it.</a:t>
            </a:r>
            <a:endParaRPr lang="en-US" sz="1450" dirty="0"/>
          </a:p>
        </p:txBody>
      </p:sp>
      <p:sp>
        <p:nvSpPr>
          <p:cNvPr id="7" name="Shape 4"/>
          <p:cNvSpPr/>
          <p:nvPr/>
        </p:nvSpPr>
        <p:spPr>
          <a:xfrm>
            <a:off x="1371600" y="2404872"/>
            <a:ext cx="9326880" cy="0"/>
          </a:xfrm>
          <a:prstGeom prst="line">
            <a:avLst/>
          </a:prstGeom>
          <a:noFill/>
          <a:ln w="5080">
            <a:solidFill>
              <a:srgbClr val="D8CDB6"/>
            </a:solidFill>
            <a:prstDash val="solid"/>
          </a:ln>
        </p:spPr>
      </p:sp>
      <p:sp>
        <p:nvSpPr>
          <p:cNvPr id="8" name="Text 5"/>
          <p:cNvSpPr/>
          <p:nvPr/>
        </p:nvSpPr>
        <p:spPr>
          <a:xfrm>
            <a:off x="822960" y="2532888"/>
            <a:ext cx="457200" cy="457200"/>
          </a:xfrm>
          <a:prstGeom prst="rect">
            <a:avLst/>
          </a:prstGeom>
          <a:noFill/>
          <a:ln/>
        </p:spPr>
        <p:txBody>
          <a:bodyPr wrap="square" lIns="0" tIns="0" rIns="0" bIns="0" rtlCol="0" anchor="ctr"/>
          <a:lstStyle/>
          <a:p>
            <a:pPr indent="0" marL="0">
              <a:buNone/>
            </a:pPr>
            <a:r>
              <a:rPr lang="en-US" sz="1700" b="1" dirty="0">
                <a:solidFill>
                  <a:srgbClr val="8B6E3D"/>
                </a:solidFill>
                <a:latin typeface="Bookman Old Style" pitchFamily="34" charset="0"/>
                <a:ea typeface="Bookman Old Style" pitchFamily="34" charset="-122"/>
                <a:cs typeface="Bookman Old Style" pitchFamily="34" charset="-120"/>
              </a:rPr>
              <a:t>2</a:t>
            </a:r>
            <a:endParaRPr lang="en-US" sz="1700" dirty="0"/>
          </a:p>
        </p:txBody>
      </p:sp>
      <p:sp>
        <p:nvSpPr>
          <p:cNvPr id="9" name="Text 6"/>
          <p:cNvSpPr/>
          <p:nvPr/>
        </p:nvSpPr>
        <p:spPr>
          <a:xfrm>
            <a:off x="1371600" y="2560320"/>
            <a:ext cx="9875520" cy="658368"/>
          </a:xfrm>
          <a:prstGeom prst="rect">
            <a:avLst/>
          </a:prstGeom>
          <a:noFill/>
          <a:ln/>
        </p:spPr>
        <p:txBody>
          <a:bodyPr wrap="square" lIns="0" tIns="0" rIns="0" bIns="0" rtlCol="0" anchor="ctr"/>
          <a:lstStyle/>
          <a:p>
            <a:pPr indent="0" marL="0">
              <a:lnSpc>
                <a:spcPts val="1800"/>
              </a:lnSpc>
              <a:buNone/>
            </a:pPr>
            <a:r>
              <a:rPr lang="en-US" sz="1450" b="1" dirty="0">
                <a:solidFill>
                  <a:srgbClr val="26221C"/>
                </a:solidFill>
                <a:latin typeface="Calibri" pitchFamily="34" charset="0"/>
                <a:ea typeface="Calibri" pitchFamily="34" charset="-122"/>
                <a:cs typeface="Calibri" pitchFamily="34" charset="-120"/>
              </a:rPr>
              <a:t>My bottle lands at about two and a half times my FOB, and sells at my planned shelf, beside my anchor brand.</a:t>
            </a:r>
            <a:endParaRPr lang="en-US" sz="1450" dirty="0"/>
          </a:p>
        </p:txBody>
      </p:sp>
      <p:sp>
        <p:nvSpPr>
          <p:cNvPr id="10" name="Shape 7"/>
          <p:cNvSpPr/>
          <p:nvPr/>
        </p:nvSpPr>
        <p:spPr>
          <a:xfrm>
            <a:off x="1371600" y="3154680"/>
            <a:ext cx="9326880" cy="0"/>
          </a:xfrm>
          <a:prstGeom prst="line">
            <a:avLst/>
          </a:prstGeom>
          <a:noFill/>
          <a:ln w="5080">
            <a:solidFill>
              <a:srgbClr val="D8CDB6"/>
            </a:solidFill>
            <a:prstDash val="solid"/>
          </a:ln>
        </p:spPr>
      </p:sp>
      <p:sp>
        <p:nvSpPr>
          <p:cNvPr id="11" name="Text 8"/>
          <p:cNvSpPr/>
          <p:nvPr/>
        </p:nvSpPr>
        <p:spPr>
          <a:xfrm>
            <a:off x="822960" y="3282696"/>
            <a:ext cx="457200" cy="457200"/>
          </a:xfrm>
          <a:prstGeom prst="rect">
            <a:avLst/>
          </a:prstGeom>
          <a:noFill/>
          <a:ln/>
        </p:spPr>
        <p:txBody>
          <a:bodyPr wrap="square" lIns="0" tIns="0" rIns="0" bIns="0" rtlCol="0" anchor="ctr"/>
          <a:lstStyle/>
          <a:p>
            <a:pPr indent="0" marL="0">
              <a:buNone/>
            </a:pPr>
            <a:r>
              <a:rPr lang="en-US" sz="1700" b="1" dirty="0">
                <a:solidFill>
                  <a:srgbClr val="8B6E3D"/>
                </a:solidFill>
                <a:latin typeface="Bookman Old Style" pitchFamily="34" charset="0"/>
                <a:ea typeface="Bookman Old Style" pitchFamily="34" charset="-122"/>
                <a:cs typeface="Bookman Old Style" pitchFamily="34" charset="-120"/>
              </a:rPr>
              <a:t>3</a:t>
            </a:r>
            <a:endParaRPr lang="en-US" sz="1700" dirty="0"/>
          </a:p>
        </p:txBody>
      </p:sp>
      <p:sp>
        <p:nvSpPr>
          <p:cNvPr id="12" name="Text 9"/>
          <p:cNvSpPr/>
          <p:nvPr/>
        </p:nvSpPr>
        <p:spPr>
          <a:xfrm>
            <a:off x="1371600" y="3310128"/>
            <a:ext cx="9875520" cy="658368"/>
          </a:xfrm>
          <a:prstGeom prst="rect">
            <a:avLst/>
          </a:prstGeom>
          <a:noFill/>
          <a:ln/>
        </p:spPr>
        <p:txBody>
          <a:bodyPr wrap="square" lIns="0" tIns="0" rIns="0" bIns="0" rtlCol="0" anchor="ctr"/>
          <a:lstStyle/>
          <a:p>
            <a:pPr indent="0" marL="0">
              <a:lnSpc>
                <a:spcPts val="1800"/>
              </a:lnSpc>
              <a:buNone/>
            </a:pPr>
            <a:r>
              <a:rPr lang="en-US" sz="1450" b="1" dirty="0">
                <a:solidFill>
                  <a:srgbClr val="26221C"/>
                </a:solidFill>
                <a:latin typeface="Calibri" pitchFamily="34" charset="0"/>
                <a:ea typeface="Calibri" pitchFamily="34" charset="-122"/>
                <a:cs typeface="Calibri" pitchFamily="34" charset="-120"/>
              </a:rPr>
              <a:t>India registers state by state, every year. My first states are chosen.</a:t>
            </a:r>
            <a:endParaRPr lang="en-US" sz="1450" dirty="0"/>
          </a:p>
        </p:txBody>
      </p:sp>
      <p:sp>
        <p:nvSpPr>
          <p:cNvPr id="13" name="Shape 10"/>
          <p:cNvSpPr/>
          <p:nvPr/>
        </p:nvSpPr>
        <p:spPr>
          <a:xfrm>
            <a:off x="1371600" y="3904488"/>
            <a:ext cx="9326880" cy="0"/>
          </a:xfrm>
          <a:prstGeom prst="line">
            <a:avLst/>
          </a:prstGeom>
          <a:noFill/>
          <a:ln w="5080">
            <a:solidFill>
              <a:srgbClr val="D8CDB6"/>
            </a:solidFill>
            <a:prstDash val="solid"/>
          </a:ln>
        </p:spPr>
      </p:sp>
      <p:sp>
        <p:nvSpPr>
          <p:cNvPr id="14" name="Text 11"/>
          <p:cNvSpPr/>
          <p:nvPr/>
        </p:nvSpPr>
        <p:spPr>
          <a:xfrm>
            <a:off x="822960" y="4032504"/>
            <a:ext cx="457200" cy="457200"/>
          </a:xfrm>
          <a:prstGeom prst="rect">
            <a:avLst/>
          </a:prstGeom>
          <a:noFill/>
          <a:ln/>
        </p:spPr>
        <p:txBody>
          <a:bodyPr wrap="square" lIns="0" tIns="0" rIns="0" bIns="0" rtlCol="0" anchor="ctr"/>
          <a:lstStyle/>
          <a:p>
            <a:pPr indent="0" marL="0">
              <a:buNone/>
            </a:pPr>
            <a:r>
              <a:rPr lang="en-US" sz="1700" b="1" dirty="0">
                <a:solidFill>
                  <a:srgbClr val="8B6E3D"/>
                </a:solidFill>
                <a:latin typeface="Bookman Old Style" pitchFamily="34" charset="0"/>
                <a:ea typeface="Bookman Old Style" pitchFamily="34" charset="-122"/>
                <a:cs typeface="Bookman Old Style" pitchFamily="34" charset="-120"/>
              </a:rPr>
              <a:t>4</a:t>
            </a:r>
            <a:endParaRPr lang="en-US" sz="1700" dirty="0"/>
          </a:p>
        </p:txBody>
      </p:sp>
      <p:sp>
        <p:nvSpPr>
          <p:cNvPr id="15" name="Text 12"/>
          <p:cNvSpPr/>
          <p:nvPr/>
        </p:nvSpPr>
        <p:spPr>
          <a:xfrm>
            <a:off x="1371600" y="4059936"/>
            <a:ext cx="9875520" cy="658368"/>
          </a:xfrm>
          <a:prstGeom prst="rect">
            <a:avLst/>
          </a:prstGeom>
          <a:noFill/>
          <a:ln/>
        </p:spPr>
        <p:txBody>
          <a:bodyPr wrap="square" lIns="0" tIns="0" rIns="0" bIns="0" rtlCol="0" anchor="ctr"/>
          <a:lstStyle/>
          <a:p>
            <a:pPr indent="0" marL="0">
              <a:lnSpc>
                <a:spcPts val="1800"/>
              </a:lnSpc>
              <a:buNone/>
            </a:pPr>
            <a:r>
              <a:rPr lang="en-US" sz="1450" b="1" dirty="0">
                <a:solidFill>
                  <a:srgbClr val="26221C"/>
                </a:solidFill>
                <a:latin typeface="Calibri" pitchFamily="34" charset="0"/>
                <a:ea typeface="Calibri" pitchFamily="34" charset="-122"/>
                <a:cs typeface="Calibri" pitchFamily="34" charset="-120"/>
              </a:rPr>
              <a:t>First sale takes six to twelve months. My plan is built for that.</a:t>
            </a:r>
            <a:endParaRPr lang="en-US" sz="1450" dirty="0"/>
          </a:p>
        </p:txBody>
      </p:sp>
      <p:sp>
        <p:nvSpPr>
          <p:cNvPr id="16" name="Shape 13"/>
          <p:cNvSpPr/>
          <p:nvPr/>
        </p:nvSpPr>
        <p:spPr>
          <a:xfrm>
            <a:off x="1371600" y="4654296"/>
            <a:ext cx="9326880" cy="0"/>
          </a:xfrm>
          <a:prstGeom prst="line">
            <a:avLst/>
          </a:prstGeom>
          <a:noFill/>
          <a:ln w="5080">
            <a:solidFill>
              <a:srgbClr val="D8CDB6"/>
            </a:solidFill>
            <a:prstDash val="solid"/>
          </a:ln>
        </p:spPr>
      </p:sp>
      <p:sp>
        <p:nvSpPr>
          <p:cNvPr id="17" name="Text 14"/>
          <p:cNvSpPr/>
          <p:nvPr/>
        </p:nvSpPr>
        <p:spPr>
          <a:xfrm>
            <a:off x="822960" y="4782312"/>
            <a:ext cx="457200" cy="457200"/>
          </a:xfrm>
          <a:prstGeom prst="rect">
            <a:avLst/>
          </a:prstGeom>
          <a:noFill/>
          <a:ln/>
        </p:spPr>
        <p:txBody>
          <a:bodyPr wrap="square" lIns="0" tIns="0" rIns="0" bIns="0" rtlCol="0" anchor="ctr"/>
          <a:lstStyle/>
          <a:p>
            <a:pPr indent="0" marL="0">
              <a:buNone/>
            </a:pPr>
            <a:r>
              <a:rPr lang="en-US" sz="1700" b="1" dirty="0">
                <a:solidFill>
                  <a:srgbClr val="8B6E3D"/>
                </a:solidFill>
                <a:latin typeface="Bookman Old Style" pitchFamily="34" charset="0"/>
                <a:ea typeface="Bookman Old Style" pitchFamily="34" charset="-122"/>
                <a:cs typeface="Bookman Old Style" pitchFamily="34" charset="-120"/>
              </a:rPr>
              <a:t>5</a:t>
            </a:r>
            <a:endParaRPr lang="en-US" sz="1700" dirty="0"/>
          </a:p>
        </p:txBody>
      </p:sp>
      <p:sp>
        <p:nvSpPr>
          <p:cNvPr id="18" name="Text 15"/>
          <p:cNvSpPr/>
          <p:nvPr/>
        </p:nvSpPr>
        <p:spPr>
          <a:xfrm>
            <a:off x="1371600" y="4809744"/>
            <a:ext cx="9875520" cy="658368"/>
          </a:xfrm>
          <a:prstGeom prst="rect">
            <a:avLst/>
          </a:prstGeom>
          <a:noFill/>
          <a:ln/>
        </p:spPr>
        <p:txBody>
          <a:bodyPr wrap="square" lIns="0" tIns="0" rIns="0" bIns="0" rtlCol="0" anchor="ctr"/>
          <a:lstStyle/>
          <a:p>
            <a:pPr indent="0" marL="0">
              <a:lnSpc>
                <a:spcPts val="1800"/>
              </a:lnSpc>
              <a:buNone/>
            </a:pPr>
            <a:r>
              <a:rPr lang="en-US" sz="1450" b="1" dirty="0">
                <a:solidFill>
                  <a:srgbClr val="26221C"/>
                </a:solidFill>
                <a:latin typeface="Calibri" pitchFamily="34" charset="0"/>
                <a:ea typeface="Calibri" pitchFamily="34" charset="-122"/>
                <a:cs typeface="Calibri" pitchFamily="34" charset="-120"/>
              </a:rPr>
              <a:t>My importer holds the licences. My house holds the papers, and they are ready.</a:t>
            </a:r>
            <a:endParaRPr lang="en-US" sz="1450" dirty="0"/>
          </a:p>
        </p:txBody>
      </p:sp>
      <p:sp>
        <p:nvSpPr>
          <p:cNvPr id="19" name="Shape 16"/>
          <p:cNvSpPr/>
          <p:nvPr/>
        </p:nvSpPr>
        <p:spPr>
          <a:xfrm>
            <a:off x="850392" y="5715000"/>
            <a:ext cx="2011680" cy="0"/>
          </a:xfrm>
          <a:prstGeom prst="line">
            <a:avLst/>
          </a:prstGeom>
          <a:noFill/>
          <a:ln w="12700">
            <a:solidFill>
              <a:srgbClr val="6E5630"/>
            </a:solidFill>
            <a:prstDash val="solid"/>
          </a:ln>
        </p:spPr>
      </p:sp>
      <p:sp>
        <p:nvSpPr>
          <p:cNvPr id="20" name="Text 17"/>
          <p:cNvSpPr/>
          <p:nvPr/>
        </p:nvSpPr>
        <p:spPr>
          <a:xfrm>
            <a:off x="822960" y="58064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A house that cannot say these loses the room in two minutes.</a:t>
            </a:r>
            <a:endParaRPr lang="en-US" sz="1350" dirty="0"/>
          </a:p>
        </p:txBody>
      </p:sp>
      <p:sp>
        <p:nvSpPr>
          <p:cNvPr id="21" name="Text 18"/>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pPr indent="0" marL="0">
              <a:buNone/>
            </a:pPr>
            <a:r>
              <a:rPr lang="en-US" sz="1050" i="1" dirty="0">
                <a:solidFill>
                  <a:srgbClr val="6E5630"/>
                </a:solidFill>
                <a:latin typeface="Calibri" pitchFamily="34" charset="0"/>
                <a:ea typeface="Calibri" pitchFamily="34" charset="-122"/>
                <a:cs typeface="Calibri" pitchFamily="34" charset="-120"/>
              </a:rPr>
              <a:t>      No. 18 · The Importer Meeting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6      ·      T E S T   T H R E E ,   D E C I D E   B E F O R E   T H E   M E E T I N G</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Six decisions made before, so nothing is decided under pressure.</a:t>
            </a:r>
          </a:p>
        </p:txBody>
      </p:sp>
      <p:sp>
        <p:nvSpPr>
          <p:cNvPr id="4" name="Text 4"/>
          <p:cNvSpPr/>
          <p:nvPr/>
        </p:nvSpPr>
        <p:spPr>
          <a:xfrm>
            <a:off x="822960" y="1783080"/>
            <a:ext cx="3017520" cy="256032"/>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D E C I S I O N</a:t>
            </a:r>
          </a:p>
        </p:txBody>
      </p:sp>
      <p:sp>
        <p:nvSpPr>
          <p:cNvPr id="5" name="Text 5"/>
          <p:cNvSpPr/>
          <p:nvPr/>
        </p:nvSpPr>
        <p:spPr>
          <a:xfrm>
            <a:off x="4069080" y="1783080"/>
            <a:ext cx="7269480" cy="256032"/>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N O R M   T O   S T A R T   F R O M</a:t>
            </a:r>
          </a:p>
        </p:txBody>
      </p:sp>
      <p:sp>
        <p:nvSpPr>
          <p:cNvPr id="6" name="Shape 6"/>
          <p:cNvSpPr/>
          <p:nvPr/>
        </p:nvSpPr>
        <p:spPr>
          <a:xfrm>
            <a:off x="822960" y="2075688"/>
            <a:ext cx="10515600" cy="0"/>
          </a:xfrm>
          <a:prstGeom prst="line">
            <a:avLst/>
          </a:prstGeom>
          <a:noFill/>
          <a:ln w="12700">
            <a:solidFill>
              <a:srgbClr val="26221C"/>
            </a:solidFill>
            <a:prstDash val="solid"/>
          </a:ln>
        </p:spPr>
      </p:sp>
      <p:sp>
        <p:nvSpPr>
          <p:cNvPr id="7" name="Text 7"/>
          <p:cNvSpPr/>
          <p:nvPr/>
        </p:nvSpPr>
        <p:spPr>
          <a:xfrm>
            <a:off x="822960" y="2185416"/>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Your first states</a:t>
            </a:r>
          </a:p>
        </p:txBody>
      </p:sp>
      <p:sp>
        <p:nvSpPr>
          <p:cNvPr id="8" name="Text 8"/>
          <p:cNvSpPr/>
          <p:nvPr/>
        </p:nvSpPr>
        <p:spPr>
          <a:xfrm>
            <a:off x="4069080" y="2185416"/>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Two or three, chosen where your importer's licence already runs. Name them before the meeting.</a:t>
            </a:r>
          </a:p>
        </p:txBody>
      </p:sp>
      <p:sp>
        <p:nvSpPr>
          <p:cNvPr id="9" name="Shape 9"/>
          <p:cNvSpPr/>
          <p:nvPr/>
        </p:nvSpPr>
        <p:spPr>
          <a:xfrm>
            <a:off x="822960" y="2724912"/>
            <a:ext cx="10515600" cy="0"/>
          </a:xfrm>
          <a:prstGeom prst="line">
            <a:avLst/>
          </a:prstGeom>
          <a:noFill/>
          <a:ln w="4763">
            <a:solidFill>
              <a:srgbClr val="EBE3D5"/>
            </a:solidFill>
            <a:prstDash val="solid"/>
          </a:ln>
        </p:spPr>
      </p:sp>
      <p:sp>
        <p:nvSpPr>
          <p:cNvPr id="10" name="Text 10"/>
          <p:cNvSpPr/>
          <p:nvPr/>
        </p:nvSpPr>
        <p:spPr>
          <a:xfrm>
            <a:off x="822960" y="2793492"/>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Exclusivity</a:t>
            </a:r>
          </a:p>
        </p:txBody>
      </p:sp>
      <p:sp>
        <p:nvSpPr>
          <p:cNvPr id="11" name="Text 11"/>
          <p:cNvSpPr/>
          <p:nvPr/>
        </p:nvSpPr>
        <p:spPr>
          <a:xfrm>
            <a:off x="4069080" y="2793492"/>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State-wise or performance-linked. Blanket national exclusivity is never given in a first meeting.</a:t>
            </a:r>
          </a:p>
        </p:txBody>
      </p:sp>
      <p:sp>
        <p:nvSpPr>
          <p:cNvPr id="12" name="Shape 12"/>
          <p:cNvSpPr/>
          <p:nvPr/>
        </p:nvSpPr>
        <p:spPr>
          <a:xfrm>
            <a:off x="822960" y="3332988"/>
            <a:ext cx="10515600" cy="0"/>
          </a:xfrm>
          <a:prstGeom prst="line">
            <a:avLst/>
          </a:prstGeom>
          <a:noFill/>
          <a:ln w="4763">
            <a:solidFill>
              <a:srgbClr val="EBE3D5"/>
            </a:solidFill>
            <a:prstDash val="solid"/>
          </a:ln>
        </p:spPr>
      </p:sp>
      <p:sp>
        <p:nvSpPr>
          <p:cNvPr id="13" name="Text 13"/>
          <p:cNvSpPr/>
          <p:nvPr/>
        </p:nvSpPr>
        <p:spPr>
          <a:xfrm>
            <a:off x="822960" y="3401568"/>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Payment and instrument</a:t>
            </a:r>
          </a:p>
        </p:txBody>
      </p:sp>
      <p:sp>
        <p:nvSpPr>
          <p:cNvPr id="14" name="Text 14"/>
          <p:cNvSpPr/>
          <p:nvPr/>
        </p:nvSpPr>
        <p:spPr>
          <a:xfrm>
            <a:off x="4069080" y="3401568"/>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A letter of credit or part-advance while the relationship is new. Credit terms are earned by the second order, not granted at the first.</a:t>
            </a:r>
          </a:p>
        </p:txBody>
      </p:sp>
      <p:sp>
        <p:nvSpPr>
          <p:cNvPr id="15" name="Shape 15"/>
          <p:cNvSpPr/>
          <p:nvPr/>
        </p:nvSpPr>
        <p:spPr>
          <a:xfrm>
            <a:off x="822960" y="3941064"/>
            <a:ext cx="10515600" cy="0"/>
          </a:xfrm>
          <a:prstGeom prst="line">
            <a:avLst/>
          </a:prstGeom>
          <a:noFill/>
          <a:ln w="4763">
            <a:solidFill>
              <a:srgbClr val="EBE3D5"/>
            </a:solidFill>
            <a:prstDash val="solid"/>
          </a:ln>
        </p:spPr>
      </p:sp>
      <p:sp>
        <p:nvSpPr>
          <p:cNvPr id="16" name="Text 16"/>
          <p:cNvSpPr/>
          <p:nvPr/>
        </p:nvSpPr>
        <p:spPr>
          <a:xfrm>
            <a:off x="822960" y="4009644"/>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State registration fees</a:t>
            </a:r>
          </a:p>
        </p:txBody>
      </p:sp>
      <p:sp>
        <p:nvSpPr>
          <p:cNvPr id="17" name="Text 17"/>
          <p:cNvSpPr/>
          <p:nvPr/>
        </p:nvSpPr>
        <p:spPr>
          <a:xfrm>
            <a:off x="4069080" y="4009644"/>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The importer pays them and recovers them in the landed price. Know the state figures before they name them.</a:t>
            </a:r>
          </a:p>
        </p:txBody>
      </p:sp>
      <p:sp>
        <p:nvSpPr>
          <p:cNvPr id="18" name="Shape 18"/>
          <p:cNvSpPr/>
          <p:nvPr/>
        </p:nvSpPr>
        <p:spPr>
          <a:xfrm>
            <a:off x="822960" y="4549140"/>
            <a:ext cx="10515600" cy="0"/>
          </a:xfrm>
          <a:prstGeom prst="line">
            <a:avLst/>
          </a:prstGeom>
          <a:noFill/>
          <a:ln w="4763">
            <a:solidFill>
              <a:srgbClr val="EBE3D5"/>
            </a:solidFill>
            <a:prstDash val="solid"/>
          </a:ln>
        </p:spPr>
      </p:sp>
      <p:sp>
        <p:nvSpPr>
          <p:cNvPr id="19" name="Text 19"/>
          <p:cNvSpPr/>
          <p:nvPr/>
        </p:nvSpPr>
        <p:spPr>
          <a:xfrm>
            <a:off x="822960" y="4617720"/>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Marketing support</a:t>
            </a:r>
          </a:p>
        </p:txBody>
      </p:sp>
      <p:sp>
        <p:nvSpPr>
          <p:cNvPr id="20" name="Text 20"/>
          <p:cNvSpPr/>
          <p:nvPr/>
        </p:nvSpPr>
        <p:spPr>
          <a:xfrm>
            <a:off x="4069080" y="4617720"/>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Committed suppliers win signatures. Fix your year-one number before the table, and say what it buys.</a:t>
            </a:r>
          </a:p>
        </p:txBody>
      </p:sp>
      <p:sp>
        <p:nvSpPr>
          <p:cNvPr id="21" name="Shape 21"/>
          <p:cNvSpPr/>
          <p:nvPr/>
        </p:nvSpPr>
        <p:spPr>
          <a:xfrm>
            <a:off x="822960" y="5157216"/>
            <a:ext cx="10515600" cy="0"/>
          </a:xfrm>
          <a:prstGeom prst="line">
            <a:avLst/>
          </a:prstGeom>
          <a:noFill/>
          <a:ln w="4763">
            <a:solidFill>
              <a:srgbClr val="EBE3D5"/>
            </a:solidFill>
            <a:prstDash val="solid"/>
          </a:ln>
        </p:spPr>
      </p:sp>
      <p:sp>
        <p:nvSpPr>
          <p:cNvPr id="22" name="Text 22"/>
          <p:cNvSpPr/>
          <p:nvPr/>
        </p:nvSpPr>
        <p:spPr>
          <a:xfrm>
            <a:off x="822960" y="5225796"/>
            <a:ext cx="3017520" cy="502920"/>
          </a:xfrm>
          <a:prstGeom prst="rect">
            <a:avLst/>
          </a:prstGeom>
          <a:noFill/>
          <a:ln/>
        </p:spPr>
        <p:txBody>
          <a:bodyPr wrap="square" lIns="0" tIns="0" rIns="0" bIns="0" rtlCol="0" anchor="t"/>
          <a:lstStyle/>
          <a:p>
            <a:pPr indent="0" marL="0">
              <a:lnSpc>
                <a:spcPts val="1500"/>
              </a:lnSpc>
              <a:buNone/>
            </a:pPr>
            <a:r>
              <a:rPr lang="en-US" sz="1250" b="1" dirty="0">
                <a:solidFill>
                  <a:srgbClr val="26221C"/>
                </a:solidFill>
                <a:latin typeface="Calibri" pitchFamily="34" charset="0"/>
                <a:ea typeface="Calibri" pitchFamily="34" charset="-122"/>
                <a:cs typeface="Calibri" pitchFamily="34" charset="-120"/>
              </a:rPr>
              <a:t>The pilot</a:t>
            </a:r>
          </a:p>
        </p:txBody>
      </p:sp>
      <p:sp>
        <p:nvSpPr>
          <p:cNvPr id="23" name="Text 23"/>
          <p:cNvSpPr/>
          <p:nvPr/>
        </p:nvSpPr>
        <p:spPr>
          <a:xfrm>
            <a:off x="4069080" y="5225796"/>
            <a:ext cx="7269480" cy="502920"/>
          </a:xfrm>
          <a:prstGeom prst="rect">
            <a:avLst/>
          </a:prstGeom>
          <a:noFill/>
          <a:ln/>
        </p:spPr>
        <p:txBody>
          <a:bodyPr wrap="square" lIns="0" tIns="0" rIns="0" bIns="0" rtlCol="0" anchor="t"/>
          <a:lstStyle/>
          <a:p>
            <a:pPr indent="0" marL="0">
              <a:lnSpc>
                <a:spcPts val="1450"/>
              </a:lnSpc>
              <a:buNone/>
            </a:pPr>
            <a:r>
              <a:rPr lang="en-US" sz="1150" dirty="0">
                <a:solidFill>
                  <a:srgbClr val="4A4338"/>
                </a:solidFill>
                <a:latin typeface="Calibri" pitchFamily="34" charset="0"/>
                <a:ea typeface="Calibri" pitchFamily="34" charset="-122"/>
                <a:cs typeface="Calibri" pitchFamily="34" charset="-120"/>
              </a:rPr>
              <a:t>Two hundred to five hundred cases of one SKU, consolidated in the importer's container. A paid pilot, not a favour.</a:t>
            </a:r>
          </a:p>
        </p:txBody>
      </p:sp>
      <p:sp>
        <p:nvSpPr>
          <p:cNvPr id="24" name="Shape 24"/>
          <p:cNvSpPr/>
          <p:nvPr/>
        </p:nvSpPr>
        <p:spPr>
          <a:xfrm>
            <a:off x="850392" y="5943600"/>
            <a:ext cx="2011680" cy="0"/>
          </a:xfrm>
          <a:prstGeom prst="line">
            <a:avLst/>
          </a:prstGeom>
          <a:noFill/>
          <a:ln w="12700">
            <a:solidFill>
              <a:srgbClr val="6E5630"/>
            </a:solidFill>
            <a:prstDash val="solid"/>
          </a:ln>
        </p:spPr>
      </p:sp>
      <p:sp>
        <p:nvSpPr>
          <p:cNvPr id="25" name="Text 25"/>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Write all six on your card before you sit down. The table is no place to think.</a:t>
            </a:r>
          </a:p>
        </p:txBody>
      </p:sp>
      <p:sp>
        <p:nvSpPr>
          <p:cNvPr id="26" name="Text 26"/>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7      ·      T E S T   F O U R ,   T H E   K I T   Y O U   C A R R Y</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Your kit speaks before you do.</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One sell sheet per SKU.</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FOB, case configuration, ABV, sizes, and your positioning against the shelf anchors. Built on the Council template, coming this week.</a:t>
            </a:r>
            <a:endParaRPr lang="en-US" sz="1300" dirty="0"/>
          </a:p>
        </p:txBody>
      </p:sp>
      <p:sp>
        <p:nvSpPr>
          <p:cNvPr id="7" name="Shape 4"/>
          <p:cNvSpPr/>
          <p:nvPr/>
        </p:nvSpPr>
        <p:spPr>
          <a:xfrm>
            <a:off x="822960" y="2743200"/>
            <a:ext cx="10515600" cy="0"/>
          </a:xfrm>
          <a:prstGeom prst="line">
            <a:avLst/>
          </a:prstGeom>
          <a:noFill/>
          <a:ln w="6350">
            <a:solidFill>
              <a:srgbClr val="D8CDB6"/>
            </a:solidFill>
            <a:prstDash val="solid"/>
          </a:ln>
        </p:spPr>
      </p:sp>
      <p:sp>
        <p:nvSpPr>
          <p:cNvPr id="8" name="Text 5"/>
          <p:cNvSpPr/>
          <p:nvPr/>
        </p:nvSpPr>
        <p:spPr>
          <a:xfrm>
            <a:off x="822960" y="288036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A house deck of ten slides, and a price list.</a:t>
            </a:r>
            <a:endParaRPr lang="en-US" sz="1400" dirty="0"/>
          </a:p>
        </p:txBody>
      </p:sp>
      <p:sp>
        <p:nvSpPr>
          <p:cNvPr id="9" name="Text 6"/>
          <p:cNvSpPr/>
          <p:nvPr/>
        </p:nvSpPr>
        <p:spPr>
          <a:xfrm>
            <a:off x="5029200" y="288950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The deck on the Council template; the price list with incoterms stated, so nobody discovers later whether your number was FOB or CIF.</a:t>
            </a:r>
            <a:endParaRPr lang="en-US" sz="1300" dirty="0"/>
          </a:p>
        </p:txBody>
      </p:sp>
      <p:sp>
        <p:nvSpPr>
          <p:cNvPr id="10" name="Shape 7"/>
          <p:cNvSpPr/>
          <p:nvPr/>
        </p:nvSpPr>
        <p:spPr>
          <a:xfrm>
            <a:off x="822960" y="3794760"/>
            <a:ext cx="10515600" cy="0"/>
          </a:xfrm>
          <a:prstGeom prst="line">
            <a:avLst/>
          </a:prstGeom>
          <a:noFill/>
          <a:ln w="6350">
            <a:solidFill>
              <a:srgbClr val="D8CDB6"/>
            </a:solidFill>
            <a:prstDash val="solid"/>
          </a:ln>
        </p:spPr>
      </p:sp>
      <p:sp>
        <p:nvSpPr>
          <p:cNvPr id="11" name="Text 8"/>
          <p:cNvSpPr/>
          <p:nvPr/>
        </p:nvSpPr>
        <p:spPr>
          <a:xfrm>
            <a:off x="822960" y="39319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Samples with the retail label on, and the folder as one link.</a:t>
            </a:r>
            <a:endParaRPr lang="en-US" sz="1400" dirty="0"/>
          </a:p>
        </p:txBody>
      </p:sp>
      <p:sp>
        <p:nvSpPr>
          <p:cNvPr id="12" name="Text 9"/>
          <p:cNvSpPr/>
          <p:nvPr/>
        </p:nvSpPr>
        <p:spPr>
          <a:xfrm>
            <a:off x="5029200" y="39410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The sample doubles as the label the importer assesses. The folder travels as a single link, never a chain of attachments.</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A house that arrives organised imports organised.</a:t>
            </a:r>
            <a:endParaRPr lang="en-US" sz="1350" dirty="0"/>
          </a:p>
        </p:txBody>
      </p:sp>
      <p:sp>
        <p:nvSpPr>
          <p:cNvPr id="15" name="Text 12"/>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pPr indent="0" marL="0">
              <a:buNone/>
            </a:pPr>
            <a:r>
              <a:rPr lang="en-US" sz="1050" i="1" dirty="0">
                <a:solidFill>
                  <a:srgbClr val="6E5630"/>
                </a:solidFill>
                <a:latin typeface="Calibri" pitchFamily="34" charset="0"/>
                <a:ea typeface="Calibri" pitchFamily="34" charset="-122"/>
                <a:cs typeface="Calibri" pitchFamily="34" charset="-120"/>
              </a:rPr>
              <a:t>      No. 18 · The Importer Meeting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8      ·      T E S T   F I V E ,   T H E   S T O R Y   Y O U   T E L L</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Cuervo has a shelf. Don Julio has a ceiling. You have a story.</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Thirty seconds of house.</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Who you are, where you distil, what the NOM and the family mean. Rehearsed until it sounds unrehearsed.</a:t>
            </a:r>
            <a:endParaRPr lang="en-US" sz="1300" dirty="0"/>
          </a:p>
        </p:txBody>
      </p:sp>
      <p:sp>
        <p:nvSpPr>
          <p:cNvPr id="7" name="Shape 4"/>
          <p:cNvSpPr/>
          <p:nvPr/>
        </p:nvSpPr>
        <p:spPr>
          <a:xfrm>
            <a:off x="822960" y="2743200"/>
            <a:ext cx="10515600" cy="0"/>
          </a:xfrm>
          <a:prstGeom prst="line">
            <a:avLst/>
          </a:prstGeom>
          <a:noFill/>
          <a:ln w="6350">
            <a:solidFill>
              <a:srgbClr val="D8CDB6"/>
            </a:solidFill>
            <a:prstDash val="solid"/>
          </a:ln>
        </p:spPr>
      </p:sp>
      <p:sp>
        <p:nvSpPr>
          <p:cNvPr id="8" name="Text 5"/>
          <p:cNvSpPr/>
          <p:nvPr/>
        </p:nvSpPr>
        <p:spPr>
          <a:xfrm>
            <a:off x="822960" y="288036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One positioning sentence.</a:t>
            </a:r>
            <a:endParaRPr lang="en-US" sz="1400" dirty="0"/>
          </a:p>
        </p:txBody>
      </p:sp>
      <p:sp>
        <p:nvSpPr>
          <p:cNvPr id="9" name="Text 6"/>
          <p:cNvSpPr/>
          <p:nvPr/>
        </p:nvSpPr>
        <p:spPr>
          <a:xfrm>
            <a:off x="5029200" y="288950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Where your bottle sits on the shelf you saw in Session 4, and why: value bottles position against the tax floor, premium bottles against Don Julio.</a:t>
            </a:r>
            <a:endParaRPr lang="en-US" sz="1300" dirty="0"/>
          </a:p>
        </p:txBody>
      </p:sp>
      <p:sp>
        <p:nvSpPr>
          <p:cNvPr id="10" name="Shape 7"/>
          <p:cNvSpPr/>
          <p:nvPr/>
        </p:nvSpPr>
        <p:spPr>
          <a:xfrm>
            <a:off x="822960" y="3794760"/>
            <a:ext cx="10515600" cy="0"/>
          </a:xfrm>
          <a:prstGeom prst="line">
            <a:avLst/>
          </a:prstGeom>
          <a:noFill/>
          <a:ln w="6350">
            <a:solidFill>
              <a:srgbClr val="D8CDB6"/>
            </a:solidFill>
            <a:prstDash val="solid"/>
          </a:ln>
        </p:spPr>
      </p:sp>
      <p:sp>
        <p:nvSpPr>
          <p:cNvPr id="11" name="Text 8"/>
          <p:cNvSpPr/>
          <p:nvPr/>
        </p:nvSpPr>
        <p:spPr>
          <a:xfrm>
            <a:off x="822960" y="39319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Proof, and a tasting script in English.</a:t>
            </a:r>
            <a:endParaRPr lang="en-US" sz="1400" dirty="0"/>
          </a:p>
        </p:txBody>
      </p:sp>
      <p:sp>
        <p:nvSpPr>
          <p:cNvPr id="12" name="Text 9"/>
          <p:cNvSpPr/>
          <p:nvPr/>
        </p:nvSpPr>
        <p:spPr>
          <a:xfrm>
            <a:off x="5029200" y="39410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Your home-market wins, your awards, and the words you say while you pour, because in these meetings the founder pours and talks at the same time.</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The duty is the same for everyone. The story is yours alone.</a:t>
            </a:r>
            <a:endParaRPr lang="en-US" sz="1350" dirty="0"/>
          </a:p>
        </p:txBody>
      </p:sp>
      <p:sp>
        <p:nvSpPr>
          <p:cNvPr id="15" name="Text 12"/>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pPr indent="0" marL="0">
              <a:buNone/>
            </a:pPr>
            <a:r>
              <a:rPr lang="en-US" sz="1050" i="1" dirty="0">
                <a:solidFill>
                  <a:srgbClr val="6E5630"/>
                </a:solidFill>
                <a:latin typeface="Calibri" pitchFamily="34" charset="0"/>
                <a:ea typeface="Calibri" pitchFamily="34" charset="-122"/>
                <a:cs typeface="Calibri" pitchFamily="34" charset="-120"/>
              </a:rPr>
              <a:t>      No. 18 · The Importer Meeting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9      ·      T E S T   S I X ,   T H E   M E E T I N G   I T S E L F</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Fifteen questions are coming. Answer them before they are asked.</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fifteen questions, in five clusters.</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Price and margin. Support and who pays. Exclusivity and territory. Volumes and the pilot. Compliance and timeline. File 18 carries all fifteen with the answers a ready house gives.</a:t>
            </a:r>
            <a:endParaRPr lang="en-US" sz="1300" dirty="0"/>
          </a:p>
        </p:txBody>
      </p:sp>
      <p:sp>
        <p:nvSpPr>
          <p:cNvPr id="7" name="Shape 4"/>
          <p:cNvSpPr/>
          <p:nvPr/>
        </p:nvSpPr>
        <p:spPr>
          <a:xfrm>
            <a:off x="822960" y="2880360"/>
            <a:ext cx="10515600" cy="0"/>
          </a:xfrm>
          <a:prstGeom prst="line">
            <a:avLst/>
          </a:prstGeom>
          <a:noFill/>
          <a:ln w="6350">
            <a:solidFill>
              <a:srgbClr val="D8CDB6"/>
            </a:solidFill>
            <a:prstDash val="solid"/>
          </a:ln>
        </p:spPr>
      </p:sp>
      <p:sp>
        <p:nvSpPr>
          <p:cNvPr id="8" name="Text 5"/>
          <p:cNvSpPr/>
          <p:nvPr/>
        </p:nvSpPr>
        <p:spPr>
          <a:xfrm>
            <a:off x="822960" y="30175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five never-dos.</a:t>
            </a:r>
            <a:endParaRPr lang="en-US" sz="1400" dirty="0"/>
          </a:p>
        </p:txBody>
      </p:sp>
      <p:sp>
        <p:nvSpPr>
          <p:cNvPr id="9" name="Text 6"/>
          <p:cNvSpPr/>
          <p:nvPr/>
        </p:nvSpPr>
        <p:spPr>
          <a:xfrm>
            <a:off x="5029200" y="30266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Never promise all-India. Never quote US pricing. Never sign exclusivity in a first meeting. Never courier samples. Never oversell year one.</a:t>
            </a:r>
            <a:endParaRPr lang="en-US" sz="1300" dirty="0"/>
          </a:p>
        </p:txBody>
      </p:sp>
      <p:sp>
        <p:nvSpPr>
          <p:cNvPr id="10" name="Shape 7"/>
          <p:cNvSpPr/>
          <p:nvPr/>
        </p:nvSpPr>
        <p:spPr>
          <a:xfrm>
            <a:off x="822960" y="4069080"/>
            <a:ext cx="10515600" cy="0"/>
          </a:xfrm>
          <a:prstGeom prst="line">
            <a:avLst/>
          </a:prstGeom>
          <a:noFill/>
          <a:ln w="6350">
            <a:solidFill>
              <a:srgbClr val="D8CDB6"/>
            </a:solidFill>
            <a:prstDash val="solid"/>
          </a:ln>
        </p:spPr>
      </p:sp>
      <p:sp>
        <p:nvSpPr>
          <p:cNvPr id="11" name="Text 8"/>
          <p:cNvSpPr/>
          <p:nvPr/>
        </p:nvSpPr>
        <p:spPr>
          <a:xfrm>
            <a:off x="822960" y="420624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twenty-four-hour rule.</a:t>
            </a:r>
            <a:endParaRPr lang="en-US" sz="1400" dirty="0"/>
          </a:p>
        </p:txBody>
      </p:sp>
      <p:sp>
        <p:nvSpPr>
          <p:cNvPr id="12" name="Text 9"/>
          <p:cNvSpPr/>
          <p:nvPr/>
        </p:nvSpPr>
        <p:spPr>
          <a:xfrm>
            <a:off x="5029200" y="421538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The folder link and your thanks land within a day, while the tasting is still on their palate. Slow follow-up reads as slow supply.</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Answer the fifteen before they are asked.</a:t>
            </a:r>
            <a:endParaRPr lang="en-US" sz="1350" dirty="0"/>
          </a:p>
        </p:txBody>
      </p:sp>
      <p:sp>
        <p:nvSpPr>
          <p:cNvPr id="15" name="Text 12"/>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pPr indent="0" marL="0">
              <a:buNone/>
            </a:pPr>
            <a:r>
              <a:rPr lang="en-US" sz="1050" i="1" dirty="0">
                <a:solidFill>
                  <a:srgbClr val="6E5630"/>
                </a:solidFill>
                <a:latin typeface="Calibri" pitchFamily="34" charset="0"/>
                <a:ea typeface="Calibri" pitchFamily="34" charset="-122"/>
                <a:cs typeface="Calibri" pitchFamily="34" charset="-120"/>
              </a:rPr>
              <a:t>      No. 18 · The Importer Meeting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1 1      ·      H O W   W E   R E H E A R S E</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Nobody's first rehearsal is the real meeting.</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Tool 03 scores your house.</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One page against the six tests: pass, close, or gap, with an owner and a date on every gap. Delivered with your one-to-one.</a:t>
            </a:r>
            <a:endParaRPr lang="en-US" sz="1300" dirty="0"/>
          </a:p>
        </p:txBody>
      </p:sp>
      <p:sp>
        <p:nvSpPr>
          <p:cNvPr id="7" name="Shape 4"/>
          <p:cNvSpPr/>
          <p:nvPr/>
        </p:nvSpPr>
        <p:spPr>
          <a:xfrm>
            <a:off x="822960" y="2743200"/>
            <a:ext cx="10515600" cy="0"/>
          </a:xfrm>
          <a:prstGeom prst="line">
            <a:avLst/>
          </a:prstGeom>
          <a:noFill/>
          <a:ln w="6350">
            <a:solidFill>
              <a:srgbClr val="D8CDB6"/>
            </a:solidFill>
            <a:prstDash val="solid"/>
          </a:ln>
        </p:spPr>
      </p:sp>
      <p:sp>
        <p:nvSpPr>
          <p:cNvPr id="8" name="Text 5"/>
          <p:cNvSpPr/>
          <p:nvPr/>
        </p:nvSpPr>
        <p:spPr>
          <a:xfrm>
            <a:off x="822960" y="288036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mock pitch, over the next two weeks.</a:t>
            </a:r>
            <a:endParaRPr lang="en-US" sz="1400" dirty="0"/>
          </a:p>
        </p:txBody>
      </p:sp>
      <p:sp>
        <p:nvSpPr>
          <p:cNvPr id="9" name="Text 6"/>
          <p:cNvSpPr/>
          <p:nvPr/>
        </p:nvSpPr>
        <p:spPr>
          <a:xfrm>
            <a:off x="5029200" y="288950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Thirty minutes, in English, timed, with the fifteen questions asked the hard way. You rehearse with us so the first real meeting is your second performance.</a:t>
            </a:r>
            <a:endParaRPr lang="en-US" sz="1300" dirty="0"/>
          </a:p>
        </p:txBody>
      </p:sp>
      <p:sp>
        <p:nvSpPr>
          <p:cNvPr id="10" name="Shape 7"/>
          <p:cNvSpPr/>
          <p:nvPr/>
        </p:nvSpPr>
        <p:spPr>
          <a:xfrm>
            <a:off x="822960" y="3794760"/>
            <a:ext cx="10515600" cy="0"/>
          </a:xfrm>
          <a:prstGeom prst="line">
            <a:avLst/>
          </a:prstGeom>
          <a:noFill/>
          <a:ln w="6350">
            <a:solidFill>
              <a:srgbClr val="D8CDB6"/>
            </a:solidFill>
            <a:prstDash val="solid"/>
          </a:ln>
        </p:spPr>
      </p:sp>
      <p:sp>
        <p:nvSpPr>
          <p:cNvPr id="11" name="Text 8"/>
          <p:cNvSpPr/>
          <p:nvPr/>
        </p:nvSpPr>
        <p:spPr>
          <a:xfrm>
            <a:off x="822960" y="39319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The late-August room is earned.</a:t>
            </a:r>
            <a:endParaRPr lang="en-US" sz="1400" dirty="0"/>
          </a:p>
        </p:txBody>
      </p:sp>
      <p:sp>
        <p:nvSpPr>
          <p:cNvPr id="12" name="Text 9"/>
          <p:cNvSpPr/>
          <p:nvPr/>
        </p:nvSpPr>
        <p:spPr>
          <a:xfrm>
            <a:off x="5029200" y="39410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Houses enter it by readiness, not by queue. Pass the six tests and the Council puts your bottle on that table.</a:t>
            </a:r>
            <a:endParaRPr lang="en-US" sz="1300" dirty="0"/>
          </a:p>
        </p:txBody>
      </p:sp>
      <p:sp>
        <p:nvSpPr>
          <p:cNvPr id="13" name="Shape 10"/>
          <p:cNvSpPr/>
          <p:nvPr/>
        </p:nvSpPr>
        <p:spPr>
          <a:xfrm>
            <a:off x="850392" y="5943600"/>
            <a:ext cx="2011680" cy="0"/>
          </a:xfrm>
          <a:prstGeom prst="line">
            <a:avLst/>
          </a:prstGeom>
          <a:noFill/>
          <a:ln w="12700">
            <a:solidFill>
              <a:srgbClr val="6E5630"/>
            </a:solidFill>
            <a:prstDash val="solid"/>
          </a:ln>
        </p:spPr>
      </p:sp>
      <p:sp>
        <p:nvSpPr>
          <p:cNvPr id="14" name="Text 11"/>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The first rehearsal is never the real meeting.</a:t>
            </a:r>
            <a:endParaRPr lang="en-US" sz="1350" dirty="0"/>
          </a:p>
        </p:txBody>
      </p:sp>
      <p:sp>
        <p:nvSpPr>
          <p:cNvPr id="15" name="Text 12"/>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pPr indent="0" marL="0">
              <a:buNone/>
            </a:pPr>
            <a:r>
              <a:rPr lang="en-US" sz="1050" i="1" dirty="0">
                <a:solidFill>
                  <a:srgbClr val="6E5630"/>
                </a:solidFill>
                <a:latin typeface="Calibri" pitchFamily="34" charset="0"/>
                <a:ea typeface="Calibri" pitchFamily="34" charset="-122"/>
                <a:cs typeface="Calibri" pitchFamily="34" charset="-120"/>
              </a:rPr>
              <a:t>      Tool 03 · Meeting Readiness Scorecard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B E F O R E   Y O U R   M O C K   P I T C H</a:t>
            </a:r>
            <a:endParaRPr lang="en-US" sz="1100" dirty="0"/>
          </a:p>
        </p:txBody>
      </p:sp>
      <p:sp>
        <p:nvSpPr>
          <p:cNvPr id="4" name="Text 1"/>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Three sends. Then we rehearse you.</a:t>
            </a:r>
            <a:endParaRPr lang="en-US" sz="2600" dirty="0"/>
          </a:p>
        </p:txBody>
      </p:sp>
      <p:sp>
        <p:nvSpPr>
          <p:cNvPr id="5" name="Text 2"/>
          <p:cNvSpPr/>
          <p:nvPr/>
        </p:nvSpPr>
        <p:spPr>
          <a:xfrm>
            <a:off x="822960" y="182880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Your pricing sheet, if pending.</a:t>
            </a:r>
            <a:endParaRPr lang="en-US" sz="1400" dirty="0"/>
          </a:p>
        </p:txBody>
      </p:sp>
      <p:sp>
        <p:nvSpPr>
          <p:cNvPr id="6" name="Text 3"/>
          <p:cNvSpPr/>
          <p:nvPr/>
        </p:nvSpPr>
        <p:spPr>
          <a:xfrm>
            <a:off x="5029200" y="183794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It builds your landed model, your declaration, your five sentences, and your seat in the late-August room. First among the three.</a:t>
            </a:r>
            <a:endParaRPr lang="en-US" sz="1300" dirty="0"/>
          </a:p>
        </p:txBody>
      </p:sp>
      <p:sp>
        <p:nvSpPr>
          <p:cNvPr id="7" name="Shape 4"/>
          <p:cNvSpPr/>
          <p:nvPr/>
        </p:nvSpPr>
        <p:spPr>
          <a:xfrm>
            <a:off x="822960" y="2743200"/>
            <a:ext cx="10515600" cy="0"/>
          </a:xfrm>
          <a:prstGeom prst="line">
            <a:avLst/>
          </a:prstGeom>
          <a:noFill/>
          <a:ln w="6350">
            <a:solidFill>
              <a:srgbClr val="D8CDB6"/>
            </a:solidFill>
            <a:prstDash val="solid"/>
          </a:ln>
        </p:spPr>
      </p:sp>
      <p:sp>
        <p:nvSpPr>
          <p:cNvPr id="8" name="Text 5"/>
          <p:cNvSpPr/>
          <p:nvPr/>
        </p:nvSpPr>
        <p:spPr>
          <a:xfrm>
            <a:off x="822960" y="288036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Your artwork and your sell-sheet inputs.</a:t>
            </a:r>
            <a:endParaRPr lang="en-US" sz="1400" dirty="0"/>
          </a:p>
        </p:txBody>
      </p:sp>
      <p:sp>
        <p:nvSpPr>
          <p:cNvPr id="9" name="Text 6"/>
          <p:cNvSpPr/>
          <p:nvPr/>
        </p:nvSpPr>
        <p:spPr>
          <a:xfrm>
            <a:off x="5029200" y="288950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Source files for the label, and the facts your sell sheet needs: FOB, case, sizes, proof points.</a:t>
            </a:r>
            <a:endParaRPr lang="en-US" sz="1300" dirty="0"/>
          </a:p>
        </p:txBody>
      </p:sp>
      <p:sp>
        <p:nvSpPr>
          <p:cNvPr id="10" name="Shape 7"/>
          <p:cNvSpPr/>
          <p:nvPr/>
        </p:nvSpPr>
        <p:spPr>
          <a:xfrm>
            <a:off x="822960" y="3794760"/>
            <a:ext cx="10515600" cy="0"/>
          </a:xfrm>
          <a:prstGeom prst="line">
            <a:avLst/>
          </a:prstGeom>
          <a:noFill/>
          <a:ln w="6350">
            <a:solidFill>
              <a:srgbClr val="D8CDB6"/>
            </a:solidFill>
            <a:prstDash val="solid"/>
          </a:ln>
        </p:spPr>
      </p:sp>
      <p:sp>
        <p:nvSpPr>
          <p:cNvPr id="11" name="Text 8"/>
          <p:cNvSpPr/>
          <p:nvPr/>
        </p:nvSpPr>
        <p:spPr>
          <a:xfrm>
            <a:off x="822960" y="3931920"/>
            <a:ext cx="3977640" cy="868680"/>
          </a:xfrm>
          <a:prstGeom prst="rect">
            <a:avLst/>
          </a:prstGeom>
          <a:noFill/>
          <a:ln/>
        </p:spPr>
        <p:txBody>
          <a:bodyPr wrap="square" lIns="0" tIns="0" rIns="0" bIns="0" rtlCol="0" anchor="t"/>
          <a:lstStyle/>
          <a:p>
            <a:pPr indent="0" marL="0">
              <a:lnSpc>
                <a:spcPts val="1750"/>
              </a:lnSpc>
              <a:buNone/>
            </a:pPr>
            <a:r>
              <a:rPr lang="en-US" sz="1400" b="1" dirty="0">
                <a:solidFill>
                  <a:srgbClr val="26221C"/>
                </a:solidFill>
                <a:latin typeface="Calibri" pitchFamily="34" charset="0"/>
                <a:ea typeface="Calibri" pitchFamily="34" charset="-122"/>
                <a:cs typeface="Calibri" pitchFamily="34" charset="-120"/>
              </a:rPr>
              <a:t>Your mock-pitch slot.</a:t>
            </a:r>
            <a:endParaRPr lang="en-US" sz="1400" dirty="0"/>
          </a:p>
        </p:txBody>
      </p:sp>
      <p:sp>
        <p:nvSpPr>
          <p:cNvPr id="12" name="Text 9"/>
          <p:cNvSpPr/>
          <p:nvPr/>
        </p:nvSpPr>
        <p:spPr>
          <a:xfrm>
            <a:off x="5029200" y="3941064"/>
            <a:ext cx="6309360" cy="868680"/>
          </a:xfrm>
          <a:prstGeom prst="rect">
            <a:avLst/>
          </a:prstGeom>
          <a:noFill/>
          <a:ln/>
        </p:spPr>
        <p:txBody>
          <a:bodyPr wrap="square" lIns="0" tIns="0" rIns="0" bIns="0" rtlCol="0" anchor="t"/>
          <a:lstStyle/>
          <a:p>
            <a:pPr indent="0" marL="0">
              <a:lnSpc>
                <a:spcPts val="1650"/>
              </a:lnSpc>
              <a:buNone/>
            </a:pPr>
            <a:r>
              <a:rPr lang="en-US" sz="1300" dirty="0">
                <a:solidFill>
                  <a:srgbClr val="4A4338"/>
                </a:solidFill>
                <a:latin typeface="Calibri" pitchFamily="34" charset="0"/>
                <a:ea typeface="Calibri" pitchFamily="34" charset="-122"/>
                <a:cs typeface="Calibri" pitchFamily="34" charset="-120"/>
              </a:rPr>
              <a:t>Booking opens today; sessions run over the next two weeks, in English, against the clock. Book it with your one-to-one.</a:t>
            </a:r>
            <a:endParaRPr lang="en-US" sz="1300" dirty="0"/>
          </a:p>
        </p:txBody>
      </p:sp>
      <p:sp>
        <p:nvSpPr>
          <p:cNvPr id="13" name="Shape 10"/>
          <p:cNvSpPr/>
          <p:nvPr/>
        </p:nvSpPr>
        <p:spPr>
          <a:xfrm>
            <a:off x="822960" y="5074920"/>
            <a:ext cx="10515600" cy="777240"/>
          </a:xfrm>
          <a:prstGeom prst="rect">
            <a:avLst/>
          </a:prstGeom>
          <a:solidFill>
            <a:srgbClr val="F3EDE0"/>
          </a:solidFill>
          <a:ln w="9525">
            <a:solidFill>
              <a:srgbClr val="D8CDB6"/>
            </a:solidFill>
            <a:prstDash val="solid"/>
          </a:ln>
        </p:spPr>
      </p:sp>
      <p:sp>
        <p:nvSpPr>
          <p:cNvPr id="14" name="Text 11"/>
          <p:cNvSpPr/>
          <p:nvPr/>
        </p:nvSpPr>
        <p:spPr>
          <a:xfrm>
            <a:off x="1024128" y="5202936"/>
            <a:ext cx="10104120" cy="557784"/>
          </a:xfrm>
          <a:prstGeom prst="rect">
            <a:avLst/>
          </a:prstGeom>
          <a:noFill/>
          <a:ln/>
        </p:spPr>
        <p:txBody>
          <a:bodyPr wrap="square" lIns="0" tIns="0" rIns="0" bIns="0" rtlCol="0" anchor="t"/>
          <a:lstStyle/>
          <a:p>
            <a:pPr indent="0" marL="0">
              <a:lnSpc>
                <a:spcPts val="1650"/>
              </a:lnSpc>
              <a:buNone/>
            </a:pPr>
            <a:r>
              <a:rPr lang="en-US" sz="1250" b="1" dirty="0">
                <a:solidFill>
                  <a:srgbClr val="26221C"/>
                </a:solidFill>
                <a:latin typeface="Calibri" pitchFamily="34" charset="0"/>
                <a:ea typeface="Calibri" pitchFamily="34" charset="-122"/>
                <a:cs typeface="Calibri" pitchFamily="34" charset="-120"/>
              </a:rPr>
              <a:t>Reaching you this week.  </a:t>
            </a:r>
            <a:pPr indent="0" marL="0">
              <a:lnSpc>
                <a:spcPts val="1650"/>
              </a:lnSpc>
              <a:buNone/>
            </a:pPr>
            <a:r>
              <a:rPr lang="en-US" sz="1250" dirty="0">
                <a:solidFill>
                  <a:srgbClr val="4A4338"/>
                </a:solidFill>
                <a:latin typeface="Calibri" pitchFamily="34" charset="0"/>
                <a:ea typeface="Calibri" pitchFamily="34" charset="-122"/>
                <a:cs typeface="Calibri" pitchFamily="34" charset="-120"/>
              </a:rPr>
              <a:t>File 18, The Importer Meeting, with the fifteen questions and the five sentences. Tool 03, your readiness scorecard. The sell-sheet and house-deck templates.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1"/>
        </a:solidFill>
      </p:bgPr>
    </p:bg>
    <p:spTree>
      <p:nvGrpSpPr>
        <p:cNvPr id="1" name=""/>
        <p:cNvGrpSpPr/>
        <p:nvPr/>
      </p:nvGrpSpPr>
      <p:grpSpPr>
        <a:xfrm>
          <a:off x="0" y="0"/>
          <a:ext cx="0" cy="0"/>
          <a:chOff x="0" y="0"/>
          <a:chExt cx="0" cy="0"/>
        </a:xfrm>
      </p:grpSpPr>
      <p:sp>
        <p:nvSpPr>
          <p:cNvPr id="3" name="Text 0"/>
          <p:cNvSpPr/>
          <p:nvPr/>
        </p:nvSpPr>
        <p:spPr>
          <a:xfrm>
            <a:off x="822960" y="68580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E S S I O N   5   C L O S E S   H E R E</a:t>
            </a:r>
            <a:endParaRPr lang="en-US" sz="1100" dirty="0"/>
          </a:p>
        </p:txBody>
      </p:sp>
      <p:pic>
        <p:nvPicPr>
          <p:cNvPr id="4" name="Image 0" descr="/home/claude/tequila/build/media/image-1-1.png">    </p:cNvPr>
          <p:cNvPicPr>
            <a:picLocks noChangeAspect="1"/>
          </p:cNvPicPr>
          <p:nvPr/>
        </p:nvPicPr>
        <p:blipFill>
          <a:blip r:embed="rId1"/>
          <a:stretch>
            <a:fillRect/>
          </a:stretch>
        </p:blipFill>
        <p:spPr>
          <a:xfrm>
            <a:off x="8503920" y="1463040"/>
            <a:ext cx="3200400" cy="3200400"/>
          </a:xfrm>
          <a:prstGeom prst="rect">
            <a:avLst/>
          </a:prstGeom>
        </p:spPr>
      </p:pic>
      <p:sp>
        <p:nvSpPr>
          <p:cNvPr id="5" name="Text 1"/>
          <p:cNvSpPr/>
          <p:nvPr/>
        </p:nvSpPr>
        <p:spPr>
          <a:xfrm>
            <a:off x="822960" y="1417320"/>
            <a:ext cx="7498080" cy="1554480"/>
          </a:xfrm>
          <a:prstGeom prst="rect">
            <a:avLst/>
          </a:prstGeom>
          <a:noFill/>
          <a:ln/>
        </p:spPr>
        <p:txBody>
          <a:bodyPr wrap="square" lIns="0" tIns="0" rIns="0" bIns="0" rtlCol="0" anchor="ctr"/>
          <a:lstStyle/>
          <a:p>
            <a:pPr indent="0" marL="0">
              <a:lnSpc>
                <a:spcPts val="4500"/>
              </a:lnSpc>
              <a:buNone/>
            </a:pPr>
            <a:r>
              <a:rPr lang="en-US" sz="3800" dirty="0">
                <a:solidFill>
                  <a:srgbClr val="26221C"/>
                </a:solidFill>
                <a:latin typeface="Bookman Old Style" pitchFamily="34" charset="0"/>
                <a:ea typeface="Bookman Old Style" pitchFamily="34" charset="-122"/>
                <a:cs typeface="Bookman Old Style" pitchFamily="34" charset="-120"/>
              </a:rPr>
              <a:t>Rehearse now.</a:t>
            </a:r>
            <a:endParaRPr lang="en-US" sz="3800" dirty="0"/>
          </a:p>
          <a:p>
            <a:pPr indent="0" marL="0">
              <a:lnSpc>
                <a:spcPts val="4500"/>
              </a:lnSpc>
              <a:buNone/>
            </a:pPr>
            <a:r>
              <a:rPr lang="en-US" sz="3800" dirty="0">
                <a:solidFill>
                  <a:srgbClr val="26221C"/>
                </a:solidFill>
                <a:latin typeface="Bookman Old Style" pitchFamily="34" charset="0"/>
                <a:ea typeface="Bookman Old Style" pitchFamily="34" charset="-122"/>
                <a:cs typeface="Bookman Old Style" pitchFamily="34" charset="-120"/>
              </a:rPr>
              <a:t>Shine in the room.</a:t>
            </a:r>
            <a:endParaRPr lang="en-US" sz="3800" dirty="0"/>
          </a:p>
        </p:txBody>
      </p:sp>
      <p:sp>
        <p:nvSpPr>
          <p:cNvPr id="6" name="Shape 2"/>
          <p:cNvSpPr/>
          <p:nvPr/>
        </p:nvSpPr>
        <p:spPr>
          <a:xfrm>
            <a:off x="850392" y="3291840"/>
            <a:ext cx="2926080" cy="0"/>
          </a:xfrm>
          <a:prstGeom prst="line">
            <a:avLst/>
          </a:prstGeom>
          <a:noFill/>
          <a:ln w="12700">
            <a:solidFill>
              <a:srgbClr val="6E5630"/>
            </a:solidFill>
            <a:prstDash val="solid"/>
          </a:ln>
        </p:spPr>
      </p:sp>
      <p:sp>
        <p:nvSpPr>
          <p:cNvPr id="7" name="Text 3"/>
          <p:cNvSpPr/>
          <p:nvPr/>
        </p:nvSpPr>
        <p:spPr>
          <a:xfrm>
            <a:off x="822960" y="3520440"/>
            <a:ext cx="7315200" cy="822960"/>
          </a:xfrm>
          <a:prstGeom prst="rect">
            <a:avLst/>
          </a:prstGeom>
          <a:noFill/>
          <a:ln/>
        </p:spPr>
        <p:txBody>
          <a:bodyPr wrap="square" lIns="0" tIns="0" rIns="0" bIns="0" rtlCol="0" anchor="ctr"/>
          <a:lstStyle/>
          <a:p>
            <a:pPr indent="0" marL="0">
              <a:lnSpc>
                <a:spcPts val="1900"/>
              </a:lnSpc>
              <a:buNone/>
            </a:pPr>
            <a:r>
              <a:rPr lang="en-US" sz="1400" dirty="0">
                <a:solidFill>
                  <a:srgbClr val="4A4338"/>
                </a:solidFill>
                <a:latin typeface="Calibri" pitchFamily="34" charset="0"/>
                <a:ea typeface="Calibri" pitchFamily="34" charset="-122"/>
                <a:cs typeface="Calibri" pitchFamily="34" charset="-120"/>
              </a:rPr>
              <a:t>Late August: curated meetings, the Council in the room, your bottle on the table. Phase 2 made you legal; Phase 3 makes you wanted. Book your mock pitch, send your pricing, and that table is yours. Questions any time on the group and at ceo@mexicoindia.org.</a:t>
            </a:r>
            <a:endParaRPr lang="en-US" sz="1400" dirty="0"/>
          </a:p>
        </p:txBody>
      </p:sp>
      <p:sp>
        <p:nvSpPr>
          <p:cNvPr id="8" name="Text 4"/>
          <p:cNvSpPr/>
          <p:nvPr/>
        </p:nvSpPr>
        <p:spPr>
          <a:xfrm>
            <a:off x="822960" y="4572000"/>
            <a:ext cx="5486400" cy="320040"/>
          </a:xfrm>
          <a:prstGeom prst="rect">
            <a:avLst/>
          </a:prstGeom>
          <a:noFill/>
          <a:ln/>
        </p:spPr>
        <p:txBody>
          <a:bodyPr wrap="square" lIns="0" tIns="0" rIns="0" bIns="0" rtlCol="0" anchor="ctr"/>
          <a:lstStyle/>
          <a:p>
            <a:pPr indent="0" marL="0">
              <a:buNone/>
            </a:pPr>
            <a:r>
              <a:rPr lang="en-US" sz="1450" b="1" dirty="0">
                <a:solidFill>
                  <a:srgbClr val="26221C"/>
                </a:solidFill>
                <a:latin typeface="Calibri" pitchFamily="34" charset="0"/>
                <a:ea typeface="Calibri" pitchFamily="34" charset="-122"/>
                <a:cs typeface="Calibri" pitchFamily="34" charset="-120"/>
              </a:rPr>
              <a:t>Ravi K. Tiwari</a:t>
            </a:r>
            <a:endParaRPr lang="en-US" sz="1450" dirty="0"/>
          </a:p>
        </p:txBody>
      </p:sp>
      <p:sp>
        <p:nvSpPr>
          <p:cNvPr id="9" name="Text 5"/>
          <p:cNvSpPr/>
          <p:nvPr/>
        </p:nvSpPr>
        <p:spPr>
          <a:xfrm>
            <a:off x="822960" y="4892040"/>
            <a:ext cx="7315200" cy="292608"/>
          </a:xfrm>
          <a:prstGeom prst="rect">
            <a:avLst/>
          </a:prstGeom>
          <a:noFill/>
          <a:ln/>
        </p:spPr>
        <p:txBody>
          <a:bodyPr wrap="square" lIns="0" tIns="0" rIns="0" bIns="0" rtlCol="0" anchor="ctr"/>
          <a:lstStyle/>
          <a:p>
            <a:pPr indent="0" marL="0">
              <a:buNone/>
            </a:pPr>
            <a:r>
              <a:rPr lang="en-US" sz="1200" dirty="0">
                <a:solidFill>
                  <a:srgbClr val="4A4338"/>
                </a:solidFill>
                <a:latin typeface="Calibri" pitchFamily="34" charset="0"/>
                <a:ea typeface="Calibri" pitchFamily="34" charset="-122"/>
                <a:cs typeface="Calibri" pitchFamily="34" charset="-120"/>
              </a:rPr>
              <a:t>Chief Executive Officer, México–India Business Council</a:t>
            </a:r>
            <a:endParaRPr lang="en-US" sz="1200" dirty="0"/>
          </a:p>
        </p:txBody>
      </p:sp>
      <p:sp>
        <p:nvSpPr>
          <p:cNvPr id="10" name="Text 6"/>
          <p:cNvSpPr/>
          <p:nvPr/>
        </p:nvSpPr>
        <p:spPr>
          <a:xfrm>
            <a:off x="822960" y="5230368"/>
            <a:ext cx="8229600" cy="292608"/>
          </a:xfrm>
          <a:prstGeom prst="rect">
            <a:avLst/>
          </a:prstGeom>
          <a:noFill/>
          <a:ln/>
        </p:spPr>
        <p:txBody>
          <a:bodyPr wrap="square" lIns="0" tIns="0" rIns="0" bIns="0" rtlCol="0" anchor="ctr"/>
          <a:lstStyle/>
          <a:p>
            <a:pPr indent="0" marL="0">
              <a:buNone/>
            </a:pPr>
            <a:r>
              <a:rPr lang="en-US" sz="1200" dirty="0">
                <a:solidFill>
                  <a:srgbClr val="6E5630"/>
                </a:solidFill>
                <a:latin typeface="Calibri" pitchFamily="34" charset="0"/>
                <a:ea typeface="Calibri" pitchFamily="34" charset="-122"/>
                <a:cs typeface="Calibri" pitchFamily="34" charset="-120"/>
              </a:rPr>
              <a:t>ceo@mexicoindia.org   ·   www.mexicoindia.org   ·   linkedin.com/company/mibcorg</a:t>
            </a:r>
            <a:endParaRPr lang="en-US" sz="1200" dirty="0"/>
          </a:p>
        </p:txBody>
      </p:sp>
      <p:sp>
        <p:nvSpPr>
          <p:cNvPr id="11" name="Text 7"/>
          <p:cNvSpPr/>
          <p:nvPr/>
        </p:nvSpPr>
        <p:spPr>
          <a:xfrm>
            <a:off x="822960" y="6126480"/>
            <a:ext cx="8229600" cy="320040"/>
          </a:xfrm>
          <a:prstGeom prst="rect">
            <a:avLst/>
          </a:prstGeom>
          <a:noFill/>
          <a:ln/>
        </p:spPr>
        <p:txBody>
          <a:bodyPr wrap="square" lIns="0" tIns="0" rIns="0" bIns="0" rtlCol="0" anchor="ctr"/>
          <a:lstStyle/>
          <a:p>
            <a:pPr indent="0" marL="0">
              <a:buNone/>
            </a:pPr>
            <a:r>
              <a:rPr lang="en-US" sz="1250" b="1" dirty="0">
                <a:solidFill>
                  <a:srgbClr val="8B6E3D"/>
                </a:solidFill>
                <a:latin typeface="Calibri" pitchFamily="34" charset="0"/>
                <a:ea typeface="Calibri" pitchFamily="34" charset="-122"/>
                <a:cs typeface="Calibri" pitchFamily="34" charset="-120"/>
              </a:rPr>
              <a:t>D I S C O V E R .     C O N N E C T .     G R O W   I N   I N D I A .</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F I V E   W E E K S   I N      ·      W H E R E   W E   S T A N D</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Where we stand, exactly.</a:t>
            </a:r>
          </a:p>
        </p:txBody>
      </p:sp>
      <p:sp>
        <p:nvSpPr>
          <p:cNvPr id="4" name="Shape 4"/>
          <p:cNvSpPr/>
          <p:nvPr/>
        </p:nvSpPr>
        <p:spPr>
          <a:xfrm>
            <a:off x="822960" y="1847088"/>
            <a:ext cx="10515600" cy="0"/>
          </a:xfrm>
          <a:prstGeom prst="line">
            <a:avLst/>
          </a:prstGeom>
          <a:noFill/>
          <a:ln w="15875">
            <a:solidFill>
              <a:srgbClr val="26221C"/>
            </a:solidFill>
            <a:prstDash val="solid"/>
          </a:ln>
        </p:spPr>
      </p:sp>
      <p:sp>
        <p:nvSpPr>
          <p:cNvPr id="5" name="Text 5"/>
          <p:cNvSpPr/>
          <p:nvPr/>
        </p:nvSpPr>
        <p:spPr>
          <a:xfrm>
            <a:off x="822960" y="2103120"/>
            <a:ext cx="1737360" cy="960120"/>
          </a:xfrm>
          <a:prstGeom prst="rect">
            <a:avLst/>
          </a:prstGeom>
          <a:noFill/>
          <a:ln/>
        </p:spPr>
        <p:txBody>
          <a:bodyPr wrap="square" lIns="0" tIns="0" rIns="0" bIns="0" rtlCol="0" anchor="t"/>
          <a:lstStyle/>
          <a:p>
            <a:pPr indent="0" marL="0">
              <a:buNone/>
            </a:pPr>
            <a:r>
              <a:rPr lang="en-US" sz="5200" dirty="0">
                <a:solidFill>
                  <a:srgbClr val="26221C"/>
                </a:solidFill>
                <a:latin typeface="Bookman Old Style" pitchFamily="34" charset="0"/>
                <a:ea typeface="Bookman Old Style" pitchFamily="34" charset="-122"/>
                <a:cs typeface="Bookman Old Style" pitchFamily="34" charset="-120"/>
              </a:rPr>
              <a:t>33</a:t>
            </a:r>
          </a:p>
        </p:txBody>
      </p:sp>
      <p:sp>
        <p:nvSpPr>
          <p:cNvPr id="6" name="Text 6"/>
          <p:cNvSpPr/>
          <p:nvPr/>
        </p:nvSpPr>
        <p:spPr>
          <a:xfrm>
            <a:off x="822960" y="3108960"/>
            <a:ext cx="1645920" cy="822960"/>
          </a:xfrm>
          <a:prstGeom prst="rect">
            <a:avLst/>
          </a:prstGeom>
          <a:noFill/>
          <a:ln/>
        </p:spPr>
        <p:txBody>
          <a:bodyPr wrap="square" lIns="0" tIns="0" rIns="0" bIns="0" rtlCol="0" anchor="t"/>
          <a:lstStyle/>
          <a:p>
            <a:pPr indent="0" marL="0">
              <a:lnSpc>
                <a:spcPts val="1600"/>
              </a:lnSpc>
              <a:buNone/>
            </a:pPr>
            <a:r>
              <a:rPr lang="en-US" sz="1150" dirty="0">
                <a:solidFill>
                  <a:srgbClr val="4A4338"/>
                </a:solidFill>
                <a:latin typeface="Calibri" pitchFamily="34" charset="0"/>
                <a:ea typeface="Calibri" pitchFamily="34" charset="-122"/>
                <a:cs typeface="Calibri" pitchFamily="34" charset="-120"/>
              </a:rPr>
              <a:t>Phase 1 documents in, of 37</a:t>
            </a:r>
          </a:p>
        </p:txBody>
      </p:sp>
      <p:sp>
        <p:nvSpPr>
          <p:cNvPr id="7" name="Shape 7"/>
          <p:cNvSpPr/>
          <p:nvPr/>
        </p:nvSpPr>
        <p:spPr>
          <a:xfrm>
            <a:off x="2670048" y="2194560"/>
            <a:ext cx="0" cy="1417320"/>
          </a:xfrm>
          <a:prstGeom prst="line">
            <a:avLst/>
          </a:prstGeom>
          <a:noFill/>
          <a:ln w="9525">
            <a:solidFill>
              <a:srgbClr val="D8CDB6"/>
            </a:solidFill>
            <a:prstDash val="solid"/>
          </a:ln>
        </p:spPr>
      </p:sp>
      <p:sp>
        <p:nvSpPr>
          <p:cNvPr id="8" name="Text 8"/>
          <p:cNvSpPr/>
          <p:nvPr/>
        </p:nvSpPr>
        <p:spPr>
          <a:xfrm>
            <a:off x="2926080" y="2103120"/>
            <a:ext cx="1737360" cy="960120"/>
          </a:xfrm>
          <a:prstGeom prst="rect">
            <a:avLst/>
          </a:prstGeom>
          <a:noFill/>
          <a:ln/>
        </p:spPr>
        <p:txBody>
          <a:bodyPr wrap="square" lIns="0" tIns="0" rIns="0" bIns="0" rtlCol="0" anchor="t"/>
          <a:lstStyle/>
          <a:p>
            <a:pPr indent="0" marL="0">
              <a:buNone/>
            </a:pPr>
            <a:r>
              <a:rPr lang="en-US" sz="5200" dirty="0">
                <a:solidFill>
                  <a:srgbClr val="26221C"/>
                </a:solidFill>
                <a:latin typeface="Bookman Old Style" pitchFamily="34" charset="0"/>
                <a:ea typeface="Bookman Old Style" pitchFamily="34" charset="-122"/>
                <a:cs typeface="Bookman Old Style" pitchFamily="34" charset="-120"/>
              </a:rPr>
              <a:t>33</a:t>
            </a:r>
          </a:p>
        </p:txBody>
      </p:sp>
      <p:sp>
        <p:nvSpPr>
          <p:cNvPr id="9" name="Text 9"/>
          <p:cNvSpPr/>
          <p:nvPr/>
        </p:nvSpPr>
        <p:spPr>
          <a:xfrm>
            <a:off x="2926080" y="3108960"/>
            <a:ext cx="1645920" cy="822960"/>
          </a:xfrm>
          <a:prstGeom prst="rect">
            <a:avLst/>
          </a:prstGeom>
          <a:noFill/>
          <a:ln/>
        </p:spPr>
        <p:txBody>
          <a:bodyPr wrap="square" lIns="0" tIns="0" rIns="0" bIns="0" rtlCol="0" anchor="t"/>
          <a:lstStyle/>
          <a:p>
            <a:pPr indent="0" marL="0">
              <a:lnSpc>
                <a:spcPts val="1600"/>
              </a:lnSpc>
              <a:buNone/>
            </a:pPr>
            <a:r>
              <a:rPr lang="en-US" sz="1150" dirty="0">
                <a:solidFill>
                  <a:srgbClr val="4A4338"/>
                </a:solidFill>
                <a:latin typeface="Calibri" pitchFamily="34" charset="0"/>
                <a:ea typeface="Calibri" pitchFamily="34" charset="-122"/>
                <a:cs typeface="Calibri" pitchFamily="34" charset="-120"/>
              </a:rPr>
              <a:t>Phase 2 documents in, of 37</a:t>
            </a:r>
          </a:p>
        </p:txBody>
      </p:sp>
      <p:sp>
        <p:nvSpPr>
          <p:cNvPr id="10" name="Shape 10"/>
          <p:cNvSpPr/>
          <p:nvPr/>
        </p:nvSpPr>
        <p:spPr>
          <a:xfrm>
            <a:off x="4773168" y="2194560"/>
            <a:ext cx="0" cy="1417320"/>
          </a:xfrm>
          <a:prstGeom prst="line">
            <a:avLst/>
          </a:prstGeom>
          <a:noFill/>
          <a:ln w="9525">
            <a:solidFill>
              <a:srgbClr val="D8CDB6"/>
            </a:solidFill>
            <a:prstDash val="solid"/>
          </a:ln>
        </p:spPr>
      </p:sp>
      <p:sp>
        <p:nvSpPr>
          <p:cNvPr id="11" name="Text 11"/>
          <p:cNvSpPr/>
          <p:nvPr/>
        </p:nvSpPr>
        <p:spPr>
          <a:xfrm>
            <a:off x="5029200" y="2103120"/>
            <a:ext cx="1737360" cy="960120"/>
          </a:xfrm>
          <a:prstGeom prst="rect">
            <a:avLst/>
          </a:prstGeom>
          <a:noFill/>
          <a:ln/>
        </p:spPr>
        <p:txBody>
          <a:bodyPr wrap="square" lIns="0" tIns="0" rIns="0" bIns="0" rtlCol="0" anchor="t"/>
          <a:lstStyle/>
          <a:p>
            <a:pPr indent="0" marL="0">
              <a:buNone/>
            </a:pPr>
            <a:r>
              <a:rPr lang="en-US" sz="5200" dirty="0">
                <a:solidFill>
                  <a:srgbClr val="26221C"/>
                </a:solidFill>
                <a:latin typeface="Bookman Old Style" pitchFamily="34" charset="0"/>
                <a:ea typeface="Bookman Old Style" pitchFamily="34" charset="-122"/>
                <a:cs typeface="Bookman Old Style" pitchFamily="34" charset="-120"/>
              </a:rPr>
              <a:t>26</a:t>
            </a:r>
          </a:p>
        </p:txBody>
      </p:sp>
      <p:sp>
        <p:nvSpPr>
          <p:cNvPr id="12" name="Text 12"/>
          <p:cNvSpPr/>
          <p:nvPr/>
        </p:nvSpPr>
        <p:spPr>
          <a:xfrm>
            <a:off x="5029200" y="3108960"/>
            <a:ext cx="1645920" cy="822960"/>
          </a:xfrm>
          <a:prstGeom prst="rect">
            <a:avLst/>
          </a:prstGeom>
          <a:noFill/>
          <a:ln/>
        </p:spPr>
        <p:txBody>
          <a:bodyPr wrap="square" lIns="0" tIns="0" rIns="0" bIns="0" rtlCol="0" anchor="t"/>
          <a:lstStyle/>
          <a:p>
            <a:pPr indent="0" marL="0">
              <a:lnSpc>
                <a:spcPts val="1600"/>
              </a:lnSpc>
              <a:buNone/>
            </a:pPr>
            <a:r>
              <a:rPr lang="en-US" sz="1150" dirty="0">
                <a:solidFill>
                  <a:srgbClr val="4A4338"/>
                </a:solidFill>
                <a:latin typeface="Calibri" pitchFamily="34" charset="0"/>
                <a:ea typeface="Calibri" pitchFamily="34" charset="-122"/>
                <a:cs typeface="Calibri" pitchFamily="34" charset="-120"/>
              </a:rPr>
              <a:t>File 11 submission packs in</a:t>
            </a:r>
          </a:p>
        </p:txBody>
      </p:sp>
      <p:sp>
        <p:nvSpPr>
          <p:cNvPr id="13" name="Shape 13"/>
          <p:cNvSpPr/>
          <p:nvPr/>
        </p:nvSpPr>
        <p:spPr>
          <a:xfrm>
            <a:off x="6876288" y="2194560"/>
            <a:ext cx="0" cy="1417320"/>
          </a:xfrm>
          <a:prstGeom prst="line">
            <a:avLst/>
          </a:prstGeom>
          <a:noFill/>
          <a:ln w="9525">
            <a:solidFill>
              <a:srgbClr val="D8CDB6"/>
            </a:solidFill>
            <a:prstDash val="solid"/>
          </a:ln>
        </p:spPr>
      </p:sp>
      <p:sp>
        <p:nvSpPr>
          <p:cNvPr id="14" name="Text 14"/>
          <p:cNvSpPr/>
          <p:nvPr/>
        </p:nvSpPr>
        <p:spPr>
          <a:xfrm>
            <a:off x="7132320" y="2103120"/>
            <a:ext cx="1737360" cy="960120"/>
          </a:xfrm>
          <a:prstGeom prst="rect">
            <a:avLst/>
          </a:prstGeom>
          <a:noFill/>
          <a:ln/>
        </p:spPr>
        <p:txBody>
          <a:bodyPr wrap="square" lIns="0" tIns="0" rIns="0" bIns="0" rtlCol="0" anchor="t"/>
          <a:lstStyle/>
          <a:p>
            <a:pPr indent="0" marL="0">
              <a:buNone/>
            </a:pPr>
            <a:r>
              <a:rPr lang="en-US" sz="5200" dirty="0">
                <a:solidFill>
                  <a:srgbClr val="26221C"/>
                </a:solidFill>
                <a:latin typeface="Bookman Old Style" pitchFamily="34" charset="0"/>
                <a:ea typeface="Bookman Old Style" pitchFamily="34" charset="-122"/>
                <a:cs typeface="Bookman Old Style" pitchFamily="34" charset="-120"/>
              </a:rPr>
              <a:t>31</a:t>
            </a:r>
          </a:p>
        </p:txBody>
      </p:sp>
      <p:sp>
        <p:nvSpPr>
          <p:cNvPr id="15" name="Text 15"/>
          <p:cNvSpPr/>
          <p:nvPr/>
        </p:nvSpPr>
        <p:spPr>
          <a:xfrm>
            <a:off x="7132320" y="3108960"/>
            <a:ext cx="1645920" cy="822960"/>
          </a:xfrm>
          <a:prstGeom prst="rect">
            <a:avLst/>
          </a:prstGeom>
          <a:noFill/>
          <a:ln/>
        </p:spPr>
        <p:txBody>
          <a:bodyPr wrap="square" lIns="0" tIns="0" rIns="0" bIns="0" rtlCol="0" anchor="t"/>
          <a:lstStyle/>
          <a:p>
            <a:pPr indent="0" marL="0">
              <a:lnSpc>
                <a:spcPts val="1600"/>
              </a:lnSpc>
              <a:buNone/>
            </a:pPr>
            <a:r>
              <a:rPr lang="en-US" sz="1150" dirty="0">
                <a:solidFill>
                  <a:srgbClr val="4A4338"/>
                </a:solidFill>
                <a:latin typeface="Calibri" pitchFamily="34" charset="0"/>
                <a:ea typeface="Calibri" pitchFamily="34" charset="-122"/>
                <a:cs typeface="Calibri" pitchFamily="34" charset="-120"/>
              </a:rPr>
              <a:t>one-to-one calls held</a:t>
            </a:r>
          </a:p>
        </p:txBody>
      </p:sp>
      <p:sp>
        <p:nvSpPr>
          <p:cNvPr id="16" name="Shape 16"/>
          <p:cNvSpPr/>
          <p:nvPr/>
        </p:nvSpPr>
        <p:spPr>
          <a:xfrm>
            <a:off x="8979408" y="2194560"/>
            <a:ext cx="0" cy="1417320"/>
          </a:xfrm>
          <a:prstGeom prst="line">
            <a:avLst/>
          </a:prstGeom>
          <a:noFill/>
          <a:ln w="9525">
            <a:solidFill>
              <a:srgbClr val="D8CDB6"/>
            </a:solidFill>
            <a:prstDash val="solid"/>
          </a:ln>
        </p:spPr>
      </p:sp>
      <p:sp>
        <p:nvSpPr>
          <p:cNvPr id="17" name="Text 17"/>
          <p:cNvSpPr/>
          <p:nvPr/>
        </p:nvSpPr>
        <p:spPr>
          <a:xfrm>
            <a:off x="9235440" y="2103120"/>
            <a:ext cx="1737360" cy="960120"/>
          </a:xfrm>
          <a:prstGeom prst="rect">
            <a:avLst/>
          </a:prstGeom>
          <a:noFill/>
          <a:ln/>
        </p:spPr>
        <p:txBody>
          <a:bodyPr wrap="square" lIns="0" tIns="0" rIns="0" bIns="0" rtlCol="0" anchor="t"/>
          <a:lstStyle/>
          <a:p>
            <a:pPr indent="0" marL="0">
              <a:buNone/>
            </a:pPr>
            <a:r>
              <a:rPr lang="en-US" sz="5200" dirty="0">
                <a:solidFill>
                  <a:srgbClr val="26221C"/>
                </a:solidFill>
                <a:latin typeface="Bookman Old Style" pitchFamily="34" charset="0"/>
                <a:ea typeface="Bookman Old Style" pitchFamily="34" charset="-122"/>
                <a:cs typeface="Bookman Old Style" pitchFamily="34" charset="-120"/>
              </a:rPr>
              <a:t>23</a:t>
            </a:r>
          </a:p>
        </p:txBody>
      </p:sp>
      <p:sp>
        <p:nvSpPr>
          <p:cNvPr id="18" name="Text 18"/>
          <p:cNvSpPr/>
          <p:nvPr/>
        </p:nvSpPr>
        <p:spPr>
          <a:xfrm>
            <a:off x="9235440" y="3108960"/>
            <a:ext cx="1645920" cy="822960"/>
          </a:xfrm>
          <a:prstGeom prst="rect">
            <a:avLst/>
          </a:prstGeom>
          <a:noFill/>
          <a:ln/>
        </p:spPr>
        <p:txBody>
          <a:bodyPr wrap="square" lIns="0" tIns="0" rIns="0" bIns="0" rtlCol="0" anchor="t"/>
          <a:lstStyle/>
          <a:p>
            <a:pPr indent="0" marL="0">
              <a:lnSpc>
                <a:spcPts val="1600"/>
              </a:lnSpc>
              <a:buNone/>
            </a:pPr>
            <a:r>
              <a:rPr lang="en-US" sz="1150" dirty="0">
                <a:solidFill>
                  <a:srgbClr val="4A4338"/>
                </a:solidFill>
                <a:latin typeface="Calibri" pitchFamily="34" charset="0"/>
                <a:ea typeface="Calibri" pitchFamily="34" charset="-122"/>
                <a:cs typeface="Calibri" pitchFamily="34" charset="-120"/>
              </a:rPr>
              <a:t>pricing sheets in, of 37</a:t>
            </a:r>
          </a:p>
        </p:txBody>
      </p:sp>
      <p:sp>
        <p:nvSpPr>
          <p:cNvPr id="19" name="Shape 19"/>
          <p:cNvSpPr/>
          <p:nvPr/>
        </p:nvSpPr>
        <p:spPr>
          <a:xfrm>
            <a:off x="822960" y="4041648"/>
            <a:ext cx="10515600" cy="0"/>
          </a:xfrm>
          <a:prstGeom prst="line">
            <a:avLst/>
          </a:prstGeom>
          <a:noFill/>
          <a:ln w="9525">
            <a:solidFill>
              <a:srgbClr val="D8CDB6"/>
            </a:solidFill>
            <a:prstDash val="solid"/>
          </a:ln>
        </p:spPr>
      </p:sp>
      <p:sp>
        <p:nvSpPr>
          <p:cNvPr id="20" name="Text 20"/>
          <p:cNvSpPr/>
          <p:nvPr/>
        </p:nvSpPr>
        <p:spPr>
          <a:xfrm>
            <a:off x="822960" y="4279392"/>
            <a:ext cx="10515600" cy="384048"/>
          </a:xfrm>
          <a:prstGeom prst="rect">
            <a:avLst/>
          </a:prstGeom>
          <a:noFill/>
          <a:ln/>
        </p:spPr>
        <p:txBody>
          <a:bodyPr wrap="square" lIns="0" tIns="0" rIns="0" bIns="0" rtlCol="0" anchor="t"/>
          <a:lstStyle/>
          <a:p>
            <a:pPr indent="0" marL="0">
              <a:lnSpc>
                <a:spcPts val="1900"/>
              </a:lnSpc>
              <a:buNone/>
            </a:pPr>
            <a:r>
              <a:rPr lang="en-US" sz="1400" dirty="0">
                <a:solidFill>
                  <a:srgbClr val="4A4338"/>
                </a:solidFill>
                <a:latin typeface="Calibri" pitchFamily="34" charset="0"/>
                <a:ea typeface="Calibri" pitchFamily="34" charset="-122"/>
                <a:cs typeface="Calibri" pitchFamily="34" charset="-120"/>
              </a:rPr>
              <a:t>Thirty-three of thirty-seven houses are fully in the programme. The Council's importer outreach is out, and the late-August meetings are being assembled from your files.</a:t>
            </a:r>
          </a:p>
        </p:txBody>
      </p:sp>
      <p:sp>
        <p:nvSpPr>
          <p:cNvPr id="21" name="Text 21"/>
          <p:cNvSpPr/>
          <p:nvPr/>
        </p:nvSpPr>
        <p:spPr>
          <a:xfrm>
            <a:off x="822960" y="4956048"/>
            <a:ext cx="10515600" cy="731520"/>
          </a:xfrm>
          <a:prstGeom prst="rect">
            <a:avLst/>
          </a:prstGeom>
          <a:noFill/>
          <a:ln/>
        </p:spPr>
        <p:txBody>
          <a:bodyPr wrap="square" lIns="0" tIns="0" rIns="0" bIns="0" rtlCol="0" anchor="t"/>
          <a:lstStyle/>
          <a:p>
            <a:pPr indent="0" marL="0">
              <a:lnSpc>
                <a:spcPts val="2600"/>
              </a:lnSpc>
              <a:buNone/>
            </a:pPr>
            <a:r>
              <a:rPr lang="en-US" sz="1900" dirty="0">
                <a:solidFill>
                  <a:srgbClr val="26221C"/>
                </a:solidFill>
                <a:latin typeface="Bookman Old Style" pitchFamily="34" charset="0"/>
                <a:ea typeface="Bookman Old Style" pitchFamily="34" charset="-122"/>
                <a:cs typeface="Bookman Old Style" pitchFamily="34" charset="-120"/>
              </a:rPr>
              <a:t>Twenty-three pricing sheets are in. Fourteen to go. The room is filled from those sheets, so send yours this week.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3      ·      T H E   D O O R S   A L R E A D Y   O P E N</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Every agave brand in India came through a door.</a:t>
            </a:r>
          </a:p>
        </p:txBody>
      </p:sp>
      <p:sp>
        <p:nvSpPr>
          <p:cNvPr id="4" name="Text 4"/>
          <p:cNvSpPr/>
          <p:nvPr/>
        </p:nvSpPr>
        <p:spPr>
          <a:xfrm>
            <a:off x="822960" y="1755648"/>
            <a:ext cx="4846320" cy="256032"/>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B R A N D</a:t>
            </a:r>
          </a:p>
        </p:txBody>
      </p:sp>
      <p:sp>
        <p:nvSpPr>
          <p:cNvPr id="5" name="Text 5"/>
          <p:cNvSpPr/>
          <p:nvPr/>
        </p:nvSpPr>
        <p:spPr>
          <a:xfrm>
            <a:off x="5806440" y="1755648"/>
            <a:ext cx="2834640" cy="256032"/>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D O O R</a:t>
            </a:r>
          </a:p>
        </p:txBody>
      </p:sp>
      <p:sp>
        <p:nvSpPr>
          <p:cNvPr id="6" name="Text 6"/>
          <p:cNvSpPr/>
          <p:nvPr/>
        </p:nvSpPr>
        <p:spPr>
          <a:xfrm>
            <a:off x="8778240" y="1755648"/>
            <a:ext cx="2560320" cy="256032"/>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N O T E</a:t>
            </a:r>
          </a:p>
        </p:txBody>
      </p:sp>
      <p:sp>
        <p:nvSpPr>
          <p:cNvPr id="7" name="Shape 7"/>
          <p:cNvSpPr/>
          <p:nvPr/>
        </p:nvSpPr>
        <p:spPr>
          <a:xfrm>
            <a:off x="822960" y="2048256"/>
            <a:ext cx="10515600" cy="0"/>
          </a:xfrm>
          <a:prstGeom prst="line">
            <a:avLst/>
          </a:prstGeom>
          <a:noFill/>
          <a:ln w="12700">
            <a:solidFill>
              <a:srgbClr val="26221C"/>
            </a:solidFill>
            <a:prstDash val="solid"/>
          </a:ln>
        </p:spPr>
      </p:sp>
      <p:sp>
        <p:nvSpPr>
          <p:cNvPr id="8" name="Text 8"/>
          <p:cNvSpPr/>
          <p:nvPr/>
        </p:nvSpPr>
        <p:spPr>
          <a:xfrm>
            <a:off x="822960" y="2157984"/>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Don Julio</a:t>
            </a:r>
          </a:p>
        </p:txBody>
      </p:sp>
      <p:sp>
        <p:nvSpPr>
          <p:cNvPr id="9" name="Text 9"/>
          <p:cNvSpPr/>
          <p:nvPr/>
        </p:nvSpPr>
        <p:spPr>
          <a:xfrm>
            <a:off x="5806440" y="2157984"/>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Diageo India</a:t>
            </a:r>
          </a:p>
        </p:txBody>
      </p:sp>
      <p:sp>
        <p:nvSpPr>
          <p:cNvPr id="10" name="Text 10"/>
          <p:cNvSpPr/>
          <p:nvPr/>
        </p:nvSpPr>
        <p:spPr>
          <a:xfrm>
            <a:off x="8778240" y="2157984"/>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in market since 2023</a:t>
            </a:r>
          </a:p>
        </p:txBody>
      </p:sp>
      <p:sp>
        <p:nvSpPr>
          <p:cNvPr id="11" name="Shape 11"/>
          <p:cNvSpPr/>
          <p:nvPr/>
        </p:nvSpPr>
        <p:spPr>
          <a:xfrm>
            <a:off x="822960" y="2505456"/>
            <a:ext cx="10515600" cy="0"/>
          </a:xfrm>
          <a:prstGeom prst="line">
            <a:avLst/>
          </a:prstGeom>
          <a:noFill/>
          <a:ln w="4763">
            <a:solidFill>
              <a:srgbClr val="EBE3D5"/>
            </a:solidFill>
            <a:prstDash val="solid"/>
          </a:ln>
        </p:spPr>
      </p:sp>
      <p:sp>
        <p:nvSpPr>
          <p:cNvPr id="12" name="Text 12"/>
          <p:cNvSpPr/>
          <p:nvPr/>
        </p:nvSpPr>
        <p:spPr>
          <a:xfrm>
            <a:off x="822960" y="2555748"/>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Patron</a:t>
            </a:r>
          </a:p>
        </p:txBody>
      </p:sp>
      <p:sp>
        <p:nvSpPr>
          <p:cNvPr id="13" name="Text 13"/>
          <p:cNvSpPr/>
          <p:nvPr/>
        </p:nvSpPr>
        <p:spPr>
          <a:xfrm>
            <a:off x="5806440" y="2555748"/>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Bacardi India</a:t>
            </a:r>
          </a:p>
        </p:txBody>
      </p:sp>
      <p:sp>
        <p:nvSpPr>
          <p:cNvPr id="14" name="Text 14"/>
          <p:cNvSpPr/>
          <p:nvPr/>
        </p:nvSpPr>
        <p:spPr>
          <a:xfrm>
            <a:off x="8778240" y="2555748"/>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the super-premium leader</a:t>
            </a:r>
          </a:p>
        </p:txBody>
      </p:sp>
      <p:sp>
        <p:nvSpPr>
          <p:cNvPr id="15" name="Shape 15"/>
          <p:cNvSpPr/>
          <p:nvPr/>
        </p:nvSpPr>
        <p:spPr>
          <a:xfrm>
            <a:off x="822960" y="2903220"/>
            <a:ext cx="10515600" cy="0"/>
          </a:xfrm>
          <a:prstGeom prst="line">
            <a:avLst/>
          </a:prstGeom>
          <a:noFill/>
          <a:ln w="4763">
            <a:solidFill>
              <a:srgbClr val="EBE3D5"/>
            </a:solidFill>
            <a:prstDash val="solid"/>
          </a:ln>
        </p:spPr>
      </p:sp>
      <p:sp>
        <p:nvSpPr>
          <p:cNvPr id="16" name="Text 16"/>
          <p:cNvSpPr/>
          <p:nvPr/>
        </p:nvSpPr>
        <p:spPr>
          <a:xfrm>
            <a:off x="822960" y="2953512"/>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Volcan de mi Tierra</a:t>
            </a:r>
          </a:p>
        </p:txBody>
      </p:sp>
      <p:sp>
        <p:nvSpPr>
          <p:cNvPr id="17" name="Text 17"/>
          <p:cNvSpPr/>
          <p:nvPr/>
        </p:nvSpPr>
        <p:spPr>
          <a:xfrm>
            <a:off x="5806440" y="2953512"/>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Moet Hennessy India</a:t>
            </a:r>
          </a:p>
        </p:txBody>
      </p:sp>
      <p:sp>
        <p:nvSpPr>
          <p:cNvPr id="18" name="Text 18"/>
          <p:cNvSpPr/>
          <p:nvPr/>
        </p:nvSpPr>
        <p:spPr>
          <a:xfrm>
            <a:off x="8778240" y="2953512"/>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launched January 2025</a:t>
            </a:r>
          </a:p>
        </p:txBody>
      </p:sp>
      <p:sp>
        <p:nvSpPr>
          <p:cNvPr id="19" name="Shape 19"/>
          <p:cNvSpPr/>
          <p:nvPr/>
        </p:nvSpPr>
        <p:spPr>
          <a:xfrm>
            <a:off x="822960" y="3300984"/>
            <a:ext cx="10515600" cy="0"/>
          </a:xfrm>
          <a:prstGeom prst="line">
            <a:avLst/>
          </a:prstGeom>
          <a:noFill/>
          <a:ln w="4763">
            <a:solidFill>
              <a:srgbClr val="EBE3D5"/>
            </a:solidFill>
            <a:prstDash val="solid"/>
          </a:ln>
        </p:spPr>
      </p:sp>
      <p:sp>
        <p:nvSpPr>
          <p:cNvPr id="20" name="Text 20"/>
          <p:cNvSpPr/>
          <p:nvPr/>
        </p:nvSpPr>
        <p:spPr>
          <a:xfrm>
            <a:off x="822960" y="3351276"/>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Jose Cuervo, 1800, Maestro Dobel</a:t>
            </a:r>
          </a:p>
        </p:txBody>
      </p:sp>
      <p:sp>
        <p:nvSpPr>
          <p:cNvPr id="21" name="Text 21"/>
          <p:cNvSpPr/>
          <p:nvPr/>
        </p:nvSpPr>
        <p:spPr>
          <a:xfrm>
            <a:off x="5806440" y="3351276"/>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Monika Alcobev</a:t>
            </a:r>
          </a:p>
        </p:txBody>
      </p:sp>
      <p:sp>
        <p:nvSpPr>
          <p:cNvPr id="22" name="Text 22"/>
          <p:cNvSpPr/>
          <p:nvPr/>
        </p:nvSpPr>
        <p:spPr>
          <a:xfrm>
            <a:off x="8778240" y="3351276"/>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Cuervo since 2019</a:t>
            </a:r>
          </a:p>
        </p:txBody>
      </p:sp>
      <p:sp>
        <p:nvSpPr>
          <p:cNvPr id="23" name="Shape 23"/>
          <p:cNvSpPr/>
          <p:nvPr/>
        </p:nvSpPr>
        <p:spPr>
          <a:xfrm>
            <a:off x="822960" y="3698748"/>
            <a:ext cx="10515600" cy="0"/>
          </a:xfrm>
          <a:prstGeom prst="line">
            <a:avLst/>
          </a:prstGeom>
          <a:noFill/>
          <a:ln w="4763">
            <a:solidFill>
              <a:srgbClr val="EBE3D5"/>
            </a:solidFill>
            <a:prstDash val="solid"/>
          </a:ln>
        </p:spPr>
      </p:sp>
      <p:sp>
        <p:nvSpPr>
          <p:cNvPr id="24" name="Text 24"/>
          <p:cNvSpPr/>
          <p:nvPr/>
        </p:nvSpPr>
        <p:spPr>
          <a:xfrm>
            <a:off x="822960" y="3749040"/>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Creyente, 400 Conejos</a:t>
            </a:r>
          </a:p>
        </p:txBody>
      </p:sp>
      <p:sp>
        <p:nvSpPr>
          <p:cNvPr id="25" name="Text 25"/>
          <p:cNvSpPr/>
          <p:nvPr/>
        </p:nvSpPr>
        <p:spPr>
          <a:xfrm>
            <a:off x="5806440" y="3749040"/>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Monika Alcobev</a:t>
            </a:r>
          </a:p>
        </p:txBody>
      </p:sp>
      <p:sp>
        <p:nvSpPr>
          <p:cNvPr id="26" name="Text 26"/>
          <p:cNvSpPr/>
          <p:nvPr/>
        </p:nvSpPr>
        <p:spPr>
          <a:xfrm>
            <a:off x="8778240" y="3749040"/>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the mezcal proof</a:t>
            </a:r>
          </a:p>
        </p:txBody>
      </p:sp>
      <p:sp>
        <p:nvSpPr>
          <p:cNvPr id="27" name="Shape 27"/>
          <p:cNvSpPr/>
          <p:nvPr/>
        </p:nvSpPr>
        <p:spPr>
          <a:xfrm>
            <a:off x="822960" y="4096512"/>
            <a:ext cx="10515600" cy="0"/>
          </a:xfrm>
          <a:prstGeom prst="line">
            <a:avLst/>
          </a:prstGeom>
          <a:noFill/>
          <a:ln w="4763">
            <a:solidFill>
              <a:srgbClr val="EBE3D5"/>
            </a:solidFill>
            <a:prstDash val="solid"/>
          </a:ln>
        </p:spPr>
      </p:sp>
      <p:sp>
        <p:nvSpPr>
          <p:cNvPr id="28" name="Text 28"/>
          <p:cNvSpPr/>
          <p:nvPr/>
        </p:nvSpPr>
        <p:spPr>
          <a:xfrm>
            <a:off x="822960" y="4146804"/>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Dos Flamos</a:t>
            </a:r>
          </a:p>
        </p:txBody>
      </p:sp>
      <p:sp>
        <p:nvSpPr>
          <p:cNvPr id="29" name="Text 29"/>
          <p:cNvSpPr/>
          <p:nvPr/>
        </p:nvSpPr>
        <p:spPr>
          <a:xfrm>
            <a:off x="5806440" y="4146804"/>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Aspri Spirits</a:t>
            </a:r>
          </a:p>
        </p:txBody>
      </p:sp>
      <p:sp>
        <p:nvSpPr>
          <p:cNvPr id="30" name="Text 30"/>
          <p:cNvSpPr/>
          <p:nvPr/>
        </p:nvSpPr>
        <p:spPr>
          <a:xfrm>
            <a:off x="8778240" y="4146804"/>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one of 323 brands</a:t>
            </a:r>
          </a:p>
        </p:txBody>
      </p:sp>
      <p:sp>
        <p:nvSpPr>
          <p:cNvPr id="31" name="Shape 31"/>
          <p:cNvSpPr/>
          <p:nvPr/>
        </p:nvSpPr>
        <p:spPr>
          <a:xfrm>
            <a:off x="822960" y="4494276"/>
            <a:ext cx="10515600" cy="0"/>
          </a:xfrm>
          <a:prstGeom prst="line">
            <a:avLst/>
          </a:prstGeom>
          <a:noFill/>
          <a:ln w="4763">
            <a:solidFill>
              <a:srgbClr val="EBE3D5"/>
            </a:solidFill>
            <a:prstDash val="solid"/>
          </a:ln>
        </p:spPr>
      </p:sp>
      <p:sp>
        <p:nvSpPr>
          <p:cNvPr id="32" name="Text 32"/>
          <p:cNvSpPr/>
          <p:nvPr/>
        </p:nvSpPr>
        <p:spPr>
          <a:xfrm>
            <a:off x="822960" y="4544568"/>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Komos</a:t>
            </a:r>
          </a:p>
        </p:txBody>
      </p:sp>
      <p:sp>
        <p:nvSpPr>
          <p:cNvPr id="33" name="Text 33"/>
          <p:cNvSpPr/>
          <p:nvPr/>
        </p:nvSpPr>
        <p:spPr>
          <a:xfrm>
            <a:off x="5806440" y="4544568"/>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Chason Beverages</a:t>
            </a:r>
          </a:p>
        </p:txBody>
      </p:sp>
      <p:sp>
        <p:nvSpPr>
          <p:cNvPr id="34" name="Text 34"/>
          <p:cNvSpPr/>
          <p:nvPr/>
        </p:nvSpPr>
        <p:spPr>
          <a:xfrm>
            <a:off x="8778240" y="4544568"/>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ultra-luxury, Delhi and Goa first</a:t>
            </a:r>
          </a:p>
        </p:txBody>
      </p:sp>
      <p:sp>
        <p:nvSpPr>
          <p:cNvPr id="35" name="Shape 35"/>
          <p:cNvSpPr/>
          <p:nvPr/>
        </p:nvSpPr>
        <p:spPr>
          <a:xfrm>
            <a:off x="822960" y="4892040"/>
            <a:ext cx="10515600" cy="0"/>
          </a:xfrm>
          <a:prstGeom prst="line">
            <a:avLst/>
          </a:prstGeom>
          <a:noFill/>
          <a:ln w="4763">
            <a:solidFill>
              <a:srgbClr val="EBE3D5"/>
            </a:solidFill>
            <a:prstDash val="solid"/>
          </a:ln>
        </p:spPr>
      </p:sp>
      <p:sp>
        <p:nvSpPr>
          <p:cNvPr id="36" name="Text 36"/>
          <p:cNvSpPr/>
          <p:nvPr/>
        </p:nvSpPr>
        <p:spPr>
          <a:xfrm>
            <a:off x="822960" y="4942332"/>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Clase Azul</a:t>
            </a:r>
          </a:p>
        </p:txBody>
      </p:sp>
      <p:sp>
        <p:nvSpPr>
          <p:cNvPr id="37" name="Text 37"/>
          <p:cNvSpPr/>
          <p:nvPr/>
        </p:nvSpPr>
        <p:spPr>
          <a:xfrm>
            <a:off x="5806440" y="4942332"/>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Anggel's Share</a:t>
            </a:r>
          </a:p>
        </p:txBody>
      </p:sp>
      <p:sp>
        <p:nvSpPr>
          <p:cNvPr id="38" name="Text 38"/>
          <p:cNvSpPr/>
          <p:nvPr/>
        </p:nvSpPr>
        <p:spPr>
          <a:xfrm>
            <a:off x="8778240" y="4942332"/>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a curation house</a:t>
            </a:r>
          </a:p>
        </p:txBody>
      </p:sp>
      <p:sp>
        <p:nvSpPr>
          <p:cNvPr id="39" name="Shape 39"/>
          <p:cNvSpPr/>
          <p:nvPr/>
        </p:nvSpPr>
        <p:spPr>
          <a:xfrm>
            <a:off x="822960" y="5289804"/>
            <a:ext cx="10515600" cy="0"/>
          </a:xfrm>
          <a:prstGeom prst="line">
            <a:avLst/>
          </a:prstGeom>
          <a:noFill/>
          <a:ln w="4763">
            <a:solidFill>
              <a:srgbClr val="EBE3D5"/>
            </a:solidFill>
            <a:prstDash val="solid"/>
          </a:ln>
        </p:spPr>
      </p:sp>
      <p:sp>
        <p:nvSpPr>
          <p:cNvPr id="40" name="Text 40"/>
          <p:cNvSpPr/>
          <p:nvPr/>
        </p:nvSpPr>
        <p:spPr>
          <a:xfrm>
            <a:off x="822960" y="5340096"/>
            <a:ext cx="4846320" cy="329184"/>
          </a:xfrm>
          <a:prstGeom prst="rect">
            <a:avLst/>
          </a:prstGeom>
          <a:noFill/>
          <a:ln/>
        </p:spPr>
        <p:txBody>
          <a:bodyPr wrap="square" lIns="0" tIns="0" rIns="0" bIns="0" rtlCol="0" anchor="t"/>
          <a:lstStyle/>
          <a:p>
            <a:pPr indent="0" marL="0">
              <a:buNone/>
            </a:pPr>
            <a:r>
              <a:rPr lang="en-US" sz="1200" b="1" dirty="0">
                <a:solidFill>
                  <a:srgbClr val="26221C"/>
                </a:solidFill>
                <a:latin typeface="Calibri" pitchFamily="34" charset="0"/>
                <a:ea typeface="Calibri" pitchFamily="34" charset="-122"/>
                <a:cs typeface="Calibri" pitchFamily="34" charset="-120"/>
              </a:rPr>
              <a:t>D'YAVOL Anejo</a:t>
            </a:r>
          </a:p>
        </p:txBody>
      </p:sp>
      <p:sp>
        <p:nvSpPr>
          <p:cNvPr id="41" name="Text 41"/>
          <p:cNvSpPr/>
          <p:nvPr/>
        </p:nvSpPr>
        <p:spPr>
          <a:xfrm>
            <a:off x="5806440" y="5340096"/>
            <a:ext cx="2834640" cy="329184"/>
          </a:xfrm>
          <a:prstGeom prst="rect">
            <a:avLst/>
          </a:prstGeom>
          <a:noFill/>
          <a:ln/>
        </p:spPr>
        <p:txBody>
          <a:bodyPr wrap="square" lIns="0" tIns="0" rIns="0" bIns="0" rtlCol="0" anchor="t"/>
          <a:lstStyle/>
          <a:p>
            <a:pPr indent="0" marL="0">
              <a:buNone/>
            </a:pPr>
            <a:r>
              <a:rPr lang="en-US" sz="1200" dirty="0">
                <a:solidFill>
                  <a:srgbClr val="26221C"/>
                </a:solidFill>
                <a:latin typeface="Calibri" pitchFamily="34" charset="0"/>
                <a:ea typeface="Calibri" pitchFamily="34" charset="-122"/>
                <a:cs typeface="Calibri" pitchFamily="34" charset="-120"/>
              </a:rPr>
              <a:t>Radico Khaitan venture</a:t>
            </a:r>
          </a:p>
        </p:txBody>
      </p:sp>
      <p:sp>
        <p:nvSpPr>
          <p:cNvPr id="42" name="Text 42"/>
          <p:cNvSpPr/>
          <p:nvPr/>
        </p:nvSpPr>
        <p:spPr>
          <a:xfrm>
            <a:off x="8778240" y="5340096"/>
            <a:ext cx="2560320" cy="329184"/>
          </a:xfrm>
          <a:prstGeom prst="rect">
            <a:avLst/>
          </a:prstGeom>
          <a:noFill/>
          <a:ln/>
        </p:spPr>
        <p:txBody>
          <a:bodyPr wrap="square" lIns="0" tIns="0" rIns="0" bIns="0" rtlCol="0" anchor="t"/>
          <a:lstStyle/>
          <a:p>
            <a:pPr indent="0" marL="0">
              <a:buNone/>
            </a:pPr>
            <a:r>
              <a:rPr lang="en-US" sz="1050" i="1" dirty="0">
                <a:solidFill>
                  <a:srgbClr val="4A4338"/>
                </a:solidFill>
                <a:latin typeface="Calibri" pitchFamily="34" charset="0"/>
                <a:ea typeface="Calibri" pitchFamily="34" charset="-122"/>
                <a:cs typeface="Calibri" pitchFamily="34" charset="-120"/>
              </a:rPr>
              <a:t>bottled at origin</a:t>
            </a:r>
          </a:p>
        </p:txBody>
      </p:sp>
      <p:sp>
        <p:nvSpPr>
          <p:cNvPr id="43" name="Shape 43"/>
          <p:cNvSpPr/>
          <p:nvPr/>
        </p:nvSpPr>
        <p:spPr>
          <a:xfrm>
            <a:off x="850392" y="5943600"/>
            <a:ext cx="2011680" cy="0"/>
          </a:xfrm>
          <a:prstGeom prst="line">
            <a:avLst/>
          </a:prstGeom>
          <a:noFill/>
          <a:ln w="12700">
            <a:solidFill>
              <a:srgbClr val="6E5630"/>
            </a:solidFill>
            <a:prstDash val="solid"/>
          </a:ln>
        </p:spPr>
      </p:sp>
      <p:sp>
        <p:nvSpPr>
          <p:cNvPr id="44" name="Text 44"/>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Nine brands found their door, and Brown-Forman brings two more next. Yours is step three.</a:t>
            </a:r>
          </a:p>
        </p:txBody>
      </p:sp>
      <p:sp>
        <p:nvSpPr>
          <p:cNvPr id="45" name="Text 45"/>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3      ·      T H E   M A P   O F   I M P O R T E R S</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Three tiers, with names. Know whose chair you are in.</a:t>
            </a:r>
          </a:p>
        </p:txBody>
      </p:sp>
      <p:sp>
        <p:nvSpPr>
          <p:cNvPr id="4" name="Text 4"/>
          <p:cNvSpPr/>
          <p:nvPr/>
        </p:nvSpPr>
        <p:spPr>
          <a:xfrm>
            <a:off x="822960" y="1828800"/>
            <a:ext cx="2075688" cy="274320"/>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T I E R</a:t>
            </a:r>
          </a:p>
        </p:txBody>
      </p:sp>
      <p:sp>
        <p:nvSpPr>
          <p:cNvPr id="5" name="Text 5"/>
          <p:cNvSpPr/>
          <p:nvPr/>
        </p:nvSpPr>
        <p:spPr>
          <a:xfrm>
            <a:off x="3063240" y="1828800"/>
            <a:ext cx="2532888" cy="274320"/>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W H O   T H E Y   A R E</a:t>
            </a:r>
          </a:p>
        </p:txBody>
      </p:sp>
      <p:sp>
        <p:nvSpPr>
          <p:cNvPr id="6" name="Text 6"/>
          <p:cNvSpPr/>
          <p:nvPr/>
        </p:nvSpPr>
        <p:spPr>
          <a:xfrm>
            <a:off x="5760720" y="1828800"/>
            <a:ext cx="3081528" cy="274320"/>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T H E I R   A G A V E   T O D A Y</a:t>
            </a:r>
          </a:p>
        </p:txBody>
      </p:sp>
      <p:sp>
        <p:nvSpPr>
          <p:cNvPr id="7" name="Text 7"/>
          <p:cNvSpPr/>
          <p:nvPr/>
        </p:nvSpPr>
        <p:spPr>
          <a:xfrm>
            <a:off x="9006840" y="1828800"/>
            <a:ext cx="2167128" cy="274320"/>
          </a:xfrm>
          <a:prstGeom prst="rect">
            <a:avLst/>
          </a:prstGeom>
          <a:noFill/>
          <a:ln/>
        </p:spPr>
        <p:txBody>
          <a:bodyPr wrap="square" lIns="0" tIns="0" rIns="0" bIns="0" rtlCol="0" anchor="t"/>
          <a:lstStyle/>
          <a:p>
            <a:pPr indent="0" marL="0">
              <a:buNone/>
            </a:pPr>
            <a:r>
              <a:rPr lang="en-US" sz="950" b="1" dirty="0">
                <a:solidFill>
                  <a:srgbClr val="8B6E3D"/>
                </a:solidFill>
                <a:latin typeface="Calibri" pitchFamily="34" charset="0"/>
                <a:ea typeface="Calibri" pitchFamily="34" charset="-122"/>
                <a:cs typeface="Calibri" pitchFamily="34" charset="-120"/>
              </a:rPr>
              <a:t>Y O U R   M O V E</a:t>
            </a:r>
          </a:p>
        </p:txBody>
      </p:sp>
      <p:sp>
        <p:nvSpPr>
          <p:cNvPr id="8" name="Shape 8"/>
          <p:cNvSpPr/>
          <p:nvPr/>
        </p:nvSpPr>
        <p:spPr>
          <a:xfrm>
            <a:off x="822960" y="2157984"/>
            <a:ext cx="10515600" cy="0"/>
          </a:xfrm>
          <a:prstGeom prst="line">
            <a:avLst/>
          </a:prstGeom>
          <a:noFill/>
          <a:ln w="12700">
            <a:solidFill>
              <a:srgbClr val="26221C"/>
            </a:solidFill>
            <a:prstDash val="solid"/>
          </a:ln>
        </p:spPr>
      </p:sp>
      <p:sp>
        <p:nvSpPr>
          <p:cNvPr id="9" name="Text 9"/>
          <p:cNvSpPr/>
          <p:nvPr/>
        </p:nvSpPr>
        <p:spPr>
          <a:xfrm>
            <a:off x="822960" y="2304288"/>
            <a:ext cx="2075688" cy="1115568"/>
          </a:xfrm>
          <a:prstGeom prst="rect">
            <a:avLst/>
          </a:prstGeom>
          <a:noFill/>
          <a:ln/>
        </p:spPr>
        <p:txBody>
          <a:bodyPr wrap="square" lIns="0" tIns="0" rIns="0" bIns="0" rtlCol="0" anchor="t"/>
          <a:lstStyle/>
          <a:p>
            <a:pPr indent="0" marL="0">
              <a:lnSpc>
                <a:spcPts val="1600"/>
              </a:lnSpc>
              <a:buNone/>
            </a:pPr>
            <a:r>
              <a:rPr lang="en-US" sz="1300" b="1" dirty="0">
                <a:solidFill>
                  <a:srgbClr val="26221C"/>
                </a:solidFill>
                <a:latin typeface="Calibri" pitchFamily="34" charset="0"/>
                <a:ea typeface="Calibri" pitchFamily="34" charset="-122"/>
                <a:cs typeface="Calibri" pitchFamily="34" charset="-120"/>
              </a:rPr>
              <a:t>The multinationals</a:t>
            </a:r>
          </a:p>
        </p:txBody>
      </p:sp>
      <p:sp>
        <p:nvSpPr>
          <p:cNvPr id="10" name="Text 10"/>
          <p:cNvSpPr/>
          <p:nvPr/>
        </p:nvSpPr>
        <p:spPr>
          <a:xfrm>
            <a:off x="3063240" y="2304288"/>
            <a:ext cx="2532888" cy="1115568"/>
          </a:xfrm>
          <a:prstGeom prst="rect">
            <a:avLst/>
          </a:prstGeom>
          <a:noFill/>
          <a:ln/>
        </p:spPr>
        <p:txBody>
          <a:bodyPr wrap="square" lIns="0" tIns="0" rIns="0" bIns="0" rtlCol="0" anchor="t"/>
          <a:lstStyle/>
          <a:p>
            <a:pPr indent="0" marL="0">
              <a:lnSpc>
                <a:spcPts val="1500"/>
              </a:lnSpc>
              <a:buNone/>
            </a:pPr>
            <a:r>
              <a:rPr lang="en-US" sz="1150" dirty="0">
                <a:solidFill>
                  <a:srgbClr val="26221C"/>
                </a:solidFill>
                <a:latin typeface="Calibri" pitchFamily="34" charset="0"/>
                <a:ea typeface="Calibri" pitchFamily="34" charset="-122"/>
                <a:cs typeface="Calibri" pitchFamily="34" charset="-120"/>
              </a:rPr>
              <a:t>Diageo India, Bacardi India, Moet Hennessy India, Radico Khaitan</a:t>
            </a:r>
          </a:p>
        </p:txBody>
      </p:sp>
      <p:sp>
        <p:nvSpPr>
          <p:cNvPr id="11" name="Text 11"/>
          <p:cNvSpPr/>
          <p:nvPr/>
        </p:nvSpPr>
        <p:spPr>
          <a:xfrm>
            <a:off x="5760720" y="2304288"/>
            <a:ext cx="3081528" cy="1115568"/>
          </a:xfrm>
          <a:prstGeom prst="rect">
            <a:avLst/>
          </a:prstGeom>
          <a:noFill/>
          <a:ln/>
        </p:spPr>
        <p:txBody>
          <a:bodyPr wrap="square" lIns="0" tIns="0" rIns="0" bIns="0" rtlCol="0" anchor="t"/>
          <a:lstStyle/>
          <a:p>
            <a:pPr indent="0" marL="0">
              <a:lnSpc>
                <a:spcPts val="1450"/>
              </a:lnSpc>
              <a:buNone/>
            </a:pPr>
            <a:r>
              <a:rPr lang="en-US" sz="1100" dirty="0">
                <a:solidFill>
                  <a:srgbClr val="4A4338"/>
                </a:solidFill>
                <a:latin typeface="Calibri" pitchFamily="34" charset="0"/>
                <a:ea typeface="Calibri" pitchFamily="34" charset="-122"/>
                <a:cs typeface="Calibri" pitchFamily="34" charset="-120"/>
              </a:rPr>
              <a:t>Own their agave: Don Julio, Patron, Volcan, the D'YAVOL venture. They set the shelf's ceiling.</a:t>
            </a:r>
          </a:p>
        </p:txBody>
      </p:sp>
      <p:sp>
        <p:nvSpPr>
          <p:cNvPr id="12" name="Text 12"/>
          <p:cNvSpPr/>
          <p:nvPr/>
        </p:nvSpPr>
        <p:spPr>
          <a:xfrm>
            <a:off x="9006840" y="2304288"/>
            <a:ext cx="2240280" cy="1115568"/>
          </a:xfrm>
          <a:prstGeom prst="rect">
            <a:avLst/>
          </a:prstGeom>
          <a:noFill/>
          <a:ln/>
        </p:spPr>
        <p:txBody>
          <a:bodyPr wrap="square" lIns="0" tIns="0" rIns="0" bIns="0" rtlCol="0" anchor="t"/>
          <a:lstStyle/>
          <a:p>
            <a:pPr indent="0" marL="0">
              <a:lnSpc>
                <a:spcPts val="1450"/>
              </a:lnSpc>
              <a:buNone/>
            </a:pPr>
            <a:r>
              <a:rPr lang="en-US" sz="1100" b="1" dirty="0">
                <a:solidFill>
                  <a:srgbClr val="6E5630"/>
                </a:solidFill>
                <a:latin typeface="Calibri" pitchFamily="34" charset="0"/>
                <a:ea typeface="Calibri" pitchFamily="34" charset="-122"/>
                <a:cs typeface="Calibri" pitchFamily="34" charset="-120"/>
              </a:rPr>
              <a:t>Study their pricing. Do not pitch them.</a:t>
            </a:r>
          </a:p>
        </p:txBody>
      </p:sp>
      <p:sp>
        <p:nvSpPr>
          <p:cNvPr id="13" name="Shape 13"/>
          <p:cNvSpPr/>
          <p:nvPr/>
        </p:nvSpPr>
        <p:spPr>
          <a:xfrm>
            <a:off x="822960" y="3401568"/>
            <a:ext cx="10515600" cy="0"/>
          </a:xfrm>
          <a:prstGeom prst="line">
            <a:avLst/>
          </a:prstGeom>
          <a:noFill/>
          <a:ln w="6350">
            <a:solidFill>
              <a:srgbClr val="D8CDB6"/>
            </a:solidFill>
            <a:prstDash val="solid"/>
          </a:ln>
        </p:spPr>
      </p:sp>
      <p:sp>
        <p:nvSpPr>
          <p:cNvPr id="14" name="Text 14"/>
          <p:cNvSpPr/>
          <p:nvPr/>
        </p:nvSpPr>
        <p:spPr>
          <a:xfrm>
            <a:off x="822960" y="3511296"/>
            <a:ext cx="2075688" cy="1115568"/>
          </a:xfrm>
          <a:prstGeom prst="rect">
            <a:avLst/>
          </a:prstGeom>
          <a:noFill/>
          <a:ln/>
        </p:spPr>
        <p:txBody>
          <a:bodyPr wrap="square" lIns="0" tIns="0" rIns="0" bIns="0" rtlCol="0" anchor="t"/>
          <a:lstStyle/>
          <a:p>
            <a:pPr indent="0" marL="0">
              <a:lnSpc>
                <a:spcPts val="1600"/>
              </a:lnSpc>
              <a:buNone/>
            </a:pPr>
            <a:r>
              <a:rPr lang="en-US" sz="1300" b="1" dirty="0">
                <a:solidFill>
                  <a:srgbClr val="26221C"/>
                </a:solidFill>
                <a:latin typeface="Calibri" pitchFamily="34" charset="0"/>
                <a:ea typeface="Calibri" pitchFamily="34" charset="-122"/>
                <a:cs typeface="Calibri" pitchFamily="34" charset="-120"/>
              </a:rPr>
              <a:t>The large importers</a:t>
            </a:r>
          </a:p>
        </p:txBody>
      </p:sp>
      <p:sp>
        <p:nvSpPr>
          <p:cNvPr id="15" name="Text 15"/>
          <p:cNvSpPr/>
          <p:nvPr/>
        </p:nvSpPr>
        <p:spPr>
          <a:xfrm>
            <a:off x="3063240" y="3511296"/>
            <a:ext cx="2532888" cy="1115568"/>
          </a:xfrm>
          <a:prstGeom prst="rect">
            <a:avLst/>
          </a:prstGeom>
          <a:noFill/>
          <a:ln/>
        </p:spPr>
        <p:txBody>
          <a:bodyPr wrap="square" lIns="0" tIns="0" rIns="0" bIns="0" rtlCol="0" anchor="t"/>
          <a:lstStyle/>
          <a:p>
            <a:pPr indent="0" marL="0">
              <a:lnSpc>
                <a:spcPts val="1500"/>
              </a:lnSpc>
              <a:buNone/>
            </a:pPr>
            <a:r>
              <a:rPr lang="en-US" sz="1150" dirty="0">
                <a:solidFill>
                  <a:srgbClr val="26221C"/>
                </a:solidFill>
                <a:latin typeface="Calibri" pitchFamily="34" charset="0"/>
                <a:ea typeface="Calibri" pitchFamily="34" charset="-122"/>
                <a:cs typeface="Calibri" pitchFamily="34" charset="-120"/>
              </a:rPr>
              <a:t>Monika Alcobev, Aspri Spirits, VBev, Sonarys, Brindco</a:t>
            </a:r>
          </a:p>
        </p:txBody>
      </p:sp>
      <p:sp>
        <p:nvSpPr>
          <p:cNvPr id="16" name="Text 16"/>
          <p:cNvSpPr/>
          <p:nvPr/>
        </p:nvSpPr>
        <p:spPr>
          <a:xfrm>
            <a:off x="5760720" y="3511296"/>
            <a:ext cx="3081528" cy="1115568"/>
          </a:xfrm>
          <a:prstGeom prst="rect">
            <a:avLst/>
          </a:prstGeom>
          <a:noFill/>
          <a:ln/>
        </p:spPr>
        <p:txBody>
          <a:bodyPr wrap="square" lIns="0" tIns="0" rIns="0" bIns="0" rtlCol="0" anchor="t"/>
          <a:lstStyle/>
          <a:p>
            <a:pPr indent="0" marL="0">
              <a:lnSpc>
                <a:spcPts val="1450"/>
              </a:lnSpc>
              <a:buNone/>
            </a:pPr>
            <a:r>
              <a:rPr lang="en-US" sz="1100" dirty="0">
                <a:solidFill>
                  <a:srgbClr val="4A4338"/>
                </a:solidFill>
                <a:latin typeface="Calibri" pitchFamily="34" charset="0"/>
                <a:ea typeface="Calibri" pitchFamily="34" charset="-122"/>
                <a:cs typeface="Calibri" pitchFamily="34" charset="-120"/>
              </a:rPr>
              <a:t>Monika built India's biggest agave book: Cuervo, 1800, Dobel and two mezcals. Aspri carries Dos Flamos. The rest are open doors.</a:t>
            </a:r>
          </a:p>
        </p:txBody>
      </p:sp>
      <p:sp>
        <p:nvSpPr>
          <p:cNvPr id="17" name="Text 17"/>
          <p:cNvSpPr/>
          <p:nvPr/>
        </p:nvSpPr>
        <p:spPr>
          <a:xfrm>
            <a:off x="9006840" y="3511296"/>
            <a:ext cx="2240280" cy="1115568"/>
          </a:xfrm>
          <a:prstGeom prst="rect">
            <a:avLst/>
          </a:prstGeom>
          <a:noFill/>
          <a:ln/>
        </p:spPr>
        <p:txBody>
          <a:bodyPr wrap="square" lIns="0" tIns="0" rIns="0" bIns="0" rtlCol="0" anchor="t"/>
          <a:lstStyle/>
          <a:p>
            <a:pPr indent="0" marL="0">
              <a:lnSpc>
                <a:spcPts val="1450"/>
              </a:lnSpc>
              <a:buNone/>
            </a:pPr>
            <a:r>
              <a:rPr lang="en-US" sz="1100" b="1" dirty="0">
                <a:solidFill>
                  <a:srgbClr val="6E5630"/>
                </a:solidFill>
                <a:latin typeface="Calibri" pitchFamily="34" charset="0"/>
                <a:ea typeface="Calibri" pitchFamily="34" charset="-122"/>
                <a:cs typeface="Calibri" pitchFamily="34" charset="-120"/>
              </a:rPr>
              <a:t>National reach, few signings, taken on numbers. Lead with your sheet.</a:t>
            </a:r>
          </a:p>
        </p:txBody>
      </p:sp>
      <p:sp>
        <p:nvSpPr>
          <p:cNvPr id="18" name="Shape 18"/>
          <p:cNvSpPr/>
          <p:nvPr/>
        </p:nvSpPr>
        <p:spPr>
          <a:xfrm>
            <a:off x="822960" y="4608576"/>
            <a:ext cx="10515600" cy="0"/>
          </a:xfrm>
          <a:prstGeom prst="line">
            <a:avLst/>
          </a:prstGeom>
          <a:noFill/>
          <a:ln w="6350">
            <a:solidFill>
              <a:srgbClr val="D8CDB6"/>
            </a:solidFill>
            <a:prstDash val="solid"/>
          </a:ln>
        </p:spPr>
      </p:sp>
      <p:sp>
        <p:nvSpPr>
          <p:cNvPr id="19" name="Text 19"/>
          <p:cNvSpPr/>
          <p:nvPr/>
        </p:nvSpPr>
        <p:spPr>
          <a:xfrm>
            <a:off x="822960" y="4718304"/>
            <a:ext cx="2075688" cy="1115568"/>
          </a:xfrm>
          <a:prstGeom prst="rect">
            <a:avLst/>
          </a:prstGeom>
          <a:noFill/>
          <a:ln/>
        </p:spPr>
        <p:txBody>
          <a:bodyPr wrap="square" lIns="0" tIns="0" rIns="0" bIns="0" rtlCol="0" anchor="t"/>
          <a:lstStyle/>
          <a:p>
            <a:pPr indent="0" marL="0">
              <a:lnSpc>
                <a:spcPts val="1600"/>
              </a:lnSpc>
              <a:buNone/>
            </a:pPr>
            <a:r>
              <a:rPr lang="en-US" sz="1300" b="1" dirty="0">
                <a:solidFill>
                  <a:srgbClr val="26221C"/>
                </a:solidFill>
                <a:latin typeface="Calibri" pitchFamily="34" charset="0"/>
                <a:ea typeface="Calibri" pitchFamily="34" charset="-122"/>
                <a:cs typeface="Calibri" pitchFamily="34" charset="-120"/>
              </a:rPr>
              <a:t>The curated houses</a:t>
            </a:r>
          </a:p>
        </p:txBody>
      </p:sp>
      <p:sp>
        <p:nvSpPr>
          <p:cNvPr id="20" name="Text 20"/>
          <p:cNvSpPr/>
          <p:nvPr/>
        </p:nvSpPr>
        <p:spPr>
          <a:xfrm>
            <a:off x="3063240" y="4718304"/>
            <a:ext cx="2532888" cy="1115568"/>
          </a:xfrm>
          <a:prstGeom prst="rect">
            <a:avLst/>
          </a:prstGeom>
          <a:noFill/>
          <a:ln/>
        </p:spPr>
        <p:txBody>
          <a:bodyPr wrap="square" lIns="0" tIns="0" rIns="0" bIns="0" rtlCol="0" anchor="t"/>
          <a:lstStyle/>
          <a:p>
            <a:pPr indent="0" marL="0">
              <a:lnSpc>
                <a:spcPts val="1500"/>
              </a:lnSpc>
              <a:buNone/>
            </a:pPr>
            <a:r>
              <a:rPr lang="en-US" sz="1150" dirty="0">
                <a:solidFill>
                  <a:srgbClr val="26221C"/>
                </a:solidFill>
                <a:latin typeface="Calibri" pitchFamily="34" charset="0"/>
                <a:ea typeface="Calibri" pitchFamily="34" charset="-122"/>
                <a:cs typeface="Calibri" pitchFamily="34" charset="-120"/>
              </a:rPr>
              <a:t>Chason Beverages, Anggel's Share, Vault Fine Spirits, Hema Connoisseur</a:t>
            </a:r>
          </a:p>
        </p:txBody>
      </p:sp>
      <p:sp>
        <p:nvSpPr>
          <p:cNvPr id="21" name="Text 21"/>
          <p:cNvSpPr/>
          <p:nvPr/>
        </p:nvSpPr>
        <p:spPr>
          <a:xfrm>
            <a:off x="5760720" y="4718304"/>
            <a:ext cx="3081528" cy="1115568"/>
          </a:xfrm>
          <a:prstGeom prst="rect">
            <a:avLst/>
          </a:prstGeom>
          <a:noFill/>
          <a:ln/>
        </p:spPr>
        <p:txBody>
          <a:bodyPr wrap="square" lIns="0" tIns="0" rIns="0" bIns="0" rtlCol="0" anchor="t"/>
          <a:lstStyle/>
          <a:p>
            <a:pPr indent="0" marL="0">
              <a:lnSpc>
                <a:spcPts val="1450"/>
              </a:lnSpc>
              <a:buNone/>
            </a:pPr>
            <a:r>
              <a:rPr lang="en-US" sz="1100" dirty="0">
                <a:solidFill>
                  <a:srgbClr val="4A4338"/>
                </a:solidFill>
                <a:latin typeface="Calibri" pitchFamily="34" charset="0"/>
                <a:ea typeface="Calibri" pitchFamily="34" charset="-122"/>
                <a:cs typeface="Calibri" pitchFamily="34" charset="-120"/>
              </a:rPr>
              <a:t>Chason signed Komos in its first year. Anggel's Share carries Clase Azul. Small books, founder attention.</a:t>
            </a:r>
          </a:p>
        </p:txBody>
      </p:sp>
      <p:sp>
        <p:nvSpPr>
          <p:cNvPr id="22" name="Text 22"/>
          <p:cNvSpPr/>
          <p:nvPr/>
        </p:nvSpPr>
        <p:spPr>
          <a:xfrm>
            <a:off x="9006840" y="4718304"/>
            <a:ext cx="2240280" cy="1115568"/>
          </a:xfrm>
          <a:prstGeom prst="rect">
            <a:avLst/>
          </a:prstGeom>
          <a:noFill/>
          <a:ln/>
        </p:spPr>
        <p:txBody>
          <a:bodyPr wrap="square" lIns="0" tIns="0" rIns="0" bIns="0" rtlCol="0" anchor="t"/>
          <a:lstStyle/>
          <a:p>
            <a:pPr indent="0" marL="0">
              <a:lnSpc>
                <a:spcPts val="1450"/>
              </a:lnSpc>
              <a:buNone/>
            </a:pPr>
            <a:r>
              <a:rPr lang="en-US" sz="1100" b="1" dirty="0">
                <a:solidFill>
                  <a:srgbClr val="6E5630"/>
                </a:solidFill>
                <a:latin typeface="Calibri" pitchFamily="34" charset="0"/>
                <a:ea typeface="Calibri" pitchFamily="34" charset="-122"/>
                <a:cs typeface="Calibri" pitchFamily="34" charset="-120"/>
              </a:rPr>
              <a:t>This is where craft closes. Start here.</a:t>
            </a:r>
          </a:p>
        </p:txBody>
      </p:sp>
      <p:sp>
        <p:nvSpPr>
          <p:cNvPr id="23" name="Shape 23"/>
          <p:cNvSpPr/>
          <p:nvPr/>
        </p:nvSpPr>
        <p:spPr>
          <a:xfrm>
            <a:off x="850392" y="5943600"/>
            <a:ext cx="2011680" cy="0"/>
          </a:xfrm>
          <a:prstGeom prst="line">
            <a:avLst/>
          </a:prstGeom>
          <a:noFill/>
          <a:ln w="12700">
            <a:solidFill>
              <a:srgbClr val="6E5630"/>
            </a:solidFill>
            <a:prstDash val="solid"/>
          </a:ln>
        </p:spPr>
      </p:sp>
      <p:sp>
        <p:nvSpPr>
          <p:cNvPr id="24" name="Text 24"/>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The majors anchor the shelf. The curated houses sign the craft.</a:t>
            </a:r>
          </a:p>
        </p:txBody>
      </p:sp>
      <p:sp>
        <p:nvSpPr>
          <p:cNvPr id="25" name="Text 25"/>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1"/>
        </a:solidFill>
      </p:bgPr>
    </p:bg>
    <p:spTree>
      <p:nvGrpSpPr>
        <p:cNvPr id="1" name=""/>
        <p:cNvGrpSpPr/>
        <p:nvPr/>
      </p:nvGrpSpPr>
      <p:grpSpPr>
        <a:xfrm>
          <a:off x="0" y="0"/>
          <a:ext cx="0" cy="0"/>
          <a:chOff x="0" y="0"/>
          <a:chExt cx="0" cy="0"/>
        </a:xfrm>
      </p:grpSpPr>
      <p:sp>
        <p:nvSpPr>
          <p:cNvPr id="2" name="Text 2"/>
          <p:cNvSpPr/>
          <p:nvPr/>
        </p:nvSpPr>
        <p:spPr>
          <a:xfrm>
            <a:off x="822960" y="502920"/>
            <a:ext cx="10515600" cy="310896"/>
          </a:xfrm>
          <a:prstGeom prst="rect">
            <a:avLst/>
          </a:prstGeom>
          <a:noFill/>
          <a:ln/>
        </p:spPr>
        <p:txBody>
          <a:bodyPr wrap="square" lIns="0" tIns="0" rIns="0" bIns="0" rtlCol="0" anchor="ctr"/>
          <a:lstStyle/>
          <a:p>
            <a:pPr indent="0" marL="0">
              <a:buNone/>
            </a:pPr>
            <a:r>
              <a:rPr lang="en-US" sz="1100" b="1" dirty="0">
                <a:solidFill>
                  <a:srgbClr val="8B6E3D"/>
                </a:solidFill>
                <a:latin typeface="Calibri" pitchFamily="34" charset="0"/>
                <a:ea typeface="Calibri" pitchFamily="34" charset="-122"/>
                <a:cs typeface="Calibri" pitchFamily="34" charset="-120"/>
              </a:rPr>
              <a:t>S T E P   1 0      ·      W H A T   Y O U   A S K   T H E M</a:t>
            </a:r>
          </a:p>
        </p:txBody>
      </p:sp>
      <p:sp>
        <p:nvSpPr>
          <p:cNvPr id="3" name="Text 3"/>
          <p:cNvSpPr/>
          <p:nvPr/>
        </p:nvSpPr>
        <p:spPr>
          <a:xfrm>
            <a:off x="822960" y="877824"/>
            <a:ext cx="10607040" cy="603504"/>
          </a:xfrm>
          <a:prstGeom prst="rect">
            <a:avLst/>
          </a:prstGeom>
          <a:noFill/>
          <a:ln/>
        </p:spPr>
        <p:txBody>
          <a:bodyPr wrap="square" lIns="0" tIns="0" rIns="0" bIns="0" rtlCol="0" anchor="ctr"/>
          <a:lstStyle/>
          <a:p>
            <a:pPr indent="0" marL="0">
              <a:buNone/>
            </a:pPr>
            <a:r>
              <a:rPr lang="en-US" sz="2600" dirty="0">
                <a:solidFill>
                  <a:srgbClr val="26221C"/>
                </a:solidFill>
                <a:latin typeface="Bookman Old Style" pitchFamily="34" charset="0"/>
                <a:ea typeface="Bookman Old Style" pitchFamily="34" charset="-122"/>
                <a:cs typeface="Bookman Old Style" pitchFamily="34" charset="-120"/>
              </a:rPr>
              <a:t>Ten questions of your own. The meeting runs both ways.</a:t>
            </a:r>
          </a:p>
        </p:txBody>
      </p:sp>
      <p:sp>
        <p:nvSpPr>
          <p:cNvPr id="4" name="Text 4"/>
          <p:cNvSpPr/>
          <p:nvPr/>
        </p:nvSpPr>
        <p:spPr>
          <a:xfrm>
            <a:off x="822960" y="1828800"/>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1</a:t>
            </a:r>
          </a:p>
        </p:txBody>
      </p:sp>
      <p:sp>
        <p:nvSpPr>
          <p:cNvPr id="5" name="Text 5"/>
          <p:cNvSpPr/>
          <p:nvPr/>
        </p:nvSpPr>
        <p:spPr>
          <a:xfrm>
            <a:off x="1371600" y="1847088"/>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Which states is your licence live in today?</a:t>
            </a:r>
          </a:p>
        </p:txBody>
      </p:sp>
      <p:sp>
        <p:nvSpPr>
          <p:cNvPr id="6" name="Text 6"/>
          <p:cNvSpPr/>
          <p:nvPr/>
        </p:nvSpPr>
        <p:spPr>
          <a:xfrm>
            <a:off x="822960" y="2615184"/>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2</a:t>
            </a:r>
          </a:p>
        </p:txBody>
      </p:sp>
      <p:sp>
        <p:nvSpPr>
          <p:cNvPr id="7" name="Text 7"/>
          <p:cNvSpPr/>
          <p:nvPr/>
        </p:nvSpPr>
        <p:spPr>
          <a:xfrm>
            <a:off x="1371600" y="2633472"/>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How many brands do you carry, and how many people sell them?</a:t>
            </a:r>
          </a:p>
        </p:txBody>
      </p:sp>
      <p:sp>
        <p:nvSpPr>
          <p:cNvPr id="8" name="Text 8"/>
          <p:cNvSpPr/>
          <p:nvPr/>
        </p:nvSpPr>
        <p:spPr>
          <a:xfrm>
            <a:off x="822960" y="3401568"/>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3</a:t>
            </a:r>
          </a:p>
        </p:txBody>
      </p:sp>
      <p:sp>
        <p:nvSpPr>
          <p:cNvPr id="9" name="Text 9"/>
          <p:cNvSpPr/>
          <p:nvPr/>
        </p:nvSpPr>
        <p:spPr>
          <a:xfrm>
            <a:off x="1371600" y="3419856"/>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Which agave brands have you handled, and what happened to them?</a:t>
            </a:r>
          </a:p>
        </p:txBody>
      </p:sp>
      <p:sp>
        <p:nvSpPr>
          <p:cNvPr id="10" name="Text 10"/>
          <p:cNvSpPr/>
          <p:nvPr/>
        </p:nvSpPr>
        <p:spPr>
          <a:xfrm>
            <a:off x="822960" y="4187952"/>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4</a:t>
            </a:r>
          </a:p>
        </p:txBody>
      </p:sp>
      <p:sp>
        <p:nvSpPr>
          <p:cNvPr id="11" name="Text 11"/>
          <p:cNvSpPr/>
          <p:nvPr/>
        </p:nvSpPr>
        <p:spPr>
          <a:xfrm>
            <a:off x="1371600" y="4206240"/>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What did your last new international brand sell in year one?</a:t>
            </a:r>
          </a:p>
        </p:txBody>
      </p:sp>
      <p:sp>
        <p:nvSpPr>
          <p:cNvPr id="12" name="Text 12"/>
          <p:cNvSpPr/>
          <p:nvPr/>
        </p:nvSpPr>
        <p:spPr>
          <a:xfrm>
            <a:off x="822960" y="4974336"/>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5</a:t>
            </a:r>
          </a:p>
        </p:txBody>
      </p:sp>
      <p:sp>
        <p:nvSpPr>
          <p:cNvPr id="13" name="Text 13"/>
          <p:cNvSpPr/>
          <p:nvPr/>
        </p:nvSpPr>
        <p:spPr>
          <a:xfrm>
            <a:off x="1371600" y="4992624"/>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Who pays state registration, and how do you recover it?</a:t>
            </a:r>
          </a:p>
        </p:txBody>
      </p:sp>
      <p:sp>
        <p:nvSpPr>
          <p:cNvPr id="14" name="Text 14"/>
          <p:cNvSpPr/>
          <p:nvPr/>
        </p:nvSpPr>
        <p:spPr>
          <a:xfrm>
            <a:off x="6263640" y="1828800"/>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6</a:t>
            </a:r>
          </a:p>
        </p:txBody>
      </p:sp>
      <p:sp>
        <p:nvSpPr>
          <p:cNvPr id="15" name="Text 15"/>
          <p:cNvSpPr/>
          <p:nvPr/>
        </p:nvSpPr>
        <p:spPr>
          <a:xfrm>
            <a:off x="6812280" y="1847088"/>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What payment terms do you expect after the pilot order?</a:t>
            </a:r>
          </a:p>
        </p:txBody>
      </p:sp>
      <p:sp>
        <p:nvSpPr>
          <p:cNvPr id="16" name="Text 16"/>
          <p:cNvSpPr/>
          <p:nvPr/>
        </p:nvSpPr>
        <p:spPr>
          <a:xfrm>
            <a:off x="6263640" y="2615184"/>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7</a:t>
            </a:r>
          </a:p>
        </p:txBody>
      </p:sp>
      <p:sp>
        <p:nvSpPr>
          <p:cNvPr id="17" name="Text 17"/>
          <p:cNvSpPr/>
          <p:nvPr/>
        </p:nvSpPr>
        <p:spPr>
          <a:xfrm>
            <a:off x="6812280" y="2633472"/>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Which channel moves my price band first: on-trade or retail?</a:t>
            </a:r>
          </a:p>
        </p:txBody>
      </p:sp>
      <p:sp>
        <p:nvSpPr>
          <p:cNvPr id="18" name="Text 18"/>
          <p:cNvSpPr/>
          <p:nvPr/>
        </p:nvSpPr>
        <p:spPr>
          <a:xfrm>
            <a:off x="6263640" y="3401568"/>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8</a:t>
            </a:r>
          </a:p>
        </p:txBody>
      </p:sp>
      <p:sp>
        <p:nvSpPr>
          <p:cNvPr id="19" name="Text 19"/>
          <p:cNvSpPr/>
          <p:nvPr/>
        </p:nvSpPr>
        <p:spPr>
          <a:xfrm>
            <a:off x="6812280" y="3419856"/>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What marketing support do you expect from my house in year one?</a:t>
            </a:r>
          </a:p>
        </p:txBody>
      </p:sp>
      <p:sp>
        <p:nvSpPr>
          <p:cNvPr id="20" name="Text 20"/>
          <p:cNvSpPr/>
          <p:nvPr/>
        </p:nvSpPr>
        <p:spPr>
          <a:xfrm>
            <a:off x="6263640" y="4187952"/>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9</a:t>
            </a:r>
          </a:p>
        </p:txBody>
      </p:sp>
      <p:sp>
        <p:nvSpPr>
          <p:cNvPr id="21" name="Text 21"/>
          <p:cNvSpPr/>
          <p:nvPr/>
        </p:nvSpPr>
        <p:spPr>
          <a:xfrm>
            <a:off x="6812280" y="4206240"/>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How long from purchase order to shelf in your states?</a:t>
            </a:r>
          </a:p>
        </p:txBody>
      </p:sp>
      <p:sp>
        <p:nvSpPr>
          <p:cNvPr id="22" name="Text 22"/>
          <p:cNvSpPr/>
          <p:nvPr/>
        </p:nvSpPr>
        <p:spPr>
          <a:xfrm>
            <a:off x="6263640" y="4974336"/>
            <a:ext cx="457200" cy="457200"/>
          </a:xfrm>
          <a:prstGeom prst="rect">
            <a:avLst/>
          </a:prstGeom>
          <a:noFill/>
          <a:ln/>
        </p:spPr>
        <p:txBody>
          <a:bodyPr wrap="square" lIns="0" tIns="0" rIns="0" bIns="0" rtlCol="0" anchor="t"/>
          <a:lstStyle/>
          <a:p>
            <a:pPr indent="0" marL="0">
              <a:buNone/>
            </a:pPr>
            <a:r>
              <a:rPr lang="en-US" sz="1400" b="1" dirty="0">
                <a:solidFill>
                  <a:srgbClr val="8B6E3D"/>
                </a:solidFill>
                <a:latin typeface="Bookman Old Style" pitchFamily="34" charset="0"/>
                <a:ea typeface="Bookman Old Style" pitchFamily="34" charset="-122"/>
                <a:cs typeface="Bookman Old Style" pitchFamily="34" charset="-120"/>
              </a:rPr>
              <a:t>10</a:t>
            </a:r>
          </a:p>
        </p:txBody>
      </p:sp>
      <p:sp>
        <p:nvSpPr>
          <p:cNvPr id="23" name="Text 23"/>
          <p:cNvSpPr/>
          <p:nvPr/>
        </p:nvSpPr>
        <p:spPr>
          <a:xfrm>
            <a:off x="6812280" y="4992624"/>
            <a:ext cx="4617720" cy="685800"/>
          </a:xfrm>
          <a:prstGeom prst="rect">
            <a:avLst/>
          </a:prstGeom>
          <a:noFill/>
          <a:ln/>
        </p:spPr>
        <p:txBody>
          <a:bodyPr wrap="square" lIns="0" tIns="0" rIns="0" bIns="0" rtlCol="0" anchor="t"/>
          <a:lstStyle/>
          <a:p>
            <a:pPr indent="0" marL="0">
              <a:lnSpc>
                <a:spcPts val="1500"/>
              </a:lnSpc>
              <a:buNone/>
            </a:pPr>
            <a:r>
              <a:rPr lang="en-US" sz="1200" b="1" dirty="0">
                <a:solidFill>
                  <a:srgbClr val="26221C"/>
                </a:solidFill>
                <a:latin typeface="Calibri" pitchFamily="34" charset="0"/>
                <a:ea typeface="Calibri" pitchFamily="34" charset="-122"/>
                <a:cs typeface="Calibri" pitchFamily="34" charset="-120"/>
              </a:rPr>
              <a:t>Who in your team will own my brand, by name?</a:t>
            </a:r>
          </a:p>
        </p:txBody>
      </p:sp>
      <p:sp>
        <p:nvSpPr>
          <p:cNvPr id="24" name="Shape 24"/>
          <p:cNvSpPr/>
          <p:nvPr/>
        </p:nvSpPr>
        <p:spPr>
          <a:xfrm>
            <a:off x="850392" y="5943600"/>
            <a:ext cx="2011680" cy="0"/>
          </a:xfrm>
          <a:prstGeom prst="line">
            <a:avLst/>
          </a:prstGeom>
          <a:noFill/>
          <a:ln w="12700">
            <a:solidFill>
              <a:srgbClr val="6E5630"/>
            </a:solidFill>
            <a:prstDash val="solid"/>
          </a:ln>
        </p:spPr>
      </p:sp>
      <p:sp>
        <p:nvSpPr>
          <p:cNvPr id="25" name="Text 25"/>
          <p:cNvSpPr/>
          <p:nvPr/>
        </p:nvSpPr>
        <p:spPr>
          <a:xfrm>
            <a:off x="822960" y="6035040"/>
            <a:ext cx="10515600" cy="365760"/>
          </a:xfrm>
          <a:prstGeom prst="rect">
            <a:avLst/>
          </a:prstGeom>
          <a:noFill/>
          <a:ln/>
        </p:spPr>
        <p:txBody>
          <a:bodyPr wrap="square" lIns="0" tIns="0" rIns="0" bIns="0" rtlCol="0" anchor="ctr"/>
          <a:lstStyle/>
          <a:p>
            <a:pPr indent="0" marL="0">
              <a:buNone/>
            </a:pPr>
            <a:r>
              <a:rPr lang="en-US" sz="1350" b="1" i="1" dirty="0">
                <a:solidFill>
                  <a:srgbClr val="6E5630"/>
                </a:solidFill>
                <a:latin typeface="Calibri" pitchFamily="34" charset="0"/>
                <a:ea typeface="Calibri" pitchFamily="34" charset="-122"/>
                <a:cs typeface="Calibri" pitchFamily="34" charset="-120"/>
              </a:rPr>
              <a:t>An importer who answers all ten is worth your samples. One who will not has answered anyway.</a:t>
            </a:r>
          </a:p>
        </p:txBody>
      </p:sp>
      <p:sp>
        <p:nvSpPr>
          <p:cNvPr id="26" name="Text 26"/>
          <p:cNvSpPr/>
          <p:nvPr/>
        </p:nvSpPr>
        <p:spPr>
          <a:xfrm>
            <a:off x="822960" y="6455664"/>
            <a:ext cx="10515600" cy="274320"/>
          </a:xfrm>
          <a:prstGeom prst="rect">
            <a:avLst/>
          </a:prstGeom>
          <a:noFill/>
          <a:ln/>
        </p:spPr>
        <p:txBody>
          <a:bodyPr wrap="square" lIns="0" tIns="0" rIns="0" bIns="0" rtlCol="0" anchor="ctr"/>
          <a:lstStyle/>
          <a:p>
            <a:pPr indent="0" marL="0">
              <a:buNone/>
            </a:pPr>
            <a:r>
              <a:rPr lang="en-US" sz="900" b="1" dirty="0">
                <a:solidFill>
                  <a:srgbClr val="8B6E3D"/>
                </a:solidFill>
                <a:latin typeface="Calibri" pitchFamily="34" charset="0"/>
                <a:ea typeface="Calibri" pitchFamily="34" charset="-122"/>
                <a:cs typeface="Calibri" pitchFamily="34" charset="-120"/>
              </a:rPr>
              <a:t>T H I S   W E E K ' S   F I L E</a:t>
            </a:r>
            <a:r>
              <a:rPr lang="en-US" sz="1050" i="1" dirty="0">
                <a:solidFill>
                  <a:srgbClr val="6E5630"/>
                </a:solidFill>
                <a:latin typeface="Calibri" pitchFamily="34" charset="0"/>
                <a:ea typeface="Calibri" pitchFamily="34" charset="-122"/>
                <a:cs typeface="Calibri" pitchFamily="34" charset="-120"/>
              </a:rPr>
              <a:t>      No. 18 · The Importer Meeting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2026-08-08T09:36:26Z</dcterms:created>
  <dcterms:modified xsi:type="dcterms:W3CDTF">2026-08-08T09:36:27Z</dcterms:modified>
</cp:coreProperties>
</file>