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1" d="100"/>
          <a:sy n="81" d="100"/>
        </p:scale>
        <p:origin x="6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1072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fact: while you built folders and prices, we built the room. Today: the names we recruited, the proof this category already pays these desks, and Thursday the 20th, when we sit with them.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facts, no framework. Eleven confirmed and growing toward twenty-plus; the invitation went out this morning under two flags; Thursday 3 p.m. we sit with them; the week after, you do.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names slowly; this slide is the session. Two groups in the room: the importers who sign brands, and the strategics whose distribution reaches everywhere. Then the discipline, said once: all contact runs through the Council until your meeting is set; a house that reaches out cold undercuts its own matching.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these desks matter: tequila already pays Indian importers, at scale. Cuervo and 1800 run through one Indian importer's desk, about a fifth of the category; Don Julio through Diageo; Patrón through Bacardi; and the category nearly doubled in 2024. The second wave of our outreach is sitting on exactly those desks now: the largest independents in the country. Do not name pending targets beyond the tier; confirmations land next week.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date, plainly: Thursday the 20th, 3 p.m. IST, we and the Consulate sit with these importers, virtually, and they tell us their sourcing needs, price segments, volumes, and whether they want brands, private label or bulk. Their answers become your meeting briefs. The week after: your thirty minutes.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image: ten names on the wall, a consulate beside us, and a date. Send the three by Wednesday. Questions on the group and at ceo@.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8F1"/>
        </a:solidFill>
        <a:effectLst/>
      </p:bgPr>
    </p:bg>
    <p:spTree>
      <p:nvGrpSpPr>
        <p:cNvPr id="1" name=""/>
        <p:cNvGrpSpPr/>
        <p:nvPr/>
      </p:nvGrpSpPr>
      <p:grpSpPr>
        <a:xfrm>
          <a:off x="0" y="0"/>
          <a:ext cx="0" cy="0"/>
          <a:chOff x="0" y="0"/>
          <a:chExt cx="0" cy="0"/>
        </a:xfrm>
      </p:grpSpPr>
      <p:sp>
        <p:nvSpPr>
          <p:cNvPr id="3" name="Shape 0"/>
          <p:cNvSpPr/>
          <p:nvPr/>
        </p:nvSpPr>
        <p:spPr>
          <a:xfrm>
            <a:off x="5001768" y="566928"/>
            <a:ext cx="2194560" cy="0"/>
          </a:xfrm>
          <a:prstGeom prst="line">
            <a:avLst/>
          </a:prstGeom>
          <a:noFill/>
          <a:ln w="12700">
            <a:solidFill>
              <a:srgbClr val="8B6E3D"/>
            </a:solidFill>
            <a:prstDash val="solid"/>
          </a:ln>
        </p:spPr>
      </p:sp>
      <p:sp>
        <p:nvSpPr>
          <p:cNvPr id="4" name="Text 1"/>
          <p:cNvSpPr/>
          <p:nvPr/>
        </p:nvSpPr>
        <p:spPr>
          <a:xfrm>
            <a:off x="3813048" y="640080"/>
            <a:ext cx="4572000" cy="329184"/>
          </a:xfrm>
          <a:prstGeom prst="rect">
            <a:avLst/>
          </a:prstGeom>
          <a:noFill/>
          <a:ln/>
        </p:spPr>
        <p:txBody>
          <a:bodyPr wrap="square" lIns="0" tIns="0" rIns="0" bIns="0" rtlCol="0" anchor="ctr"/>
          <a:lstStyle/>
          <a:p>
            <a:pPr marL="0" indent="0" algn="ctr">
              <a:buNone/>
            </a:pPr>
            <a:r>
              <a:rPr lang="en-US" sz="1700" b="1" kern="0" spc="400" dirty="0">
                <a:solidFill>
                  <a:srgbClr val="26221C"/>
                </a:solidFill>
                <a:latin typeface="Bookman Old Style" pitchFamily="34" charset="0"/>
                <a:ea typeface="Bookman Old Style" pitchFamily="34" charset="-122"/>
                <a:cs typeface="Bookman Old Style" pitchFamily="34" charset="-120"/>
              </a:rPr>
              <a:t>MÉXICO–INDIA</a:t>
            </a:r>
            <a:endParaRPr lang="en-US" sz="1700" dirty="0"/>
          </a:p>
        </p:txBody>
      </p:sp>
      <p:sp>
        <p:nvSpPr>
          <p:cNvPr id="5" name="Text 2"/>
          <p:cNvSpPr/>
          <p:nvPr/>
        </p:nvSpPr>
        <p:spPr>
          <a:xfrm>
            <a:off x="3813048" y="969264"/>
            <a:ext cx="4572000" cy="219456"/>
          </a:xfrm>
          <a:prstGeom prst="rect">
            <a:avLst/>
          </a:prstGeom>
          <a:noFill/>
          <a:ln/>
        </p:spPr>
        <p:txBody>
          <a:bodyPr wrap="square" lIns="0" tIns="0" rIns="0" bIns="0" rtlCol="0" anchor="ctr"/>
          <a:lstStyle/>
          <a:p>
            <a:pPr marL="0" indent="0" algn="ctr">
              <a:buNone/>
            </a:pPr>
            <a:r>
              <a:rPr lang="en-US" sz="850" kern="0" spc="200" dirty="0">
                <a:solidFill>
                  <a:srgbClr val="4A4338"/>
                </a:solidFill>
                <a:latin typeface="Calibri" pitchFamily="34" charset="0"/>
                <a:ea typeface="Calibri" pitchFamily="34" charset="-122"/>
                <a:cs typeface="Calibri" pitchFamily="34" charset="-120"/>
              </a:rPr>
              <a:t>B U S I N E S S   C O U N C I L</a:t>
            </a:r>
            <a:endParaRPr lang="en-US" sz="850" dirty="0"/>
          </a:p>
        </p:txBody>
      </p:sp>
      <p:sp>
        <p:nvSpPr>
          <p:cNvPr id="6" name="Shape 3"/>
          <p:cNvSpPr/>
          <p:nvPr/>
        </p:nvSpPr>
        <p:spPr>
          <a:xfrm>
            <a:off x="5001768" y="1261872"/>
            <a:ext cx="2194560" cy="0"/>
          </a:xfrm>
          <a:prstGeom prst="line">
            <a:avLst/>
          </a:prstGeom>
          <a:noFill/>
          <a:ln w="12700">
            <a:solidFill>
              <a:srgbClr val="8B6E3D"/>
            </a:solidFill>
            <a:prstDash val="solid"/>
          </a:ln>
        </p:spPr>
      </p:sp>
      <p:pic>
        <p:nvPicPr>
          <p:cNvPr id="7" name="Image 0" descr="/home/claude/tequila/build/media/image-1-1.png"/>
          <p:cNvPicPr>
            <a:picLocks noChangeAspect="1"/>
          </p:cNvPicPr>
          <p:nvPr/>
        </p:nvPicPr>
        <p:blipFill>
          <a:blip r:embed="rId3"/>
          <a:stretch>
            <a:fillRect/>
          </a:stretch>
        </p:blipFill>
        <p:spPr>
          <a:xfrm>
            <a:off x="8366760" y="2103120"/>
            <a:ext cx="3383280" cy="3383280"/>
          </a:xfrm>
          <a:prstGeom prst="rect">
            <a:avLst/>
          </a:prstGeom>
        </p:spPr>
      </p:pic>
      <p:sp>
        <p:nvSpPr>
          <p:cNvPr id="8" name="Text 4"/>
          <p:cNvSpPr/>
          <p:nvPr/>
        </p:nvSpPr>
        <p:spPr>
          <a:xfrm>
            <a:off x="822960" y="2286000"/>
            <a:ext cx="10515600" cy="310896"/>
          </a:xfrm>
          <a:prstGeom prst="rect">
            <a:avLst/>
          </a:prstGeom>
          <a:noFill/>
          <a:ln/>
        </p:spPr>
        <p:txBody>
          <a:bodyPr wrap="square" lIns="0" tIns="0" rIns="0" bIns="0" rtlCol="0" anchor="ctr"/>
          <a:lstStyle/>
          <a:p>
            <a:pPr marL="0" indent="0">
              <a:buNone/>
            </a:pPr>
            <a:r>
              <a:rPr lang="en-US" sz="1100" b="1" dirty="0">
                <a:solidFill>
                  <a:srgbClr val="8B6E3D"/>
                </a:solidFill>
                <a:latin typeface="Calibri" pitchFamily="34" charset="0"/>
                <a:ea typeface="Calibri" pitchFamily="34" charset="-122"/>
                <a:cs typeface="Calibri" pitchFamily="34" charset="-120"/>
              </a:rPr>
              <a:t>C O H O R T   1      ·      S E S S I O N   </a:t>
            </a:r>
            <a:r>
              <a:rPr lang="en-US" sz="1100" b="1" dirty="0" smtClean="0">
                <a:solidFill>
                  <a:srgbClr val="8B6E3D"/>
                </a:solidFill>
                <a:latin typeface="Calibri" pitchFamily="34" charset="0"/>
                <a:ea typeface="Calibri" pitchFamily="34" charset="-122"/>
                <a:cs typeface="Calibri" pitchFamily="34" charset="-120"/>
              </a:rPr>
              <a:t>6   </a:t>
            </a:r>
            <a:r>
              <a:rPr lang="en-US" sz="1100" b="1" dirty="0">
                <a:solidFill>
                  <a:srgbClr val="8B6E3D"/>
                </a:solidFill>
                <a:latin typeface="Calibri" pitchFamily="34" charset="0"/>
                <a:ea typeface="Calibri" pitchFamily="34" charset="-122"/>
                <a:cs typeface="Calibri" pitchFamily="34" charset="-120"/>
              </a:rPr>
              <a:t>O F   8      ·      P H A S E   3   P R O G R E S S</a:t>
            </a:r>
            <a:endParaRPr lang="en-US" sz="1100" dirty="0"/>
          </a:p>
        </p:txBody>
      </p:sp>
      <p:sp>
        <p:nvSpPr>
          <p:cNvPr id="9" name="Text 5"/>
          <p:cNvSpPr/>
          <p:nvPr/>
        </p:nvSpPr>
        <p:spPr>
          <a:xfrm>
            <a:off x="822960" y="2651760"/>
            <a:ext cx="7406640" cy="1554480"/>
          </a:xfrm>
          <a:prstGeom prst="rect">
            <a:avLst/>
          </a:prstGeom>
          <a:noFill/>
          <a:ln/>
        </p:spPr>
        <p:txBody>
          <a:bodyPr wrap="square" lIns="0" tIns="0" rIns="0" bIns="0" rtlCol="0" anchor="ctr"/>
          <a:lstStyle/>
          <a:p>
            <a:pPr marL="0" indent="0">
              <a:lnSpc>
                <a:spcPts val="4600"/>
              </a:lnSpc>
              <a:buNone/>
            </a:pPr>
            <a:r>
              <a:rPr lang="en-US" sz="4000" dirty="0">
                <a:solidFill>
                  <a:srgbClr val="26221C"/>
                </a:solidFill>
                <a:latin typeface="Bookman Old Style" pitchFamily="34" charset="0"/>
                <a:ea typeface="Bookman Old Style" pitchFamily="34" charset="-122"/>
                <a:cs typeface="Bookman Old Style" pitchFamily="34" charset="-120"/>
              </a:rPr>
              <a:t>Who Is Coming</a:t>
            </a:r>
            <a:endParaRPr lang="en-US" sz="4000" dirty="0"/>
          </a:p>
          <a:p>
            <a:pPr marL="0" indent="0">
              <a:lnSpc>
                <a:spcPts val="4600"/>
              </a:lnSpc>
              <a:buNone/>
            </a:pPr>
            <a:r>
              <a:rPr lang="en-US" sz="4000" dirty="0">
                <a:solidFill>
                  <a:srgbClr val="26221C"/>
                </a:solidFill>
                <a:latin typeface="Bookman Old Style" pitchFamily="34" charset="0"/>
                <a:ea typeface="Bookman Old Style" pitchFamily="34" charset="-122"/>
                <a:cs typeface="Bookman Old Style" pitchFamily="34" charset="-120"/>
              </a:rPr>
              <a:t>to the Table</a:t>
            </a:r>
            <a:endParaRPr lang="en-US" sz="4000" dirty="0"/>
          </a:p>
        </p:txBody>
      </p:sp>
      <p:sp>
        <p:nvSpPr>
          <p:cNvPr id="10" name="Shape 6"/>
          <p:cNvSpPr/>
          <p:nvPr/>
        </p:nvSpPr>
        <p:spPr>
          <a:xfrm>
            <a:off x="850392" y="4434840"/>
            <a:ext cx="2926080" cy="0"/>
          </a:xfrm>
          <a:prstGeom prst="line">
            <a:avLst/>
          </a:prstGeom>
          <a:noFill/>
          <a:ln w="12700">
            <a:solidFill>
              <a:srgbClr val="6E5630"/>
            </a:solidFill>
            <a:prstDash val="solid"/>
          </a:ln>
        </p:spPr>
      </p:sp>
      <p:sp>
        <p:nvSpPr>
          <p:cNvPr id="11" name="Text 7"/>
          <p:cNvSpPr/>
          <p:nvPr/>
        </p:nvSpPr>
        <p:spPr>
          <a:xfrm>
            <a:off x="822960" y="4681728"/>
            <a:ext cx="7132320" cy="777240"/>
          </a:xfrm>
          <a:prstGeom prst="rect">
            <a:avLst/>
          </a:prstGeom>
          <a:noFill/>
          <a:ln/>
        </p:spPr>
        <p:txBody>
          <a:bodyPr wrap="square" lIns="0" tIns="0" rIns="0" bIns="0" rtlCol="0" anchor="ctr"/>
          <a:lstStyle/>
          <a:p>
            <a:pPr marL="0" indent="0">
              <a:lnSpc>
                <a:spcPts val="2000"/>
              </a:lnSpc>
              <a:buNone/>
            </a:pPr>
            <a:r>
              <a:rPr lang="en-US" sz="1450" dirty="0">
                <a:solidFill>
                  <a:srgbClr val="4A4338"/>
                </a:solidFill>
                <a:latin typeface="Calibri" pitchFamily="34" charset="0"/>
                <a:ea typeface="Calibri" pitchFamily="34" charset="-122"/>
                <a:cs typeface="Calibri" pitchFamily="34" charset="-120"/>
              </a:rPr>
              <a:t>While you built your folders and your prices, we built the room. Today: the importers we recruited, by name, and the date we sit with them.</a:t>
            </a:r>
            <a:endParaRPr lang="en-US" sz="1450" dirty="0"/>
          </a:p>
        </p:txBody>
      </p:sp>
      <p:sp>
        <p:nvSpPr>
          <p:cNvPr id="12" name="Text 8"/>
          <p:cNvSpPr/>
          <p:nvPr/>
        </p:nvSpPr>
        <p:spPr>
          <a:xfrm>
            <a:off x="822960" y="6172200"/>
            <a:ext cx="8229600" cy="274320"/>
          </a:xfrm>
          <a:prstGeom prst="rect">
            <a:avLst/>
          </a:prstGeom>
          <a:noFill/>
          <a:ln/>
        </p:spPr>
        <p:txBody>
          <a:bodyPr wrap="square" lIns="0" tIns="0" rIns="0" bIns="0" rtlCol="0" anchor="ctr"/>
          <a:lstStyle/>
          <a:p>
            <a:pPr marL="0" indent="0">
              <a:buNone/>
            </a:pPr>
            <a:r>
              <a:rPr lang="en-US" sz="1250" b="1" dirty="0">
                <a:solidFill>
                  <a:srgbClr val="26221C"/>
                </a:solidFill>
                <a:latin typeface="Calibri" pitchFamily="34" charset="0"/>
                <a:ea typeface="Calibri" pitchFamily="34" charset="-122"/>
                <a:cs typeface="Calibri" pitchFamily="34" charset="-120"/>
              </a:rPr>
              <a:t>Session </a:t>
            </a:r>
            <a:r>
              <a:rPr lang="en-US" sz="1250" b="1" dirty="0" smtClean="0">
                <a:solidFill>
                  <a:srgbClr val="26221C"/>
                </a:solidFill>
                <a:latin typeface="Calibri" pitchFamily="34" charset="0"/>
                <a:ea typeface="Calibri" pitchFamily="34" charset="-122"/>
                <a:cs typeface="Calibri" pitchFamily="34" charset="-120"/>
              </a:rPr>
              <a:t>6  </a:t>
            </a:r>
            <a:r>
              <a:rPr lang="en-US" sz="1250" b="1" dirty="0">
                <a:solidFill>
                  <a:srgbClr val="26221C"/>
                </a:solidFill>
                <a:latin typeface="Calibri" pitchFamily="34" charset="0"/>
                <a:ea typeface="Calibri" pitchFamily="34" charset="-122"/>
                <a:cs typeface="Calibri" pitchFamily="34" charset="-120"/>
              </a:rPr>
              <a:t>·  Phase 3: Pricing &amp; Route to Market  ·  Saturday 15 August 2026</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8F1"/>
        </a:solidFill>
        <a:effectLst/>
      </p:bgPr>
    </p:bg>
    <p:spTree>
      <p:nvGrpSpPr>
        <p:cNvPr id="1" name=""/>
        <p:cNvGrpSpPr/>
        <p:nvPr/>
      </p:nvGrpSpPr>
      <p:grpSpPr>
        <a:xfrm>
          <a:off x="0" y="0"/>
          <a:ext cx="0" cy="0"/>
          <a:chOff x="0" y="0"/>
          <a:chExt cx="0" cy="0"/>
        </a:xfrm>
      </p:grpSpPr>
      <p:sp>
        <p:nvSpPr>
          <p:cNvPr id="3" name="Text 0"/>
          <p:cNvSpPr/>
          <p:nvPr/>
        </p:nvSpPr>
        <p:spPr>
          <a:xfrm>
            <a:off x="822960" y="502920"/>
            <a:ext cx="10515600" cy="310896"/>
          </a:xfrm>
          <a:prstGeom prst="rect">
            <a:avLst/>
          </a:prstGeom>
          <a:noFill/>
          <a:ln/>
        </p:spPr>
        <p:txBody>
          <a:bodyPr wrap="square" lIns="0" tIns="0" rIns="0" bIns="0" rtlCol="0" anchor="ctr"/>
          <a:lstStyle/>
          <a:p>
            <a:pPr marL="0" indent="0">
              <a:buNone/>
            </a:pPr>
            <a:r>
              <a:rPr lang="en-US" sz="1100" b="1" dirty="0">
                <a:solidFill>
                  <a:srgbClr val="8B6E3D"/>
                </a:solidFill>
                <a:latin typeface="Calibri" pitchFamily="34" charset="0"/>
                <a:ea typeface="Calibri" pitchFamily="34" charset="-122"/>
                <a:cs typeface="Calibri" pitchFamily="34" charset="-120"/>
              </a:rPr>
              <a:t>T H E   P R O G R E S S ,   I N   F O U R   F A C T S</a:t>
            </a:r>
            <a:endParaRPr lang="en-US" sz="1100" dirty="0"/>
          </a:p>
        </p:txBody>
      </p:sp>
      <p:sp>
        <p:nvSpPr>
          <p:cNvPr id="4" name="Text 1"/>
          <p:cNvSpPr/>
          <p:nvPr/>
        </p:nvSpPr>
        <p:spPr>
          <a:xfrm>
            <a:off x="822960" y="877824"/>
            <a:ext cx="10607040" cy="603504"/>
          </a:xfrm>
          <a:prstGeom prst="rect">
            <a:avLst/>
          </a:prstGeom>
          <a:noFill/>
          <a:ln/>
        </p:spPr>
        <p:txBody>
          <a:bodyPr wrap="square" lIns="0" tIns="0" rIns="0" bIns="0" rtlCol="0" anchor="ctr"/>
          <a:lstStyle/>
          <a:p>
            <a:pPr marL="0" indent="0">
              <a:buNone/>
            </a:pPr>
            <a:r>
              <a:rPr lang="en-US" sz="2600" dirty="0">
                <a:solidFill>
                  <a:srgbClr val="26221C"/>
                </a:solidFill>
                <a:latin typeface="Bookman Old Style" pitchFamily="34" charset="0"/>
                <a:ea typeface="Bookman Old Style" pitchFamily="34" charset="-122"/>
                <a:cs typeface="Bookman Old Style" pitchFamily="34" charset="-120"/>
              </a:rPr>
              <a:t>The demand side, recruited.</a:t>
            </a:r>
            <a:endParaRPr lang="en-US" sz="2600" dirty="0"/>
          </a:p>
        </p:txBody>
      </p:sp>
      <p:sp>
        <p:nvSpPr>
          <p:cNvPr id="5" name="Text 2"/>
          <p:cNvSpPr/>
          <p:nvPr/>
        </p:nvSpPr>
        <p:spPr>
          <a:xfrm>
            <a:off x="822960" y="1828800"/>
            <a:ext cx="1828800" cy="822960"/>
          </a:xfrm>
          <a:prstGeom prst="rect">
            <a:avLst/>
          </a:prstGeom>
          <a:noFill/>
          <a:ln/>
        </p:spPr>
        <p:txBody>
          <a:bodyPr wrap="square" lIns="0" tIns="0" rIns="0" bIns="0" rtlCol="0" anchor="ctr"/>
          <a:lstStyle/>
          <a:p>
            <a:pPr marL="0" indent="0">
              <a:buNone/>
            </a:pPr>
            <a:r>
              <a:rPr lang="en-US" sz="4400" b="1" dirty="0">
                <a:solidFill>
                  <a:srgbClr val="8B6E3D"/>
                </a:solidFill>
                <a:latin typeface="Bookman Old Style" pitchFamily="34" charset="0"/>
                <a:ea typeface="Bookman Old Style" pitchFamily="34" charset="-122"/>
                <a:cs typeface="Bookman Old Style" pitchFamily="34" charset="-120"/>
              </a:rPr>
              <a:t>10</a:t>
            </a:r>
            <a:endParaRPr lang="en-US" sz="4400" dirty="0"/>
          </a:p>
        </p:txBody>
      </p:sp>
      <p:sp>
        <p:nvSpPr>
          <p:cNvPr id="6" name="Text 3"/>
          <p:cNvSpPr/>
          <p:nvPr/>
        </p:nvSpPr>
        <p:spPr>
          <a:xfrm>
            <a:off x="2286000" y="1938528"/>
            <a:ext cx="3840480" cy="320040"/>
          </a:xfrm>
          <a:prstGeom prst="rect">
            <a:avLst/>
          </a:prstGeom>
          <a:noFill/>
          <a:ln/>
        </p:spPr>
        <p:txBody>
          <a:bodyPr wrap="square" lIns="0" tIns="0" rIns="0" bIns="0" rtlCol="0" anchor="ctr"/>
          <a:lstStyle/>
          <a:p>
            <a:pPr marL="0" indent="0">
              <a:buNone/>
            </a:pPr>
            <a:r>
              <a:rPr lang="en-US" sz="1200" b="1" kern="0" spc="100" dirty="0">
                <a:solidFill>
                  <a:srgbClr val="26221C"/>
                </a:solidFill>
                <a:latin typeface="Calibri" pitchFamily="34" charset="0"/>
                <a:ea typeface="Calibri" pitchFamily="34" charset="-122"/>
                <a:cs typeface="Calibri" pitchFamily="34" charset="-120"/>
              </a:rPr>
              <a:t>IMPORTERS RECRUITED</a:t>
            </a:r>
            <a:endParaRPr lang="en-US" sz="1200" dirty="0"/>
          </a:p>
        </p:txBody>
      </p:sp>
      <p:sp>
        <p:nvSpPr>
          <p:cNvPr id="7" name="Text 4"/>
          <p:cNvSpPr/>
          <p:nvPr/>
        </p:nvSpPr>
        <p:spPr>
          <a:xfrm>
            <a:off x="2286000" y="2258568"/>
            <a:ext cx="3840480" cy="594360"/>
          </a:xfrm>
          <a:prstGeom prst="rect">
            <a:avLst/>
          </a:prstGeom>
          <a:noFill/>
          <a:ln/>
        </p:spPr>
        <p:txBody>
          <a:bodyPr wrap="square" lIns="0" tIns="0" rIns="0" bIns="0" rtlCol="0" anchor="ctr"/>
          <a:lstStyle/>
          <a:p>
            <a:pPr marL="0" indent="0">
              <a:lnSpc>
                <a:spcPts val="1450"/>
              </a:lnSpc>
              <a:buNone/>
            </a:pPr>
            <a:r>
              <a:rPr lang="en-US" sz="1150" dirty="0">
                <a:solidFill>
                  <a:srgbClr val="4A4338"/>
                </a:solidFill>
                <a:latin typeface="Calibri" pitchFamily="34" charset="0"/>
                <a:ea typeface="Calibri" pitchFamily="34" charset="-122"/>
                <a:cs typeface="Calibri" pitchFamily="34" charset="-120"/>
              </a:rPr>
              <a:t>confirmed contacts, growing to 20+</a:t>
            </a:r>
            <a:endParaRPr lang="en-US" sz="1150" dirty="0"/>
          </a:p>
        </p:txBody>
      </p:sp>
      <p:sp>
        <p:nvSpPr>
          <p:cNvPr id="8" name="Text 5"/>
          <p:cNvSpPr/>
          <p:nvPr/>
        </p:nvSpPr>
        <p:spPr>
          <a:xfrm>
            <a:off x="6217920" y="1828800"/>
            <a:ext cx="1828800" cy="822960"/>
          </a:xfrm>
          <a:prstGeom prst="rect">
            <a:avLst/>
          </a:prstGeom>
          <a:noFill/>
          <a:ln/>
        </p:spPr>
        <p:txBody>
          <a:bodyPr wrap="square" lIns="0" tIns="0" rIns="0" bIns="0" rtlCol="0" anchor="ctr"/>
          <a:lstStyle/>
          <a:p>
            <a:pPr marL="0" indent="0">
              <a:buNone/>
            </a:pPr>
            <a:r>
              <a:rPr lang="en-US" sz="4400" b="1" dirty="0">
                <a:solidFill>
                  <a:srgbClr val="8B6E3D"/>
                </a:solidFill>
                <a:latin typeface="Bookman Old Style" pitchFamily="34" charset="0"/>
                <a:ea typeface="Bookman Old Style" pitchFamily="34" charset="-122"/>
                <a:cs typeface="Bookman Old Style" pitchFamily="34" charset="-120"/>
              </a:rPr>
              <a:t>2</a:t>
            </a:r>
            <a:endParaRPr lang="en-US" sz="4400" dirty="0"/>
          </a:p>
        </p:txBody>
      </p:sp>
      <p:sp>
        <p:nvSpPr>
          <p:cNvPr id="9" name="Text 6"/>
          <p:cNvSpPr/>
          <p:nvPr/>
        </p:nvSpPr>
        <p:spPr>
          <a:xfrm>
            <a:off x="7680960" y="1938528"/>
            <a:ext cx="3840480" cy="320040"/>
          </a:xfrm>
          <a:prstGeom prst="rect">
            <a:avLst/>
          </a:prstGeom>
          <a:noFill/>
          <a:ln/>
        </p:spPr>
        <p:txBody>
          <a:bodyPr wrap="square" lIns="0" tIns="0" rIns="0" bIns="0" rtlCol="0" anchor="ctr"/>
          <a:lstStyle/>
          <a:p>
            <a:pPr marL="0" indent="0">
              <a:buNone/>
            </a:pPr>
            <a:r>
              <a:rPr lang="en-US" sz="1200" b="1" kern="0" spc="100" dirty="0">
                <a:solidFill>
                  <a:srgbClr val="26221C"/>
                </a:solidFill>
                <a:latin typeface="Calibri" pitchFamily="34" charset="0"/>
                <a:ea typeface="Calibri" pitchFamily="34" charset="-122"/>
                <a:cs typeface="Calibri" pitchFamily="34" charset="-120"/>
              </a:rPr>
              <a:t>FLAGS ON THE INVITATION</a:t>
            </a:r>
            <a:endParaRPr lang="en-US" sz="1200" dirty="0"/>
          </a:p>
        </p:txBody>
      </p:sp>
      <p:sp>
        <p:nvSpPr>
          <p:cNvPr id="10" name="Text 7"/>
          <p:cNvSpPr/>
          <p:nvPr/>
        </p:nvSpPr>
        <p:spPr>
          <a:xfrm>
            <a:off x="7680960" y="2258568"/>
            <a:ext cx="3840480" cy="594360"/>
          </a:xfrm>
          <a:prstGeom prst="rect">
            <a:avLst/>
          </a:prstGeom>
          <a:noFill/>
          <a:ln/>
        </p:spPr>
        <p:txBody>
          <a:bodyPr wrap="square" lIns="0" tIns="0" rIns="0" bIns="0" rtlCol="0" anchor="ctr"/>
          <a:lstStyle/>
          <a:p>
            <a:pPr marL="0" indent="0">
              <a:lnSpc>
                <a:spcPts val="1450"/>
              </a:lnSpc>
              <a:buNone/>
            </a:pPr>
            <a:r>
              <a:rPr lang="en-US" sz="1150" dirty="0">
                <a:solidFill>
                  <a:srgbClr val="4A4338"/>
                </a:solidFill>
                <a:latin typeface="Calibri" pitchFamily="34" charset="0"/>
                <a:ea typeface="Calibri" pitchFamily="34" charset="-122"/>
                <a:cs typeface="Calibri" pitchFamily="34" charset="-120"/>
              </a:rPr>
              <a:t>Consulate General of México in Mumbai + MIBC, sent this morning</a:t>
            </a:r>
            <a:endParaRPr lang="en-US" sz="1150" dirty="0"/>
          </a:p>
        </p:txBody>
      </p:sp>
      <p:sp>
        <p:nvSpPr>
          <p:cNvPr id="11" name="Text 8"/>
          <p:cNvSpPr/>
          <p:nvPr/>
        </p:nvSpPr>
        <p:spPr>
          <a:xfrm>
            <a:off x="822960" y="3566160"/>
            <a:ext cx="1828800" cy="822960"/>
          </a:xfrm>
          <a:prstGeom prst="rect">
            <a:avLst/>
          </a:prstGeom>
          <a:noFill/>
          <a:ln/>
        </p:spPr>
        <p:txBody>
          <a:bodyPr wrap="square" lIns="0" tIns="0" rIns="0" bIns="0" rtlCol="0" anchor="ctr"/>
          <a:lstStyle/>
          <a:p>
            <a:pPr marL="0" indent="0">
              <a:buNone/>
            </a:pPr>
            <a:r>
              <a:rPr lang="en-US" sz="4400" b="1" dirty="0">
                <a:solidFill>
                  <a:srgbClr val="8B6E3D"/>
                </a:solidFill>
                <a:latin typeface="Bookman Old Style" pitchFamily="34" charset="0"/>
                <a:ea typeface="Bookman Old Style" pitchFamily="34" charset="-122"/>
                <a:cs typeface="Bookman Old Style" pitchFamily="34" charset="-120"/>
              </a:rPr>
              <a:t>20</a:t>
            </a:r>
            <a:endParaRPr lang="en-US" sz="4400" dirty="0"/>
          </a:p>
        </p:txBody>
      </p:sp>
      <p:sp>
        <p:nvSpPr>
          <p:cNvPr id="12" name="Text 9"/>
          <p:cNvSpPr/>
          <p:nvPr/>
        </p:nvSpPr>
        <p:spPr>
          <a:xfrm>
            <a:off x="2286000" y="3675888"/>
            <a:ext cx="3840480" cy="320040"/>
          </a:xfrm>
          <a:prstGeom prst="rect">
            <a:avLst/>
          </a:prstGeom>
          <a:noFill/>
          <a:ln/>
        </p:spPr>
        <p:txBody>
          <a:bodyPr wrap="square" lIns="0" tIns="0" rIns="0" bIns="0" rtlCol="0" anchor="ctr"/>
          <a:lstStyle/>
          <a:p>
            <a:pPr marL="0" indent="0">
              <a:buNone/>
            </a:pPr>
            <a:r>
              <a:rPr lang="en-US" sz="1200" b="1" kern="0" spc="100" dirty="0">
                <a:solidFill>
                  <a:srgbClr val="26221C"/>
                </a:solidFill>
                <a:latin typeface="Calibri" pitchFamily="34" charset="0"/>
                <a:ea typeface="Calibri" pitchFamily="34" charset="-122"/>
                <a:cs typeface="Calibri" pitchFamily="34" charset="-120"/>
              </a:rPr>
              <a:t>AUGUST · THE ROUNDTABLE</a:t>
            </a:r>
            <a:endParaRPr lang="en-US" sz="1200" dirty="0"/>
          </a:p>
        </p:txBody>
      </p:sp>
      <p:sp>
        <p:nvSpPr>
          <p:cNvPr id="13" name="Text 10"/>
          <p:cNvSpPr/>
          <p:nvPr/>
        </p:nvSpPr>
        <p:spPr>
          <a:xfrm>
            <a:off x="2286000" y="3995928"/>
            <a:ext cx="3840480" cy="594360"/>
          </a:xfrm>
          <a:prstGeom prst="rect">
            <a:avLst/>
          </a:prstGeom>
          <a:noFill/>
          <a:ln/>
        </p:spPr>
        <p:txBody>
          <a:bodyPr wrap="square" lIns="0" tIns="0" rIns="0" bIns="0" rtlCol="0" anchor="ctr"/>
          <a:lstStyle/>
          <a:p>
            <a:pPr marL="0" indent="0">
              <a:lnSpc>
                <a:spcPts val="1450"/>
              </a:lnSpc>
              <a:buNone/>
            </a:pPr>
            <a:r>
              <a:rPr lang="en-US" sz="1150" dirty="0">
                <a:solidFill>
                  <a:srgbClr val="4A4338"/>
                </a:solidFill>
                <a:latin typeface="Calibri" pitchFamily="34" charset="0"/>
                <a:ea typeface="Calibri" pitchFamily="34" charset="-122"/>
                <a:cs typeface="Calibri" pitchFamily="34" charset="-120"/>
              </a:rPr>
              <a:t>Thursday, 3 p.m. IST: we meet them, virtually, together</a:t>
            </a:r>
            <a:endParaRPr lang="en-US" sz="1150" dirty="0"/>
          </a:p>
        </p:txBody>
      </p:sp>
      <p:sp>
        <p:nvSpPr>
          <p:cNvPr id="14" name="Text 11"/>
          <p:cNvSpPr/>
          <p:nvPr/>
        </p:nvSpPr>
        <p:spPr>
          <a:xfrm>
            <a:off x="6217920" y="3566160"/>
            <a:ext cx="1828800" cy="822960"/>
          </a:xfrm>
          <a:prstGeom prst="rect">
            <a:avLst/>
          </a:prstGeom>
          <a:noFill/>
          <a:ln/>
        </p:spPr>
        <p:txBody>
          <a:bodyPr wrap="square" lIns="0" tIns="0" rIns="0" bIns="0" rtlCol="0" anchor="ctr"/>
          <a:lstStyle/>
          <a:p>
            <a:pPr marL="0" indent="0">
              <a:buNone/>
            </a:pPr>
            <a:r>
              <a:rPr lang="en-US" sz="4400" b="1" dirty="0">
                <a:solidFill>
                  <a:srgbClr val="8B6E3D"/>
                </a:solidFill>
                <a:latin typeface="Bookman Old Style" pitchFamily="34" charset="0"/>
                <a:ea typeface="Bookman Old Style" pitchFamily="34" charset="-122"/>
                <a:cs typeface="Bookman Old Style" pitchFamily="34" charset="-120"/>
              </a:rPr>
              <a:t>1</a:t>
            </a:r>
            <a:endParaRPr lang="en-US" sz="4400" dirty="0"/>
          </a:p>
        </p:txBody>
      </p:sp>
      <p:sp>
        <p:nvSpPr>
          <p:cNvPr id="15" name="Text 12"/>
          <p:cNvSpPr/>
          <p:nvPr/>
        </p:nvSpPr>
        <p:spPr>
          <a:xfrm>
            <a:off x="7680960" y="3675888"/>
            <a:ext cx="3840480" cy="320040"/>
          </a:xfrm>
          <a:prstGeom prst="rect">
            <a:avLst/>
          </a:prstGeom>
          <a:noFill/>
          <a:ln/>
        </p:spPr>
        <p:txBody>
          <a:bodyPr wrap="square" lIns="0" tIns="0" rIns="0" bIns="0" rtlCol="0" anchor="ctr"/>
          <a:lstStyle/>
          <a:p>
            <a:pPr marL="0" indent="0">
              <a:buNone/>
            </a:pPr>
            <a:r>
              <a:rPr lang="en-US" sz="1200" b="1" kern="0" spc="100" dirty="0">
                <a:solidFill>
                  <a:srgbClr val="26221C"/>
                </a:solidFill>
                <a:latin typeface="Calibri" pitchFamily="34" charset="0"/>
                <a:ea typeface="Calibri" pitchFamily="34" charset="-122"/>
                <a:cs typeface="Calibri" pitchFamily="34" charset="-120"/>
              </a:rPr>
              <a:t>WEEK LATER</a:t>
            </a:r>
            <a:endParaRPr lang="en-US" sz="1200" dirty="0"/>
          </a:p>
        </p:txBody>
      </p:sp>
      <p:sp>
        <p:nvSpPr>
          <p:cNvPr id="16" name="Text 13"/>
          <p:cNvSpPr/>
          <p:nvPr/>
        </p:nvSpPr>
        <p:spPr>
          <a:xfrm>
            <a:off x="7680960" y="3995928"/>
            <a:ext cx="3840480" cy="594360"/>
          </a:xfrm>
          <a:prstGeom prst="rect">
            <a:avLst/>
          </a:prstGeom>
          <a:noFill/>
          <a:ln/>
        </p:spPr>
        <p:txBody>
          <a:bodyPr wrap="square" lIns="0" tIns="0" rIns="0" bIns="0" rtlCol="0" anchor="ctr"/>
          <a:lstStyle/>
          <a:p>
            <a:pPr marL="0" indent="0">
              <a:lnSpc>
                <a:spcPts val="1450"/>
              </a:lnSpc>
              <a:buNone/>
            </a:pPr>
            <a:r>
              <a:rPr lang="en-US" sz="1150" dirty="0">
                <a:solidFill>
                  <a:srgbClr val="4A4338"/>
                </a:solidFill>
                <a:latin typeface="Calibri" pitchFamily="34" charset="0"/>
                <a:ea typeface="Calibri" pitchFamily="34" charset="-122"/>
                <a:cs typeface="Calibri" pitchFamily="34" charset="-120"/>
              </a:rPr>
              <a:t>your matched buyer-seller meetings begin</a:t>
            </a:r>
            <a:endParaRPr lang="en-US" sz="1150" dirty="0"/>
          </a:p>
        </p:txBody>
      </p:sp>
      <p:sp>
        <p:nvSpPr>
          <p:cNvPr id="17" name="Shape 14"/>
          <p:cNvSpPr/>
          <p:nvPr/>
        </p:nvSpPr>
        <p:spPr>
          <a:xfrm>
            <a:off x="850392" y="5943600"/>
            <a:ext cx="2011680" cy="0"/>
          </a:xfrm>
          <a:prstGeom prst="line">
            <a:avLst/>
          </a:prstGeom>
          <a:noFill/>
          <a:ln w="12700">
            <a:solidFill>
              <a:srgbClr val="6E5630"/>
            </a:solidFill>
            <a:prstDash val="solid"/>
          </a:ln>
        </p:spPr>
      </p:sp>
      <p:sp>
        <p:nvSpPr>
          <p:cNvPr id="18" name="Text 15"/>
          <p:cNvSpPr/>
          <p:nvPr/>
        </p:nvSpPr>
        <p:spPr>
          <a:xfrm>
            <a:off x="822960" y="6035040"/>
            <a:ext cx="10515600" cy="365760"/>
          </a:xfrm>
          <a:prstGeom prst="rect">
            <a:avLst/>
          </a:prstGeom>
          <a:noFill/>
          <a:ln/>
        </p:spPr>
        <p:txBody>
          <a:bodyPr wrap="square" lIns="0" tIns="0" rIns="0" bIns="0" rtlCol="0" anchor="ctr"/>
          <a:lstStyle/>
          <a:p>
            <a:pPr marL="0" indent="0">
              <a:buNone/>
            </a:pPr>
            <a:r>
              <a:rPr lang="en-US" sz="1350" b="1" i="1" dirty="0">
                <a:solidFill>
                  <a:srgbClr val="6E5630"/>
                </a:solidFill>
                <a:latin typeface="Calibri" pitchFamily="34" charset="0"/>
                <a:ea typeface="Calibri" pitchFamily="34" charset="-122"/>
                <a:cs typeface="Calibri" pitchFamily="34" charset="-120"/>
              </a:rPr>
              <a:t>While you prepared for the table, we set it.</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8F1"/>
        </a:solidFill>
        <a:effectLst/>
      </p:bgPr>
    </p:bg>
    <p:spTree>
      <p:nvGrpSpPr>
        <p:cNvPr id="1" name=""/>
        <p:cNvGrpSpPr/>
        <p:nvPr/>
      </p:nvGrpSpPr>
      <p:grpSpPr>
        <a:xfrm>
          <a:off x="0" y="0"/>
          <a:ext cx="0" cy="0"/>
          <a:chOff x="0" y="0"/>
          <a:chExt cx="0" cy="0"/>
        </a:xfrm>
      </p:grpSpPr>
      <p:sp>
        <p:nvSpPr>
          <p:cNvPr id="3" name="Text 0"/>
          <p:cNvSpPr/>
          <p:nvPr/>
        </p:nvSpPr>
        <p:spPr>
          <a:xfrm>
            <a:off x="822960" y="502920"/>
            <a:ext cx="10515600" cy="310896"/>
          </a:xfrm>
          <a:prstGeom prst="rect">
            <a:avLst/>
          </a:prstGeom>
          <a:noFill/>
          <a:ln/>
        </p:spPr>
        <p:txBody>
          <a:bodyPr wrap="square" lIns="0" tIns="0" rIns="0" bIns="0" rtlCol="0" anchor="ctr"/>
          <a:lstStyle/>
          <a:p>
            <a:pPr marL="0" indent="0">
              <a:buNone/>
            </a:pPr>
            <a:r>
              <a:rPr lang="en-US" sz="1100" b="1" dirty="0">
                <a:solidFill>
                  <a:srgbClr val="8B6E3D"/>
                </a:solidFill>
                <a:latin typeface="Calibri" pitchFamily="34" charset="0"/>
                <a:ea typeface="Calibri" pitchFamily="34" charset="-122"/>
                <a:cs typeface="Calibri" pitchFamily="34" charset="-120"/>
              </a:rPr>
              <a:t>W H O   W E   R E C R U I T E D      ·      B Y   N A M E</a:t>
            </a:r>
            <a:endParaRPr lang="en-US" sz="1100" dirty="0"/>
          </a:p>
        </p:txBody>
      </p:sp>
      <p:sp>
        <p:nvSpPr>
          <p:cNvPr id="4" name="Text 1"/>
          <p:cNvSpPr/>
          <p:nvPr/>
        </p:nvSpPr>
        <p:spPr>
          <a:xfrm>
            <a:off x="822960" y="877824"/>
            <a:ext cx="10607040" cy="603504"/>
          </a:xfrm>
          <a:prstGeom prst="rect">
            <a:avLst/>
          </a:prstGeom>
          <a:noFill/>
          <a:ln/>
        </p:spPr>
        <p:txBody>
          <a:bodyPr wrap="square" lIns="0" tIns="0" rIns="0" bIns="0" rtlCol="0" anchor="ctr"/>
          <a:lstStyle/>
          <a:p>
            <a:pPr marL="0" indent="0">
              <a:buNone/>
            </a:pPr>
            <a:r>
              <a:rPr lang="en-US" sz="2400" dirty="0">
                <a:solidFill>
                  <a:srgbClr val="26221C"/>
                </a:solidFill>
                <a:latin typeface="Bookman Old Style" pitchFamily="34" charset="0"/>
                <a:ea typeface="Bookman Old Style" pitchFamily="34" charset="-122"/>
                <a:cs typeface="Bookman Old Style" pitchFamily="34" charset="-120"/>
              </a:rPr>
              <a:t>Ten importers confirmed. Second wave in motion.</a:t>
            </a:r>
            <a:endParaRPr lang="en-US" sz="2400" dirty="0"/>
          </a:p>
        </p:txBody>
      </p:sp>
      <p:sp>
        <p:nvSpPr>
          <p:cNvPr id="5" name="Text 2"/>
          <p:cNvSpPr/>
          <p:nvPr/>
        </p:nvSpPr>
        <p:spPr>
          <a:xfrm>
            <a:off x="822960" y="1627632"/>
            <a:ext cx="3108960" cy="365760"/>
          </a:xfrm>
          <a:prstGeom prst="rect">
            <a:avLst/>
          </a:prstGeom>
          <a:noFill/>
          <a:ln/>
        </p:spPr>
        <p:txBody>
          <a:bodyPr wrap="square" lIns="0" tIns="0" rIns="0" bIns="0" rtlCol="0" anchor="ctr"/>
          <a:lstStyle/>
          <a:p>
            <a:pPr marL="0" indent="0">
              <a:buNone/>
            </a:pPr>
            <a:r>
              <a:rPr lang="en-US" sz="1200" b="1" dirty="0">
                <a:solidFill>
                  <a:srgbClr val="26221C"/>
                </a:solidFill>
                <a:latin typeface="Calibri" pitchFamily="34" charset="0"/>
                <a:ea typeface="Calibri" pitchFamily="34" charset="-122"/>
                <a:cs typeface="Calibri" pitchFamily="34" charset="-120"/>
              </a:rPr>
              <a:t>Anggel's Share</a:t>
            </a:r>
            <a:endParaRPr lang="en-US" sz="1200" dirty="0"/>
          </a:p>
        </p:txBody>
      </p:sp>
      <p:sp>
        <p:nvSpPr>
          <p:cNvPr id="6" name="Text 3"/>
          <p:cNvSpPr/>
          <p:nvPr/>
        </p:nvSpPr>
        <p:spPr>
          <a:xfrm>
            <a:off x="4023360" y="1627632"/>
            <a:ext cx="3291840" cy="365760"/>
          </a:xfrm>
          <a:prstGeom prst="rect">
            <a:avLst/>
          </a:prstGeom>
          <a:noFill/>
          <a:ln/>
        </p:spPr>
        <p:txBody>
          <a:bodyPr wrap="square" lIns="0" tIns="0" rIns="0" bIns="0" rtlCol="0" anchor="ctr"/>
          <a:lstStyle/>
          <a:p>
            <a:pPr marL="0" indent="0">
              <a:buNone/>
            </a:pPr>
            <a:r>
              <a:rPr lang="en-US" sz="1100" dirty="0">
                <a:solidFill>
                  <a:srgbClr val="6E5630"/>
                </a:solidFill>
                <a:latin typeface="Calibri" pitchFamily="34" charset="0"/>
                <a:ea typeface="Calibri" pitchFamily="34" charset="-122"/>
                <a:cs typeface="Calibri" pitchFamily="34" charset="-120"/>
              </a:rPr>
              <a:t>Vaishali Shah, Founder</a:t>
            </a:r>
            <a:endParaRPr lang="en-US" sz="1100" dirty="0"/>
          </a:p>
        </p:txBody>
      </p:sp>
      <p:sp>
        <p:nvSpPr>
          <p:cNvPr id="7" name="Text 4"/>
          <p:cNvSpPr/>
          <p:nvPr/>
        </p:nvSpPr>
        <p:spPr>
          <a:xfrm>
            <a:off x="7406640" y="1627632"/>
            <a:ext cx="3931920" cy="365760"/>
          </a:xfrm>
          <a:prstGeom prst="rect">
            <a:avLst/>
          </a:prstGeom>
          <a:noFill/>
          <a:ln/>
        </p:spPr>
        <p:txBody>
          <a:bodyPr wrap="square" lIns="0" tIns="0" rIns="0" bIns="0" rtlCol="0" anchor="ctr"/>
          <a:lstStyle/>
          <a:p>
            <a:pPr marL="0" indent="0">
              <a:buNone/>
            </a:pPr>
            <a:r>
              <a:rPr lang="en-US" sz="1100" dirty="0">
                <a:solidFill>
                  <a:srgbClr val="4A4338"/>
                </a:solidFill>
                <a:latin typeface="Calibri" pitchFamily="34" charset="0"/>
                <a:ea typeface="Calibri" pitchFamily="34" charset="-122"/>
                <a:cs typeface="Calibri" pitchFamily="34" charset="-120"/>
              </a:rPr>
              <a:t>curated fine-spirits importer, Mumbai</a:t>
            </a:r>
            <a:endParaRPr lang="en-US" sz="1100" dirty="0"/>
          </a:p>
        </p:txBody>
      </p:sp>
      <p:sp>
        <p:nvSpPr>
          <p:cNvPr id="8" name="Shape 5"/>
          <p:cNvSpPr/>
          <p:nvPr/>
        </p:nvSpPr>
        <p:spPr>
          <a:xfrm>
            <a:off x="822960" y="2002536"/>
            <a:ext cx="10515600" cy="0"/>
          </a:xfrm>
          <a:prstGeom prst="line">
            <a:avLst/>
          </a:prstGeom>
          <a:noFill/>
          <a:ln w="5080">
            <a:solidFill>
              <a:srgbClr val="D8CDB6"/>
            </a:solidFill>
            <a:prstDash val="solid"/>
          </a:ln>
        </p:spPr>
      </p:sp>
      <p:sp>
        <p:nvSpPr>
          <p:cNvPr id="9" name="Text 6"/>
          <p:cNvSpPr/>
          <p:nvPr/>
        </p:nvSpPr>
        <p:spPr>
          <a:xfrm>
            <a:off x="822960" y="2084832"/>
            <a:ext cx="3108960" cy="365760"/>
          </a:xfrm>
          <a:prstGeom prst="rect">
            <a:avLst/>
          </a:prstGeom>
          <a:noFill/>
          <a:ln/>
        </p:spPr>
        <p:txBody>
          <a:bodyPr wrap="square" lIns="0" tIns="0" rIns="0" bIns="0" rtlCol="0" anchor="ctr"/>
          <a:lstStyle/>
          <a:p>
            <a:pPr marL="0" indent="0">
              <a:buNone/>
            </a:pPr>
            <a:r>
              <a:rPr lang="en-US" sz="1200" b="1" dirty="0">
                <a:solidFill>
                  <a:srgbClr val="26221C"/>
                </a:solidFill>
                <a:latin typeface="Calibri" pitchFamily="34" charset="0"/>
                <a:ea typeface="Calibri" pitchFamily="34" charset="-122"/>
                <a:cs typeface="Calibri" pitchFamily="34" charset="-120"/>
              </a:rPr>
              <a:t>Aristol</a:t>
            </a:r>
            <a:endParaRPr lang="en-US" sz="1200" dirty="0"/>
          </a:p>
        </p:txBody>
      </p:sp>
      <p:sp>
        <p:nvSpPr>
          <p:cNvPr id="10" name="Text 7"/>
          <p:cNvSpPr/>
          <p:nvPr/>
        </p:nvSpPr>
        <p:spPr>
          <a:xfrm>
            <a:off x="4023360" y="2084832"/>
            <a:ext cx="3291840" cy="365760"/>
          </a:xfrm>
          <a:prstGeom prst="rect">
            <a:avLst/>
          </a:prstGeom>
          <a:noFill/>
          <a:ln/>
        </p:spPr>
        <p:txBody>
          <a:bodyPr wrap="square" lIns="0" tIns="0" rIns="0" bIns="0" rtlCol="0" anchor="ctr"/>
          <a:lstStyle/>
          <a:p>
            <a:pPr marL="0" indent="0">
              <a:buNone/>
            </a:pPr>
            <a:r>
              <a:rPr lang="en-US" sz="1100" dirty="0">
                <a:solidFill>
                  <a:srgbClr val="6E5630"/>
                </a:solidFill>
                <a:latin typeface="Calibri" pitchFamily="34" charset="0"/>
                <a:ea typeface="Calibri" pitchFamily="34" charset="-122"/>
                <a:cs typeface="Calibri" pitchFamily="34" charset="-120"/>
              </a:rPr>
              <a:t>Sumit Sehgal, Co-Founder</a:t>
            </a:r>
            <a:endParaRPr lang="en-US" sz="1100" dirty="0"/>
          </a:p>
        </p:txBody>
      </p:sp>
      <p:sp>
        <p:nvSpPr>
          <p:cNvPr id="11" name="Text 8"/>
          <p:cNvSpPr/>
          <p:nvPr/>
        </p:nvSpPr>
        <p:spPr>
          <a:xfrm>
            <a:off x="7406640" y="2084832"/>
            <a:ext cx="3931920" cy="365760"/>
          </a:xfrm>
          <a:prstGeom prst="rect">
            <a:avLst/>
          </a:prstGeom>
          <a:noFill/>
          <a:ln/>
        </p:spPr>
        <p:txBody>
          <a:bodyPr wrap="square" lIns="0" tIns="0" rIns="0" bIns="0" rtlCol="0" anchor="ctr"/>
          <a:lstStyle/>
          <a:p>
            <a:pPr marL="0" indent="0">
              <a:buNone/>
            </a:pPr>
            <a:r>
              <a:rPr lang="en-US" sz="1100" dirty="0">
                <a:solidFill>
                  <a:srgbClr val="4A4338"/>
                </a:solidFill>
                <a:latin typeface="Calibri" pitchFamily="34" charset="0"/>
                <a:ea typeface="Calibri" pitchFamily="34" charset="-122"/>
                <a:cs typeface="Calibri" pitchFamily="34" charset="-120"/>
              </a:rPr>
              <a:t>premium spirits importer, Delhi</a:t>
            </a:r>
            <a:endParaRPr lang="en-US" sz="1100" dirty="0"/>
          </a:p>
        </p:txBody>
      </p:sp>
      <p:sp>
        <p:nvSpPr>
          <p:cNvPr id="12" name="Shape 9"/>
          <p:cNvSpPr/>
          <p:nvPr/>
        </p:nvSpPr>
        <p:spPr>
          <a:xfrm>
            <a:off x="822960" y="2459736"/>
            <a:ext cx="10515600" cy="0"/>
          </a:xfrm>
          <a:prstGeom prst="line">
            <a:avLst/>
          </a:prstGeom>
          <a:noFill/>
          <a:ln w="5080">
            <a:solidFill>
              <a:srgbClr val="D8CDB6"/>
            </a:solidFill>
            <a:prstDash val="solid"/>
          </a:ln>
        </p:spPr>
      </p:sp>
      <p:sp>
        <p:nvSpPr>
          <p:cNvPr id="13" name="Text 10"/>
          <p:cNvSpPr/>
          <p:nvPr/>
        </p:nvSpPr>
        <p:spPr>
          <a:xfrm>
            <a:off x="822960" y="2542032"/>
            <a:ext cx="3108960" cy="365760"/>
          </a:xfrm>
          <a:prstGeom prst="rect">
            <a:avLst/>
          </a:prstGeom>
          <a:noFill/>
          <a:ln/>
        </p:spPr>
        <p:txBody>
          <a:bodyPr wrap="square" lIns="0" tIns="0" rIns="0" bIns="0" rtlCol="0" anchor="ctr"/>
          <a:lstStyle/>
          <a:p>
            <a:pPr marL="0" indent="0">
              <a:buNone/>
            </a:pPr>
            <a:r>
              <a:rPr lang="en-US" sz="1200" b="1" dirty="0">
                <a:solidFill>
                  <a:srgbClr val="26221C"/>
                </a:solidFill>
                <a:latin typeface="Calibri" pitchFamily="34" charset="0"/>
                <a:ea typeface="Calibri" pitchFamily="34" charset="-122"/>
                <a:cs typeface="Calibri" pitchFamily="34" charset="-120"/>
              </a:rPr>
              <a:t>Sipping Spirits</a:t>
            </a:r>
            <a:endParaRPr lang="en-US" sz="1200" dirty="0"/>
          </a:p>
        </p:txBody>
      </p:sp>
      <p:sp>
        <p:nvSpPr>
          <p:cNvPr id="14" name="Text 11"/>
          <p:cNvSpPr/>
          <p:nvPr/>
        </p:nvSpPr>
        <p:spPr>
          <a:xfrm>
            <a:off x="4023360" y="2542032"/>
            <a:ext cx="3291840" cy="365760"/>
          </a:xfrm>
          <a:prstGeom prst="rect">
            <a:avLst/>
          </a:prstGeom>
          <a:noFill/>
          <a:ln/>
        </p:spPr>
        <p:txBody>
          <a:bodyPr wrap="square" lIns="0" tIns="0" rIns="0" bIns="0" rtlCol="0" anchor="ctr"/>
          <a:lstStyle/>
          <a:p>
            <a:pPr marL="0" indent="0">
              <a:buNone/>
            </a:pPr>
            <a:r>
              <a:rPr lang="en-US" sz="1100" dirty="0">
                <a:solidFill>
                  <a:srgbClr val="6E5630"/>
                </a:solidFill>
                <a:latin typeface="Calibri" pitchFamily="34" charset="0"/>
                <a:ea typeface="Calibri" pitchFamily="34" charset="-122"/>
                <a:cs typeface="Calibri" pitchFamily="34" charset="-120"/>
              </a:rPr>
              <a:t>Prasanna Natarajan, MD &amp; CEO</a:t>
            </a:r>
            <a:endParaRPr lang="en-US" sz="1100" dirty="0"/>
          </a:p>
        </p:txBody>
      </p:sp>
      <p:sp>
        <p:nvSpPr>
          <p:cNvPr id="15" name="Text 12"/>
          <p:cNvSpPr/>
          <p:nvPr/>
        </p:nvSpPr>
        <p:spPr>
          <a:xfrm>
            <a:off x="7406640" y="2542032"/>
            <a:ext cx="3931920" cy="365760"/>
          </a:xfrm>
          <a:prstGeom prst="rect">
            <a:avLst/>
          </a:prstGeom>
          <a:noFill/>
          <a:ln/>
        </p:spPr>
        <p:txBody>
          <a:bodyPr wrap="square" lIns="0" tIns="0" rIns="0" bIns="0" rtlCol="0" anchor="ctr"/>
          <a:lstStyle/>
          <a:p>
            <a:pPr marL="0" indent="0">
              <a:buNone/>
            </a:pPr>
            <a:r>
              <a:rPr lang="en-US" sz="1100" dirty="0">
                <a:solidFill>
                  <a:srgbClr val="4A4338"/>
                </a:solidFill>
                <a:latin typeface="Calibri" pitchFamily="34" charset="0"/>
                <a:ea typeface="Calibri" pitchFamily="34" charset="-122"/>
                <a:cs typeface="Calibri" pitchFamily="34" charset="-120"/>
              </a:rPr>
              <a:t>premium importer, Chennai and the South</a:t>
            </a:r>
            <a:endParaRPr lang="en-US" sz="1100" dirty="0"/>
          </a:p>
        </p:txBody>
      </p:sp>
      <p:sp>
        <p:nvSpPr>
          <p:cNvPr id="16" name="Shape 13"/>
          <p:cNvSpPr/>
          <p:nvPr/>
        </p:nvSpPr>
        <p:spPr>
          <a:xfrm>
            <a:off x="822960" y="2916936"/>
            <a:ext cx="10515600" cy="0"/>
          </a:xfrm>
          <a:prstGeom prst="line">
            <a:avLst/>
          </a:prstGeom>
          <a:noFill/>
          <a:ln w="5080">
            <a:solidFill>
              <a:srgbClr val="D8CDB6"/>
            </a:solidFill>
            <a:prstDash val="solid"/>
          </a:ln>
        </p:spPr>
      </p:sp>
      <p:sp>
        <p:nvSpPr>
          <p:cNvPr id="17" name="Text 14"/>
          <p:cNvSpPr/>
          <p:nvPr/>
        </p:nvSpPr>
        <p:spPr>
          <a:xfrm>
            <a:off x="822960" y="2999232"/>
            <a:ext cx="3108960" cy="365760"/>
          </a:xfrm>
          <a:prstGeom prst="rect">
            <a:avLst/>
          </a:prstGeom>
          <a:noFill/>
          <a:ln/>
        </p:spPr>
        <p:txBody>
          <a:bodyPr wrap="square" lIns="0" tIns="0" rIns="0" bIns="0" rtlCol="0" anchor="ctr"/>
          <a:lstStyle/>
          <a:p>
            <a:pPr marL="0" indent="0">
              <a:buNone/>
            </a:pPr>
            <a:r>
              <a:rPr lang="en-US" sz="1200" b="1" dirty="0">
                <a:solidFill>
                  <a:srgbClr val="26221C"/>
                </a:solidFill>
                <a:latin typeface="Calibri" pitchFamily="34" charset="0"/>
                <a:ea typeface="Calibri" pitchFamily="34" charset="-122"/>
                <a:cs typeface="Calibri" pitchFamily="34" charset="-120"/>
              </a:rPr>
              <a:t>Empire Spirits India</a:t>
            </a:r>
            <a:endParaRPr lang="en-US" sz="1200" dirty="0"/>
          </a:p>
        </p:txBody>
      </p:sp>
      <p:sp>
        <p:nvSpPr>
          <p:cNvPr id="18" name="Text 15"/>
          <p:cNvSpPr/>
          <p:nvPr/>
        </p:nvSpPr>
        <p:spPr>
          <a:xfrm>
            <a:off x="4023360" y="2999232"/>
            <a:ext cx="3291840" cy="365760"/>
          </a:xfrm>
          <a:prstGeom prst="rect">
            <a:avLst/>
          </a:prstGeom>
          <a:noFill/>
          <a:ln/>
        </p:spPr>
        <p:txBody>
          <a:bodyPr wrap="square" lIns="0" tIns="0" rIns="0" bIns="0" rtlCol="0" anchor="ctr"/>
          <a:lstStyle/>
          <a:p>
            <a:pPr marL="0" indent="0">
              <a:buNone/>
            </a:pPr>
            <a:r>
              <a:rPr lang="en-US" sz="1100" dirty="0">
                <a:solidFill>
                  <a:srgbClr val="6E5630"/>
                </a:solidFill>
                <a:latin typeface="Calibri" pitchFamily="34" charset="0"/>
                <a:ea typeface="Calibri" pitchFamily="34" charset="-122"/>
                <a:cs typeface="Calibri" pitchFamily="34" charset="-120"/>
              </a:rPr>
              <a:t>Himanshuu Wadhwa, Co-Founder</a:t>
            </a:r>
            <a:endParaRPr lang="en-US" sz="1100" dirty="0"/>
          </a:p>
        </p:txBody>
      </p:sp>
      <p:sp>
        <p:nvSpPr>
          <p:cNvPr id="19" name="Text 16"/>
          <p:cNvSpPr/>
          <p:nvPr/>
        </p:nvSpPr>
        <p:spPr>
          <a:xfrm>
            <a:off x="7406640" y="2999232"/>
            <a:ext cx="3931920" cy="365760"/>
          </a:xfrm>
          <a:prstGeom prst="rect">
            <a:avLst/>
          </a:prstGeom>
          <a:noFill/>
          <a:ln/>
        </p:spPr>
        <p:txBody>
          <a:bodyPr wrap="square" lIns="0" tIns="0" rIns="0" bIns="0" rtlCol="0" anchor="ctr"/>
          <a:lstStyle/>
          <a:p>
            <a:pPr marL="0" indent="0">
              <a:buNone/>
            </a:pPr>
            <a:r>
              <a:rPr lang="en-US" sz="1100" dirty="0">
                <a:solidFill>
                  <a:srgbClr val="4A4338"/>
                </a:solidFill>
                <a:latin typeface="Calibri" pitchFamily="34" charset="0"/>
                <a:ea typeface="Calibri" pitchFamily="34" charset="-122"/>
                <a:cs typeface="Calibri" pitchFamily="34" charset="-120"/>
              </a:rPr>
              <a:t>importer and distributor, NCR</a:t>
            </a:r>
            <a:endParaRPr lang="en-US" sz="1100" dirty="0"/>
          </a:p>
        </p:txBody>
      </p:sp>
      <p:sp>
        <p:nvSpPr>
          <p:cNvPr id="20" name="Shape 17"/>
          <p:cNvSpPr/>
          <p:nvPr/>
        </p:nvSpPr>
        <p:spPr>
          <a:xfrm>
            <a:off x="822960" y="3374136"/>
            <a:ext cx="10515600" cy="0"/>
          </a:xfrm>
          <a:prstGeom prst="line">
            <a:avLst/>
          </a:prstGeom>
          <a:noFill/>
          <a:ln w="5080">
            <a:solidFill>
              <a:srgbClr val="D8CDB6"/>
            </a:solidFill>
            <a:prstDash val="solid"/>
          </a:ln>
        </p:spPr>
      </p:sp>
      <p:sp>
        <p:nvSpPr>
          <p:cNvPr id="21" name="Text 18"/>
          <p:cNvSpPr/>
          <p:nvPr/>
        </p:nvSpPr>
        <p:spPr>
          <a:xfrm>
            <a:off x="822960" y="3456432"/>
            <a:ext cx="3108960" cy="365760"/>
          </a:xfrm>
          <a:prstGeom prst="rect">
            <a:avLst/>
          </a:prstGeom>
          <a:noFill/>
          <a:ln/>
        </p:spPr>
        <p:txBody>
          <a:bodyPr wrap="square" lIns="0" tIns="0" rIns="0" bIns="0" rtlCol="0" anchor="ctr"/>
          <a:lstStyle/>
          <a:p>
            <a:pPr marL="0" indent="0">
              <a:buNone/>
            </a:pPr>
            <a:r>
              <a:rPr lang="en-US" sz="1200" b="1" dirty="0">
                <a:solidFill>
                  <a:srgbClr val="26221C"/>
                </a:solidFill>
                <a:latin typeface="Calibri" pitchFamily="34" charset="0"/>
                <a:ea typeface="Calibri" pitchFamily="34" charset="-122"/>
                <a:cs typeface="Calibri" pitchFamily="34" charset="-120"/>
              </a:rPr>
              <a:t>Dhall Foods &amp; Beverages</a:t>
            </a:r>
            <a:endParaRPr lang="en-US" sz="1200" dirty="0"/>
          </a:p>
        </p:txBody>
      </p:sp>
      <p:sp>
        <p:nvSpPr>
          <p:cNvPr id="22" name="Text 19"/>
          <p:cNvSpPr/>
          <p:nvPr/>
        </p:nvSpPr>
        <p:spPr>
          <a:xfrm>
            <a:off x="4023360" y="3456432"/>
            <a:ext cx="3291840" cy="365760"/>
          </a:xfrm>
          <a:prstGeom prst="rect">
            <a:avLst/>
          </a:prstGeom>
          <a:noFill/>
          <a:ln/>
        </p:spPr>
        <p:txBody>
          <a:bodyPr wrap="square" lIns="0" tIns="0" rIns="0" bIns="0" rtlCol="0" anchor="ctr"/>
          <a:lstStyle/>
          <a:p>
            <a:pPr marL="0" indent="0">
              <a:buNone/>
            </a:pPr>
            <a:r>
              <a:rPr lang="en-US" sz="1100" dirty="0">
                <a:solidFill>
                  <a:srgbClr val="6E5630"/>
                </a:solidFill>
                <a:latin typeface="Calibri" pitchFamily="34" charset="0"/>
                <a:ea typeface="Calibri" pitchFamily="34" charset="-122"/>
                <a:cs typeface="Calibri" pitchFamily="34" charset="-120"/>
              </a:rPr>
              <a:t>Vikram Dhall, MD &amp; CEO</a:t>
            </a:r>
            <a:endParaRPr lang="en-US" sz="1100" dirty="0"/>
          </a:p>
        </p:txBody>
      </p:sp>
      <p:sp>
        <p:nvSpPr>
          <p:cNvPr id="23" name="Text 20"/>
          <p:cNvSpPr/>
          <p:nvPr/>
        </p:nvSpPr>
        <p:spPr>
          <a:xfrm>
            <a:off x="7406640" y="3456432"/>
            <a:ext cx="3931920" cy="365760"/>
          </a:xfrm>
          <a:prstGeom prst="rect">
            <a:avLst/>
          </a:prstGeom>
          <a:noFill/>
          <a:ln/>
        </p:spPr>
        <p:txBody>
          <a:bodyPr wrap="square" lIns="0" tIns="0" rIns="0" bIns="0" rtlCol="0" anchor="ctr"/>
          <a:lstStyle/>
          <a:p>
            <a:pPr marL="0" indent="0">
              <a:buNone/>
            </a:pPr>
            <a:r>
              <a:rPr lang="en-US" sz="1100" dirty="0">
                <a:solidFill>
                  <a:srgbClr val="4A4338"/>
                </a:solidFill>
                <a:latin typeface="Calibri" pitchFamily="34" charset="0"/>
                <a:ea typeface="Calibri" pitchFamily="34" charset="-122"/>
                <a:cs typeface="Calibri" pitchFamily="34" charset="-120"/>
              </a:rPr>
              <a:t>importer and distributor, Delhi</a:t>
            </a:r>
            <a:endParaRPr lang="en-US" sz="1100" dirty="0"/>
          </a:p>
        </p:txBody>
      </p:sp>
      <p:sp>
        <p:nvSpPr>
          <p:cNvPr id="24" name="Shape 21"/>
          <p:cNvSpPr/>
          <p:nvPr/>
        </p:nvSpPr>
        <p:spPr>
          <a:xfrm>
            <a:off x="822960" y="3831336"/>
            <a:ext cx="10515600" cy="0"/>
          </a:xfrm>
          <a:prstGeom prst="line">
            <a:avLst/>
          </a:prstGeom>
          <a:noFill/>
          <a:ln w="5080">
            <a:solidFill>
              <a:srgbClr val="D8CDB6"/>
            </a:solidFill>
            <a:prstDash val="solid"/>
          </a:ln>
        </p:spPr>
      </p:sp>
      <p:sp>
        <p:nvSpPr>
          <p:cNvPr id="25" name="Text 22"/>
          <p:cNvSpPr/>
          <p:nvPr/>
        </p:nvSpPr>
        <p:spPr>
          <a:xfrm>
            <a:off x="822960" y="3913632"/>
            <a:ext cx="3108960" cy="365760"/>
          </a:xfrm>
          <a:prstGeom prst="rect">
            <a:avLst/>
          </a:prstGeom>
          <a:noFill/>
          <a:ln/>
        </p:spPr>
        <p:txBody>
          <a:bodyPr wrap="square" lIns="0" tIns="0" rIns="0" bIns="0" rtlCol="0" anchor="ctr"/>
          <a:lstStyle/>
          <a:p>
            <a:pPr marL="0" indent="0">
              <a:buNone/>
            </a:pPr>
            <a:r>
              <a:rPr lang="en-US" sz="1200" b="1" dirty="0">
                <a:solidFill>
                  <a:srgbClr val="26221C"/>
                </a:solidFill>
                <a:latin typeface="Calibri" pitchFamily="34" charset="0"/>
                <a:ea typeface="Calibri" pitchFamily="34" charset="-122"/>
                <a:cs typeface="Calibri" pitchFamily="34" charset="-120"/>
              </a:rPr>
              <a:t>Chenab Impex</a:t>
            </a:r>
            <a:endParaRPr lang="en-US" sz="1200" dirty="0"/>
          </a:p>
        </p:txBody>
      </p:sp>
      <p:sp>
        <p:nvSpPr>
          <p:cNvPr id="26" name="Text 23"/>
          <p:cNvSpPr/>
          <p:nvPr/>
        </p:nvSpPr>
        <p:spPr>
          <a:xfrm>
            <a:off x="4023360" y="3913632"/>
            <a:ext cx="3291840" cy="365760"/>
          </a:xfrm>
          <a:prstGeom prst="rect">
            <a:avLst/>
          </a:prstGeom>
          <a:noFill/>
          <a:ln/>
        </p:spPr>
        <p:txBody>
          <a:bodyPr wrap="square" lIns="0" tIns="0" rIns="0" bIns="0" rtlCol="0" anchor="ctr"/>
          <a:lstStyle/>
          <a:p>
            <a:pPr marL="0" indent="0">
              <a:buNone/>
            </a:pPr>
            <a:r>
              <a:rPr lang="en-US" sz="1100" dirty="0">
                <a:solidFill>
                  <a:srgbClr val="6E5630"/>
                </a:solidFill>
                <a:latin typeface="Calibri" pitchFamily="34" charset="0"/>
                <a:ea typeface="Calibri" pitchFamily="34" charset="-122"/>
                <a:cs typeface="Calibri" pitchFamily="34" charset="-120"/>
              </a:rPr>
              <a:t>Anil Chandhok, CEO &amp; President</a:t>
            </a:r>
            <a:endParaRPr lang="en-US" sz="1100" dirty="0"/>
          </a:p>
        </p:txBody>
      </p:sp>
      <p:sp>
        <p:nvSpPr>
          <p:cNvPr id="27" name="Text 24"/>
          <p:cNvSpPr/>
          <p:nvPr/>
        </p:nvSpPr>
        <p:spPr>
          <a:xfrm>
            <a:off x="7406640" y="3913632"/>
            <a:ext cx="3931920" cy="365760"/>
          </a:xfrm>
          <a:prstGeom prst="rect">
            <a:avLst/>
          </a:prstGeom>
          <a:noFill/>
          <a:ln/>
        </p:spPr>
        <p:txBody>
          <a:bodyPr wrap="square" lIns="0" tIns="0" rIns="0" bIns="0" rtlCol="0" anchor="ctr"/>
          <a:lstStyle/>
          <a:p>
            <a:pPr marL="0" indent="0">
              <a:buNone/>
            </a:pPr>
            <a:r>
              <a:rPr lang="en-US" sz="1100" dirty="0">
                <a:solidFill>
                  <a:srgbClr val="4A4338"/>
                </a:solidFill>
                <a:latin typeface="Calibri" pitchFamily="34" charset="0"/>
                <a:ea typeface="Calibri" pitchFamily="34" charset="-122"/>
                <a:cs typeface="Calibri" pitchFamily="34" charset="-120"/>
              </a:rPr>
              <a:t>premium food and beverage importer, Mumbai</a:t>
            </a:r>
            <a:endParaRPr lang="en-US" sz="1100" dirty="0"/>
          </a:p>
        </p:txBody>
      </p:sp>
      <p:sp>
        <p:nvSpPr>
          <p:cNvPr id="28" name="Shape 25"/>
          <p:cNvSpPr/>
          <p:nvPr/>
        </p:nvSpPr>
        <p:spPr>
          <a:xfrm>
            <a:off x="822960" y="4288536"/>
            <a:ext cx="10515600" cy="0"/>
          </a:xfrm>
          <a:prstGeom prst="line">
            <a:avLst/>
          </a:prstGeom>
          <a:noFill/>
          <a:ln w="5080">
            <a:solidFill>
              <a:srgbClr val="D8CDB6"/>
            </a:solidFill>
            <a:prstDash val="solid"/>
          </a:ln>
        </p:spPr>
      </p:sp>
      <p:sp>
        <p:nvSpPr>
          <p:cNvPr id="29" name="Text 26"/>
          <p:cNvSpPr/>
          <p:nvPr/>
        </p:nvSpPr>
        <p:spPr>
          <a:xfrm>
            <a:off x="822960" y="4370832"/>
            <a:ext cx="3108960" cy="365760"/>
          </a:xfrm>
          <a:prstGeom prst="rect">
            <a:avLst/>
          </a:prstGeom>
          <a:noFill/>
          <a:ln/>
        </p:spPr>
        <p:txBody>
          <a:bodyPr wrap="square" lIns="0" tIns="0" rIns="0" bIns="0" rtlCol="0" anchor="ctr"/>
          <a:lstStyle/>
          <a:p>
            <a:pPr marL="0" indent="0">
              <a:buNone/>
            </a:pPr>
            <a:r>
              <a:rPr lang="en-US" sz="1200" b="1" dirty="0">
                <a:solidFill>
                  <a:srgbClr val="26221C"/>
                </a:solidFill>
                <a:latin typeface="Calibri" pitchFamily="34" charset="0"/>
                <a:ea typeface="Calibri" pitchFamily="34" charset="-122"/>
                <a:cs typeface="Calibri" pitchFamily="34" charset="-120"/>
              </a:rPr>
              <a:t>IndoSpirit Distribution</a:t>
            </a:r>
            <a:endParaRPr lang="en-US" sz="1200" dirty="0"/>
          </a:p>
        </p:txBody>
      </p:sp>
      <p:sp>
        <p:nvSpPr>
          <p:cNvPr id="30" name="Text 27"/>
          <p:cNvSpPr/>
          <p:nvPr/>
        </p:nvSpPr>
        <p:spPr>
          <a:xfrm>
            <a:off x="4023360" y="4370832"/>
            <a:ext cx="3291840" cy="365760"/>
          </a:xfrm>
          <a:prstGeom prst="rect">
            <a:avLst/>
          </a:prstGeom>
          <a:noFill/>
          <a:ln/>
        </p:spPr>
        <p:txBody>
          <a:bodyPr wrap="square" lIns="0" tIns="0" rIns="0" bIns="0" rtlCol="0" anchor="ctr"/>
          <a:lstStyle/>
          <a:p>
            <a:pPr marL="0" indent="0">
              <a:buNone/>
            </a:pPr>
            <a:r>
              <a:rPr lang="en-US" sz="1100" dirty="0">
                <a:solidFill>
                  <a:srgbClr val="6E5630"/>
                </a:solidFill>
                <a:latin typeface="Calibri" pitchFamily="34" charset="0"/>
                <a:ea typeface="Calibri" pitchFamily="34" charset="-122"/>
                <a:cs typeface="Calibri" pitchFamily="34" charset="-120"/>
              </a:rPr>
              <a:t>Sameer Mahandru, Founder</a:t>
            </a:r>
            <a:endParaRPr lang="en-US" sz="1100" dirty="0"/>
          </a:p>
        </p:txBody>
      </p:sp>
      <p:sp>
        <p:nvSpPr>
          <p:cNvPr id="31" name="Text 28"/>
          <p:cNvSpPr/>
          <p:nvPr/>
        </p:nvSpPr>
        <p:spPr>
          <a:xfrm>
            <a:off x="7406640" y="4370832"/>
            <a:ext cx="3931920" cy="365760"/>
          </a:xfrm>
          <a:prstGeom prst="rect">
            <a:avLst/>
          </a:prstGeom>
          <a:noFill/>
          <a:ln/>
        </p:spPr>
        <p:txBody>
          <a:bodyPr wrap="square" lIns="0" tIns="0" rIns="0" bIns="0" rtlCol="0" anchor="ctr"/>
          <a:lstStyle/>
          <a:p>
            <a:pPr marL="0" indent="0">
              <a:buNone/>
            </a:pPr>
            <a:r>
              <a:rPr lang="en-US" sz="1100" dirty="0">
                <a:solidFill>
                  <a:srgbClr val="4A4338"/>
                </a:solidFill>
                <a:latin typeface="Calibri" pitchFamily="34" charset="0"/>
                <a:ea typeface="Calibri" pitchFamily="34" charset="-122"/>
                <a:cs typeface="Calibri" pitchFamily="34" charset="-120"/>
              </a:rPr>
              <a:t>large importer and distributor, Delhi</a:t>
            </a:r>
            <a:endParaRPr lang="en-US" sz="1100" dirty="0"/>
          </a:p>
        </p:txBody>
      </p:sp>
      <p:sp>
        <p:nvSpPr>
          <p:cNvPr id="32" name="Shape 29"/>
          <p:cNvSpPr/>
          <p:nvPr/>
        </p:nvSpPr>
        <p:spPr>
          <a:xfrm>
            <a:off x="822960" y="4745736"/>
            <a:ext cx="10515600" cy="0"/>
          </a:xfrm>
          <a:prstGeom prst="line">
            <a:avLst/>
          </a:prstGeom>
          <a:noFill/>
          <a:ln w="5080">
            <a:solidFill>
              <a:srgbClr val="D8CDB6"/>
            </a:solidFill>
            <a:prstDash val="solid"/>
          </a:ln>
        </p:spPr>
      </p:sp>
      <p:sp>
        <p:nvSpPr>
          <p:cNvPr id="33" name="Text 30"/>
          <p:cNvSpPr/>
          <p:nvPr/>
        </p:nvSpPr>
        <p:spPr>
          <a:xfrm>
            <a:off x="822960" y="4828032"/>
            <a:ext cx="3108960" cy="365760"/>
          </a:xfrm>
          <a:prstGeom prst="rect">
            <a:avLst/>
          </a:prstGeom>
          <a:noFill/>
          <a:ln/>
        </p:spPr>
        <p:txBody>
          <a:bodyPr wrap="square" lIns="0" tIns="0" rIns="0" bIns="0" rtlCol="0" anchor="ctr"/>
          <a:lstStyle/>
          <a:p>
            <a:pPr marL="0" indent="0">
              <a:buNone/>
            </a:pPr>
            <a:r>
              <a:rPr lang="en-US" sz="1200" b="1" dirty="0">
                <a:solidFill>
                  <a:srgbClr val="26221C"/>
                </a:solidFill>
                <a:latin typeface="Calibri" pitchFamily="34" charset="0"/>
                <a:ea typeface="Calibri" pitchFamily="34" charset="-122"/>
                <a:cs typeface="Calibri" pitchFamily="34" charset="-120"/>
              </a:rPr>
              <a:t>Globus Spirits</a:t>
            </a:r>
            <a:endParaRPr lang="en-US" sz="1200" dirty="0"/>
          </a:p>
        </p:txBody>
      </p:sp>
      <p:sp>
        <p:nvSpPr>
          <p:cNvPr id="34" name="Text 31"/>
          <p:cNvSpPr/>
          <p:nvPr/>
        </p:nvSpPr>
        <p:spPr>
          <a:xfrm>
            <a:off x="4023360" y="4828032"/>
            <a:ext cx="3291840" cy="365760"/>
          </a:xfrm>
          <a:prstGeom prst="rect">
            <a:avLst/>
          </a:prstGeom>
          <a:noFill/>
          <a:ln/>
        </p:spPr>
        <p:txBody>
          <a:bodyPr wrap="square" lIns="0" tIns="0" rIns="0" bIns="0" rtlCol="0" anchor="ctr"/>
          <a:lstStyle/>
          <a:p>
            <a:pPr marL="0" indent="0">
              <a:buNone/>
            </a:pPr>
            <a:r>
              <a:rPr lang="en-US" sz="1100" dirty="0">
                <a:solidFill>
                  <a:srgbClr val="6E5630"/>
                </a:solidFill>
                <a:latin typeface="Calibri" pitchFamily="34" charset="0"/>
                <a:ea typeface="Calibri" pitchFamily="34" charset="-122"/>
                <a:cs typeface="Calibri" pitchFamily="34" charset="-120"/>
              </a:rPr>
              <a:t>Sunil Chadha, Chairman</a:t>
            </a:r>
            <a:endParaRPr lang="en-US" sz="1100" dirty="0"/>
          </a:p>
        </p:txBody>
      </p:sp>
      <p:sp>
        <p:nvSpPr>
          <p:cNvPr id="35" name="Text 32"/>
          <p:cNvSpPr/>
          <p:nvPr/>
        </p:nvSpPr>
        <p:spPr>
          <a:xfrm>
            <a:off x="7406640" y="4828032"/>
            <a:ext cx="3931920" cy="365760"/>
          </a:xfrm>
          <a:prstGeom prst="rect">
            <a:avLst/>
          </a:prstGeom>
          <a:noFill/>
          <a:ln/>
        </p:spPr>
        <p:txBody>
          <a:bodyPr wrap="square" lIns="0" tIns="0" rIns="0" bIns="0" rtlCol="0" anchor="ctr"/>
          <a:lstStyle/>
          <a:p>
            <a:pPr marL="0" indent="0">
              <a:buNone/>
            </a:pPr>
            <a:r>
              <a:rPr lang="en-US" sz="1100" dirty="0">
                <a:solidFill>
                  <a:srgbClr val="4A4338"/>
                </a:solidFill>
                <a:latin typeface="Calibri" pitchFamily="34" charset="0"/>
                <a:ea typeface="Calibri" pitchFamily="34" charset="-122"/>
                <a:cs typeface="Calibri" pitchFamily="34" charset="-120"/>
              </a:rPr>
              <a:t>listed distiller, premiumising its portfolio</a:t>
            </a:r>
            <a:endParaRPr lang="en-US" sz="1100" dirty="0"/>
          </a:p>
        </p:txBody>
      </p:sp>
      <p:sp>
        <p:nvSpPr>
          <p:cNvPr id="36" name="Shape 33"/>
          <p:cNvSpPr/>
          <p:nvPr/>
        </p:nvSpPr>
        <p:spPr>
          <a:xfrm>
            <a:off x="822960" y="5202936"/>
            <a:ext cx="10515600" cy="0"/>
          </a:xfrm>
          <a:prstGeom prst="line">
            <a:avLst/>
          </a:prstGeom>
          <a:noFill/>
          <a:ln w="5080">
            <a:solidFill>
              <a:srgbClr val="D8CDB6"/>
            </a:solidFill>
            <a:prstDash val="solid"/>
          </a:ln>
        </p:spPr>
      </p:sp>
      <p:sp>
        <p:nvSpPr>
          <p:cNvPr id="37" name="Text 34"/>
          <p:cNvSpPr/>
          <p:nvPr/>
        </p:nvSpPr>
        <p:spPr>
          <a:xfrm>
            <a:off x="822960" y="5285232"/>
            <a:ext cx="3108960" cy="365760"/>
          </a:xfrm>
          <a:prstGeom prst="rect">
            <a:avLst/>
          </a:prstGeom>
          <a:noFill/>
          <a:ln/>
        </p:spPr>
        <p:txBody>
          <a:bodyPr wrap="square" lIns="0" tIns="0" rIns="0" bIns="0" rtlCol="0" anchor="ctr"/>
          <a:lstStyle/>
          <a:p>
            <a:pPr marL="0" indent="0">
              <a:buNone/>
            </a:pPr>
            <a:r>
              <a:rPr lang="en-US" sz="1200" b="1" dirty="0">
                <a:solidFill>
                  <a:srgbClr val="26221C"/>
                </a:solidFill>
                <a:latin typeface="Calibri" pitchFamily="34" charset="0"/>
                <a:ea typeface="Calibri" pitchFamily="34" charset="-122"/>
                <a:cs typeface="Calibri" pitchFamily="34" charset="-120"/>
              </a:rPr>
              <a:t>Devans Modern Breweries</a:t>
            </a:r>
            <a:endParaRPr lang="en-US" sz="1200" dirty="0"/>
          </a:p>
        </p:txBody>
      </p:sp>
      <p:sp>
        <p:nvSpPr>
          <p:cNvPr id="38" name="Text 35"/>
          <p:cNvSpPr/>
          <p:nvPr/>
        </p:nvSpPr>
        <p:spPr>
          <a:xfrm>
            <a:off x="4023360" y="5285232"/>
            <a:ext cx="3291840" cy="365760"/>
          </a:xfrm>
          <a:prstGeom prst="rect">
            <a:avLst/>
          </a:prstGeom>
          <a:noFill/>
          <a:ln/>
        </p:spPr>
        <p:txBody>
          <a:bodyPr wrap="square" lIns="0" tIns="0" rIns="0" bIns="0" rtlCol="0" anchor="ctr"/>
          <a:lstStyle/>
          <a:p>
            <a:pPr marL="0" indent="0">
              <a:buNone/>
            </a:pPr>
            <a:r>
              <a:rPr lang="en-US" sz="1100" dirty="0">
                <a:solidFill>
                  <a:srgbClr val="6E5630"/>
                </a:solidFill>
                <a:latin typeface="Calibri" pitchFamily="34" charset="0"/>
                <a:ea typeface="Calibri" pitchFamily="34" charset="-122"/>
                <a:cs typeface="Calibri" pitchFamily="34" charset="-120"/>
              </a:rPr>
              <a:t>Prem Dewan, Chairman &amp; MD</a:t>
            </a:r>
            <a:endParaRPr lang="en-US" sz="1100" dirty="0"/>
          </a:p>
        </p:txBody>
      </p:sp>
      <p:sp>
        <p:nvSpPr>
          <p:cNvPr id="39" name="Text 36"/>
          <p:cNvSpPr/>
          <p:nvPr/>
        </p:nvSpPr>
        <p:spPr>
          <a:xfrm>
            <a:off x="7406640" y="5285232"/>
            <a:ext cx="3931920" cy="365760"/>
          </a:xfrm>
          <a:prstGeom prst="rect">
            <a:avLst/>
          </a:prstGeom>
          <a:noFill/>
          <a:ln/>
        </p:spPr>
        <p:txBody>
          <a:bodyPr wrap="square" lIns="0" tIns="0" rIns="0" bIns="0" rtlCol="0" anchor="ctr"/>
          <a:lstStyle/>
          <a:p>
            <a:pPr marL="0" indent="0">
              <a:buNone/>
            </a:pPr>
            <a:r>
              <a:rPr lang="en-US" sz="1100" dirty="0">
                <a:solidFill>
                  <a:srgbClr val="4A4338"/>
                </a:solidFill>
                <a:latin typeface="Calibri" pitchFamily="34" charset="0"/>
                <a:ea typeface="Calibri" pitchFamily="34" charset="-122"/>
                <a:cs typeface="Calibri" pitchFamily="34" charset="-120"/>
              </a:rPr>
              <a:t>brewer and distiller, the North</a:t>
            </a:r>
            <a:endParaRPr lang="en-US" sz="1100" dirty="0"/>
          </a:p>
        </p:txBody>
      </p:sp>
      <p:sp>
        <p:nvSpPr>
          <p:cNvPr id="40" name="Shape 37"/>
          <p:cNvSpPr/>
          <p:nvPr/>
        </p:nvSpPr>
        <p:spPr>
          <a:xfrm>
            <a:off x="822960" y="5660136"/>
            <a:ext cx="10515600" cy="0"/>
          </a:xfrm>
          <a:prstGeom prst="line">
            <a:avLst/>
          </a:prstGeom>
          <a:noFill/>
          <a:ln w="5080">
            <a:solidFill>
              <a:srgbClr val="D8CDB6"/>
            </a:solidFill>
            <a:prstDash val="solid"/>
          </a:ln>
        </p:spPr>
      </p:sp>
      <p:sp>
        <p:nvSpPr>
          <p:cNvPr id="41" name="Text 38"/>
          <p:cNvSpPr/>
          <p:nvPr/>
        </p:nvSpPr>
        <p:spPr>
          <a:xfrm>
            <a:off x="822960" y="5742432"/>
            <a:ext cx="3108960" cy="365760"/>
          </a:xfrm>
          <a:prstGeom prst="rect">
            <a:avLst/>
          </a:prstGeom>
          <a:noFill/>
          <a:ln/>
        </p:spPr>
        <p:txBody>
          <a:bodyPr wrap="square" lIns="0" tIns="0" rIns="0" bIns="0" rtlCol="0" anchor="ctr"/>
          <a:lstStyle/>
          <a:p>
            <a:pPr marL="0" indent="0">
              <a:buNone/>
            </a:pPr>
            <a:r>
              <a:rPr lang="en-US" sz="1200" b="1" dirty="0">
                <a:solidFill>
                  <a:srgbClr val="26221C"/>
                </a:solidFill>
                <a:latin typeface="Calibri" pitchFamily="34" charset="0"/>
                <a:ea typeface="Calibri" pitchFamily="34" charset="-122"/>
                <a:cs typeface="Calibri" pitchFamily="34" charset="-120"/>
              </a:rPr>
              <a:t>Arbor Brewing India</a:t>
            </a:r>
            <a:endParaRPr lang="en-US" sz="1200" dirty="0"/>
          </a:p>
        </p:txBody>
      </p:sp>
      <p:sp>
        <p:nvSpPr>
          <p:cNvPr id="42" name="Text 39"/>
          <p:cNvSpPr/>
          <p:nvPr/>
        </p:nvSpPr>
        <p:spPr>
          <a:xfrm>
            <a:off x="4023360" y="5742432"/>
            <a:ext cx="3291840" cy="365760"/>
          </a:xfrm>
          <a:prstGeom prst="rect">
            <a:avLst/>
          </a:prstGeom>
          <a:noFill/>
          <a:ln/>
        </p:spPr>
        <p:txBody>
          <a:bodyPr wrap="square" lIns="0" tIns="0" rIns="0" bIns="0" rtlCol="0" anchor="ctr"/>
          <a:lstStyle/>
          <a:p>
            <a:pPr marL="0" indent="0">
              <a:buNone/>
            </a:pPr>
            <a:r>
              <a:rPr lang="en-US" sz="1100" dirty="0">
                <a:solidFill>
                  <a:srgbClr val="6E5630"/>
                </a:solidFill>
                <a:latin typeface="Calibri" pitchFamily="34" charset="0"/>
                <a:ea typeface="Calibri" pitchFamily="34" charset="-122"/>
                <a:cs typeface="Calibri" pitchFamily="34" charset="-120"/>
              </a:rPr>
              <a:t>Gaurav Sikka, MD</a:t>
            </a:r>
            <a:endParaRPr lang="en-US" sz="1100" dirty="0"/>
          </a:p>
        </p:txBody>
      </p:sp>
      <p:sp>
        <p:nvSpPr>
          <p:cNvPr id="43" name="Text 40"/>
          <p:cNvSpPr/>
          <p:nvPr/>
        </p:nvSpPr>
        <p:spPr>
          <a:xfrm>
            <a:off x="7406640" y="5742432"/>
            <a:ext cx="3931920" cy="365760"/>
          </a:xfrm>
          <a:prstGeom prst="rect">
            <a:avLst/>
          </a:prstGeom>
          <a:noFill/>
          <a:ln/>
        </p:spPr>
        <p:txBody>
          <a:bodyPr wrap="square" lIns="0" tIns="0" rIns="0" bIns="0" rtlCol="0" anchor="ctr"/>
          <a:lstStyle/>
          <a:p>
            <a:pPr marL="0" indent="0">
              <a:buNone/>
            </a:pPr>
            <a:r>
              <a:rPr lang="en-US" sz="1100" dirty="0">
                <a:solidFill>
                  <a:srgbClr val="4A4338"/>
                </a:solidFill>
                <a:latin typeface="Calibri" pitchFamily="34" charset="0"/>
                <a:ea typeface="Calibri" pitchFamily="34" charset="-122"/>
                <a:cs typeface="Calibri" pitchFamily="34" charset="-120"/>
              </a:rPr>
              <a:t>craft brewer, Bengaluru</a:t>
            </a:r>
            <a:endParaRPr lang="en-US" sz="1100" dirty="0"/>
          </a:p>
        </p:txBody>
      </p:sp>
      <p:sp>
        <p:nvSpPr>
          <p:cNvPr id="44" name="Text 41"/>
          <p:cNvSpPr/>
          <p:nvPr/>
        </p:nvSpPr>
        <p:spPr>
          <a:xfrm>
            <a:off x="822960" y="6263640"/>
            <a:ext cx="10515600" cy="320040"/>
          </a:xfrm>
          <a:prstGeom prst="rect">
            <a:avLst/>
          </a:prstGeom>
          <a:noFill/>
          <a:ln/>
        </p:spPr>
        <p:txBody>
          <a:bodyPr wrap="square" lIns="0" tIns="0" rIns="0" bIns="0" rtlCol="0" anchor="ctr"/>
          <a:lstStyle/>
          <a:p>
            <a:pPr marL="0" indent="0">
              <a:buNone/>
            </a:pPr>
            <a:r>
              <a:rPr lang="en-US" sz="1200" b="1" i="1" dirty="0">
                <a:solidFill>
                  <a:srgbClr val="6E5630"/>
                </a:solidFill>
                <a:latin typeface="Calibri" pitchFamily="34" charset="0"/>
                <a:ea typeface="Calibri" pitchFamily="34" charset="-122"/>
                <a:cs typeface="Calibri" pitchFamily="34" charset="-120"/>
              </a:rPr>
              <a:t>All contact runs through the Council until your meeting is set.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8F1"/>
        </a:solidFill>
        <a:effectLst/>
      </p:bgPr>
    </p:bg>
    <p:spTree>
      <p:nvGrpSpPr>
        <p:cNvPr id="1" name=""/>
        <p:cNvGrpSpPr/>
        <p:nvPr/>
      </p:nvGrpSpPr>
      <p:grpSpPr>
        <a:xfrm>
          <a:off x="0" y="0"/>
          <a:ext cx="0" cy="0"/>
          <a:chOff x="0" y="0"/>
          <a:chExt cx="0" cy="0"/>
        </a:xfrm>
      </p:grpSpPr>
      <p:sp>
        <p:nvSpPr>
          <p:cNvPr id="3" name="Text 0"/>
          <p:cNvSpPr/>
          <p:nvPr/>
        </p:nvSpPr>
        <p:spPr>
          <a:xfrm>
            <a:off x="822960" y="502920"/>
            <a:ext cx="10515600" cy="310896"/>
          </a:xfrm>
          <a:prstGeom prst="rect">
            <a:avLst/>
          </a:prstGeom>
          <a:noFill/>
          <a:ln/>
        </p:spPr>
        <p:txBody>
          <a:bodyPr wrap="square" lIns="0" tIns="0" rIns="0" bIns="0" rtlCol="0" anchor="ctr"/>
          <a:lstStyle/>
          <a:p>
            <a:pPr marL="0" indent="0">
              <a:buNone/>
            </a:pPr>
            <a:r>
              <a:rPr lang="en-US" sz="1100" b="1" dirty="0">
                <a:solidFill>
                  <a:srgbClr val="8B6E3D"/>
                </a:solidFill>
                <a:latin typeface="Calibri" pitchFamily="34" charset="0"/>
                <a:ea typeface="Calibri" pitchFamily="34" charset="-122"/>
                <a:cs typeface="Calibri" pitchFamily="34" charset="-120"/>
              </a:rPr>
              <a:t>W H Y   T H E S E   D E S K S   M A T T E R</a:t>
            </a:r>
            <a:endParaRPr lang="en-US" sz="1100" dirty="0"/>
          </a:p>
        </p:txBody>
      </p:sp>
      <p:sp>
        <p:nvSpPr>
          <p:cNvPr id="4" name="Text 1"/>
          <p:cNvSpPr/>
          <p:nvPr/>
        </p:nvSpPr>
        <p:spPr>
          <a:xfrm>
            <a:off x="822960" y="877824"/>
            <a:ext cx="10607040" cy="603504"/>
          </a:xfrm>
          <a:prstGeom prst="rect">
            <a:avLst/>
          </a:prstGeom>
          <a:noFill/>
          <a:ln/>
        </p:spPr>
        <p:txBody>
          <a:bodyPr wrap="square" lIns="0" tIns="0" rIns="0" bIns="0" rtlCol="0" anchor="ctr"/>
          <a:lstStyle/>
          <a:p>
            <a:pPr marL="0" indent="0">
              <a:buNone/>
            </a:pPr>
            <a:r>
              <a:rPr lang="en-US" sz="2600" dirty="0">
                <a:solidFill>
                  <a:srgbClr val="26221C"/>
                </a:solidFill>
                <a:latin typeface="Bookman Old Style" pitchFamily="34" charset="0"/>
                <a:ea typeface="Bookman Old Style" pitchFamily="34" charset="-122"/>
                <a:cs typeface="Bookman Old Style" pitchFamily="34" charset="-120"/>
              </a:rPr>
              <a:t>Tequila already pays Indian importers. Handsomely.</a:t>
            </a:r>
            <a:endParaRPr lang="en-US" sz="2600" dirty="0"/>
          </a:p>
        </p:txBody>
      </p:sp>
      <p:sp>
        <p:nvSpPr>
          <p:cNvPr id="5" name="Text 2"/>
          <p:cNvSpPr/>
          <p:nvPr/>
        </p:nvSpPr>
        <p:spPr>
          <a:xfrm>
            <a:off x="822960" y="1828800"/>
            <a:ext cx="3977640" cy="868680"/>
          </a:xfrm>
          <a:prstGeom prst="rect">
            <a:avLst/>
          </a:prstGeom>
          <a:noFill/>
          <a:ln/>
        </p:spPr>
        <p:txBody>
          <a:bodyPr wrap="square" lIns="0" tIns="0" rIns="0" bIns="0" rtlCol="0" anchor="t"/>
          <a:lstStyle/>
          <a:p>
            <a:pPr marL="0" indent="0">
              <a:lnSpc>
                <a:spcPts val="1750"/>
              </a:lnSpc>
              <a:buNone/>
            </a:pPr>
            <a:r>
              <a:rPr lang="en-US" sz="1400" b="1" dirty="0">
                <a:solidFill>
                  <a:srgbClr val="26221C"/>
                </a:solidFill>
                <a:latin typeface="Calibri" pitchFamily="34" charset="0"/>
                <a:ea typeface="Calibri" pitchFamily="34" charset="-122"/>
                <a:cs typeface="Calibri" pitchFamily="34" charset="-120"/>
              </a:rPr>
              <a:t>The category is proven at these desks.</a:t>
            </a:r>
            <a:endParaRPr lang="en-US" sz="1400" dirty="0"/>
          </a:p>
        </p:txBody>
      </p:sp>
      <p:sp>
        <p:nvSpPr>
          <p:cNvPr id="6" name="Text 3"/>
          <p:cNvSpPr/>
          <p:nvPr/>
        </p:nvSpPr>
        <p:spPr>
          <a:xfrm>
            <a:off x="5029200" y="1837944"/>
            <a:ext cx="6309360" cy="868680"/>
          </a:xfrm>
          <a:prstGeom prst="rect">
            <a:avLst/>
          </a:prstGeom>
          <a:noFill/>
          <a:ln/>
        </p:spPr>
        <p:txBody>
          <a:bodyPr wrap="square" lIns="0" tIns="0" rIns="0" bIns="0" rtlCol="0" anchor="t"/>
          <a:lstStyle/>
          <a:p>
            <a:pPr marL="0" indent="0">
              <a:lnSpc>
                <a:spcPts val="1650"/>
              </a:lnSpc>
              <a:buNone/>
            </a:pPr>
            <a:r>
              <a:rPr lang="en-US" sz="1300" dirty="0">
                <a:solidFill>
                  <a:srgbClr val="4A4338"/>
                </a:solidFill>
                <a:latin typeface="Calibri" pitchFamily="34" charset="0"/>
                <a:ea typeface="Calibri" pitchFamily="34" charset="-122"/>
                <a:cs typeface="Calibri" pitchFamily="34" charset="-120"/>
              </a:rPr>
              <a:t>Jose Cuervo and 1800 flow through a single Indian importer, roughly a fifth of the country's tequila imports. Don Julio moves through Diageo, Patrón through Bacardi. Tequila sales in India nearly doubled in 2024.</a:t>
            </a:r>
            <a:endParaRPr lang="en-US" sz="1300" dirty="0"/>
          </a:p>
        </p:txBody>
      </p:sp>
      <p:sp>
        <p:nvSpPr>
          <p:cNvPr id="7" name="Shape 4"/>
          <p:cNvSpPr/>
          <p:nvPr/>
        </p:nvSpPr>
        <p:spPr>
          <a:xfrm>
            <a:off x="822960" y="2880360"/>
            <a:ext cx="10515600" cy="0"/>
          </a:xfrm>
          <a:prstGeom prst="line">
            <a:avLst/>
          </a:prstGeom>
          <a:noFill/>
          <a:ln w="6350">
            <a:solidFill>
              <a:srgbClr val="D8CDB6"/>
            </a:solidFill>
            <a:prstDash val="solid"/>
          </a:ln>
        </p:spPr>
      </p:sp>
      <p:sp>
        <p:nvSpPr>
          <p:cNvPr id="8" name="Text 5"/>
          <p:cNvSpPr/>
          <p:nvPr/>
        </p:nvSpPr>
        <p:spPr>
          <a:xfrm>
            <a:off x="822960" y="3017520"/>
            <a:ext cx="3977640" cy="868680"/>
          </a:xfrm>
          <a:prstGeom prst="rect">
            <a:avLst/>
          </a:prstGeom>
          <a:noFill/>
          <a:ln/>
        </p:spPr>
        <p:txBody>
          <a:bodyPr wrap="square" lIns="0" tIns="0" rIns="0" bIns="0" rtlCol="0" anchor="t"/>
          <a:lstStyle/>
          <a:p>
            <a:pPr marL="0" indent="0">
              <a:lnSpc>
                <a:spcPts val="1750"/>
              </a:lnSpc>
              <a:buNone/>
            </a:pPr>
            <a:r>
              <a:rPr lang="en-US" sz="1400" b="1" dirty="0">
                <a:solidFill>
                  <a:srgbClr val="26221C"/>
                </a:solidFill>
                <a:latin typeface="Calibri" pitchFamily="34" charset="0"/>
                <a:ea typeface="Calibri" pitchFamily="34" charset="-122"/>
                <a:cs typeface="Calibri" pitchFamily="34" charset="-120"/>
              </a:rPr>
              <a:t>The room we built covers all three tiers.</a:t>
            </a:r>
            <a:endParaRPr lang="en-US" sz="1400" dirty="0"/>
          </a:p>
        </p:txBody>
      </p:sp>
      <p:sp>
        <p:nvSpPr>
          <p:cNvPr id="9" name="Text 6"/>
          <p:cNvSpPr/>
          <p:nvPr/>
        </p:nvSpPr>
        <p:spPr>
          <a:xfrm>
            <a:off x="5029200" y="3026664"/>
            <a:ext cx="6309360" cy="868680"/>
          </a:xfrm>
          <a:prstGeom prst="rect">
            <a:avLst/>
          </a:prstGeom>
          <a:noFill/>
          <a:ln/>
        </p:spPr>
        <p:txBody>
          <a:bodyPr wrap="square" lIns="0" tIns="0" rIns="0" bIns="0" rtlCol="0" anchor="t"/>
          <a:lstStyle/>
          <a:p>
            <a:pPr marL="0" indent="0">
              <a:lnSpc>
                <a:spcPts val="1650"/>
              </a:lnSpc>
              <a:buNone/>
            </a:pPr>
            <a:r>
              <a:rPr lang="en-US" sz="1300" dirty="0">
                <a:solidFill>
                  <a:srgbClr val="4A4338"/>
                </a:solidFill>
                <a:latin typeface="Calibri" pitchFamily="34" charset="0"/>
                <a:ea typeface="Calibri" pitchFamily="34" charset="-122"/>
                <a:cs typeface="Calibri" pitchFamily="34" charset="-120"/>
              </a:rPr>
              <a:t>Curated importers who champion craft. Distribution houses with national reach. And strategics whose shelves and licences span the country: the exact map we taught in Session 6.</a:t>
            </a:r>
            <a:endParaRPr lang="en-US" sz="1300" dirty="0"/>
          </a:p>
        </p:txBody>
      </p:sp>
      <p:sp>
        <p:nvSpPr>
          <p:cNvPr id="10" name="Shape 7"/>
          <p:cNvSpPr/>
          <p:nvPr/>
        </p:nvSpPr>
        <p:spPr>
          <a:xfrm>
            <a:off x="822960" y="4069080"/>
            <a:ext cx="10515600" cy="0"/>
          </a:xfrm>
          <a:prstGeom prst="line">
            <a:avLst/>
          </a:prstGeom>
          <a:noFill/>
          <a:ln w="6350">
            <a:solidFill>
              <a:srgbClr val="D8CDB6"/>
            </a:solidFill>
            <a:prstDash val="solid"/>
          </a:ln>
        </p:spPr>
      </p:sp>
      <p:sp>
        <p:nvSpPr>
          <p:cNvPr id="11" name="Text 8"/>
          <p:cNvSpPr/>
          <p:nvPr/>
        </p:nvSpPr>
        <p:spPr>
          <a:xfrm>
            <a:off x="822960" y="4206240"/>
            <a:ext cx="3977640" cy="868680"/>
          </a:xfrm>
          <a:prstGeom prst="rect">
            <a:avLst/>
          </a:prstGeom>
          <a:noFill/>
          <a:ln/>
        </p:spPr>
        <p:txBody>
          <a:bodyPr wrap="square" lIns="0" tIns="0" rIns="0" bIns="0" rtlCol="0" anchor="t"/>
          <a:lstStyle/>
          <a:p>
            <a:pPr marL="0" indent="0">
              <a:lnSpc>
                <a:spcPts val="1750"/>
              </a:lnSpc>
              <a:buNone/>
            </a:pPr>
            <a:r>
              <a:rPr lang="en-US" sz="1400" b="1" dirty="0">
                <a:solidFill>
                  <a:srgbClr val="26221C"/>
                </a:solidFill>
                <a:latin typeface="Calibri" pitchFamily="34" charset="0"/>
                <a:ea typeface="Calibri" pitchFamily="34" charset="-122"/>
                <a:cs typeface="Calibri" pitchFamily="34" charset="-120"/>
              </a:rPr>
              <a:t>The second wave is in motion.</a:t>
            </a:r>
            <a:endParaRPr lang="en-US" sz="1400" dirty="0"/>
          </a:p>
        </p:txBody>
      </p:sp>
      <p:sp>
        <p:nvSpPr>
          <p:cNvPr id="12" name="Text 9"/>
          <p:cNvSpPr/>
          <p:nvPr/>
        </p:nvSpPr>
        <p:spPr>
          <a:xfrm>
            <a:off x="5029200" y="4215384"/>
            <a:ext cx="6309360" cy="868680"/>
          </a:xfrm>
          <a:prstGeom prst="rect">
            <a:avLst/>
          </a:prstGeom>
          <a:noFill/>
          <a:ln/>
        </p:spPr>
        <p:txBody>
          <a:bodyPr wrap="square" lIns="0" tIns="0" rIns="0" bIns="0" rtlCol="0" anchor="t"/>
          <a:lstStyle/>
          <a:p>
            <a:pPr marL="0" indent="0">
              <a:lnSpc>
                <a:spcPts val="1650"/>
              </a:lnSpc>
              <a:buNone/>
            </a:pPr>
            <a:r>
              <a:rPr lang="en-US" sz="1300" dirty="0">
                <a:solidFill>
                  <a:srgbClr val="4A4338"/>
                </a:solidFill>
                <a:latin typeface="Calibri" pitchFamily="34" charset="0"/>
                <a:ea typeface="Calibri" pitchFamily="34" charset="-122"/>
                <a:cs typeface="Calibri" pitchFamily="34" charset="-120"/>
              </a:rPr>
              <a:t>This morning's invitation, carrying the Consulate's flag, is on the desks of India's largest independent importers now. Confirmations land next week, and the room grows past twenty.</a:t>
            </a:r>
            <a:endParaRPr lang="en-US" sz="1300" dirty="0"/>
          </a:p>
        </p:txBody>
      </p:sp>
      <p:sp>
        <p:nvSpPr>
          <p:cNvPr id="13" name="Shape 10"/>
          <p:cNvSpPr/>
          <p:nvPr/>
        </p:nvSpPr>
        <p:spPr>
          <a:xfrm>
            <a:off x="850392" y="5943600"/>
            <a:ext cx="2011680" cy="0"/>
          </a:xfrm>
          <a:prstGeom prst="line">
            <a:avLst/>
          </a:prstGeom>
          <a:noFill/>
          <a:ln w="12700">
            <a:solidFill>
              <a:srgbClr val="6E5630"/>
            </a:solidFill>
            <a:prstDash val="solid"/>
          </a:ln>
        </p:spPr>
      </p:sp>
      <p:sp>
        <p:nvSpPr>
          <p:cNvPr id="14" name="Text 11"/>
          <p:cNvSpPr/>
          <p:nvPr/>
        </p:nvSpPr>
        <p:spPr>
          <a:xfrm>
            <a:off x="822960" y="6035040"/>
            <a:ext cx="10515600" cy="365760"/>
          </a:xfrm>
          <a:prstGeom prst="rect">
            <a:avLst/>
          </a:prstGeom>
          <a:noFill/>
          <a:ln/>
        </p:spPr>
        <p:txBody>
          <a:bodyPr wrap="square" lIns="0" tIns="0" rIns="0" bIns="0" rtlCol="0" anchor="ctr"/>
          <a:lstStyle/>
          <a:p>
            <a:pPr marL="0" indent="0">
              <a:buNone/>
            </a:pPr>
            <a:r>
              <a:rPr lang="en-US" sz="1350" b="1" i="1" dirty="0">
                <a:solidFill>
                  <a:srgbClr val="6E5630"/>
                </a:solidFill>
                <a:latin typeface="Calibri" pitchFamily="34" charset="0"/>
                <a:ea typeface="Calibri" pitchFamily="34" charset="-122"/>
                <a:cs typeface="Calibri" pitchFamily="34" charset="-120"/>
              </a:rPr>
              <a:t>The question is no longer whether India buys tequila. It is whose tequila India buys next.</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8F1"/>
        </a:solidFill>
        <a:effectLst/>
      </p:bgPr>
    </p:bg>
    <p:spTree>
      <p:nvGrpSpPr>
        <p:cNvPr id="1" name=""/>
        <p:cNvGrpSpPr/>
        <p:nvPr/>
      </p:nvGrpSpPr>
      <p:grpSpPr>
        <a:xfrm>
          <a:off x="0" y="0"/>
          <a:ext cx="0" cy="0"/>
          <a:chOff x="0" y="0"/>
          <a:chExt cx="0" cy="0"/>
        </a:xfrm>
      </p:grpSpPr>
      <p:sp>
        <p:nvSpPr>
          <p:cNvPr id="3" name="Text 0"/>
          <p:cNvSpPr/>
          <p:nvPr/>
        </p:nvSpPr>
        <p:spPr>
          <a:xfrm>
            <a:off x="822960" y="502920"/>
            <a:ext cx="10515600" cy="310896"/>
          </a:xfrm>
          <a:prstGeom prst="rect">
            <a:avLst/>
          </a:prstGeom>
          <a:noFill/>
          <a:ln/>
        </p:spPr>
        <p:txBody>
          <a:bodyPr wrap="square" lIns="0" tIns="0" rIns="0" bIns="0" rtlCol="0" anchor="ctr"/>
          <a:lstStyle/>
          <a:p>
            <a:pPr marL="0" indent="0">
              <a:buNone/>
            </a:pPr>
            <a:r>
              <a:rPr lang="en-US" sz="1100" b="1" dirty="0">
                <a:solidFill>
                  <a:srgbClr val="8B6E3D"/>
                </a:solidFill>
                <a:latin typeface="Calibri" pitchFamily="34" charset="0"/>
                <a:ea typeface="Calibri" pitchFamily="34" charset="-122"/>
                <a:cs typeface="Calibri" pitchFamily="34" charset="-120"/>
              </a:rPr>
              <a:t>T H U R S D A Y   2 0   A U G U S T      ·      3   P . M .   I S T</a:t>
            </a:r>
            <a:endParaRPr lang="en-US" sz="1100" dirty="0"/>
          </a:p>
        </p:txBody>
      </p:sp>
      <p:sp>
        <p:nvSpPr>
          <p:cNvPr id="4" name="Text 1"/>
          <p:cNvSpPr/>
          <p:nvPr/>
        </p:nvSpPr>
        <p:spPr>
          <a:xfrm>
            <a:off x="822960" y="877824"/>
            <a:ext cx="10607040" cy="603504"/>
          </a:xfrm>
          <a:prstGeom prst="rect">
            <a:avLst/>
          </a:prstGeom>
          <a:noFill/>
          <a:ln/>
        </p:spPr>
        <p:txBody>
          <a:bodyPr wrap="square" lIns="0" tIns="0" rIns="0" bIns="0" rtlCol="0" anchor="ctr"/>
          <a:lstStyle/>
          <a:p>
            <a:pPr marL="0" indent="0">
              <a:buNone/>
            </a:pPr>
            <a:r>
              <a:rPr lang="en-US" sz="2600" dirty="0">
                <a:solidFill>
                  <a:srgbClr val="26221C"/>
                </a:solidFill>
                <a:latin typeface="Bookman Old Style" pitchFamily="34" charset="0"/>
                <a:ea typeface="Bookman Old Style" pitchFamily="34" charset="-122"/>
                <a:cs typeface="Bookman Old Style" pitchFamily="34" charset="-120"/>
              </a:rPr>
              <a:t>On the 20th, we meet them. The week after, you do.</a:t>
            </a:r>
            <a:endParaRPr lang="en-US" sz="2600" dirty="0"/>
          </a:p>
        </p:txBody>
      </p:sp>
      <p:sp>
        <p:nvSpPr>
          <p:cNvPr id="5" name="Text 2"/>
          <p:cNvSpPr/>
          <p:nvPr/>
        </p:nvSpPr>
        <p:spPr>
          <a:xfrm>
            <a:off x="822960" y="1828800"/>
            <a:ext cx="3977640" cy="868680"/>
          </a:xfrm>
          <a:prstGeom prst="rect">
            <a:avLst/>
          </a:prstGeom>
          <a:noFill/>
          <a:ln/>
        </p:spPr>
        <p:txBody>
          <a:bodyPr wrap="square" lIns="0" tIns="0" rIns="0" bIns="0" rtlCol="0" anchor="t"/>
          <a:lstStyle/>
          <a:p>
            <a:pPr marL="0" indent="0">
              <a:lnSpc>
                <a:spcPts val="1750"/>
              </a:lnSpc>
              <a:buNone/>
            </a:pPr>
            <a:r>
              <a:rPr lang="en-US" sz="1400" b="1" dirty="0">
                <a:solidFill>
                  <a:srgbClr val="26221C"/>
                </a:solidFill>
                <a:latin typeface="Calibri" pitchFamily="34" charset="0"/>
                <a:ea typeface="Calibri" pitchFamily="34" charset="-122"/>
                <a:cs typeface="Calibri" pitchFamily="34" charset="-120"/>
              </a:rPr>
              <a:t>What happens on the 20th.</a:t>
            </a:r>
            <a:endParaRPr lang="en-US" sz="1400" dirty="0"/>
          </a:p>
        </p:txBody>
      </p:sp>
      <p:sp>
        <p:nvSpPr>
          <p:cNvPr id="6" name="Text 3"/>
          <p:cNvSpPr/>
          <p:nvPr/>
        </p:nvSpPr>
        <p:spPr>
          <a:xfrm>
            <a:off x="5029200" y="1837944"/>
            <a:ext cx="6309360" cy="868680"/>
          </a:xfrm>
          <a:prstGeom prst="rect">
            <a:avLst/>
          </a:prstGeom>
          <a:noFill/>
          <a:ln/>
        </p:spPr>
        <p:txBody>
          <a:bodyPr wrap="square" lIns="0" tIns="0" rIns="0" bIns="0" rtlCol="0" anchor="t"/>
          <a:lstStyle/>
          <a:p>
            <a:pPr marL="0" indent="0">
              <a:lnSpc>
                <a:spcPts val="1650"/>
              </a:lnSpc>
              <a:buNone/>
            </a:pPr>
            <a:r>
              <a:rPr lang="en-US" sz="1300" dirty="0">
                <a:solidFill>
                  <a:srgbClr val="4A4338"/>
                </a:solidFill>
                <a:latin typeface="Calibri" pitchFamily="34" charset="0"/>
                <a:ea typeface="Calibri" pitchFamily="34" charset="-122"/>
                <a:cs typeface="Calibri" pitchFamily="34" charset="-120"/>
              </a:rPr>
              <a:t>The India Spirits Importers Roundtable: these importers, the Consulate and the Council in one virtual room. They tell us what they want to source, at what prices, in what volumes, brands or private label or bulk.</a:t>
            </a:r>
            <a:endParaRPr lang="en-US" sz="1300" dirty="0"/>
          </a:p>
        </p:txBody>
      </p:sp>
      <p:sp>
        <p:nvSpPr>
          <p:cNvPr id="7" name="Shape 4"/>
          <p:cNvSpPr/>
          <p:nvPr/>
        </p:nvSpPr>
        <p:spPr>
          <a:xfrm>
            <a:off x="822960" y="2880360"/>
            <a:ext cx="10515600" cy="0"/>
          </a:xfrm>
          <a:prstGeom prst="line">
            <a:avLst/>
          </a:prstGeom>
          <a:noFill/>
          <a:ln w="6350">
            <a:solidFill>
              <a:srgbClr val="D8CDB6"/>
            </a:solidFill>
            <a:prstDash val="solid"/>
          </a:ln>
        </p:spPr>
      </p:sp>
      <p:sp>
        <p:nvSpPr>
          <p:cNvPr id="8" name="Text 5"/>
          <p:cNvSpPr/>
          <p:nvPr/>
        </p:nvSpPr>
        <p:spPr>
          <a:xfrm>
            <a:off x="822960" y="3017520"/>
            <a:ext cx="3977640" cy="868680"/>
          </a:xfrm>
          <a:prstGeom prst="rect">
            <a:avLst/>
          </a:prstGeom>
          <a:noFill/>
          <a:ln/>
        </p:spPr>
        <p:txBody>
          <a:bodyPr wrap="square" lIns="0" tIns="0" rIns="0" bIns="0" rtlCol="0" anchor="t"/>
          <a:lstStyle/>
          <a:p>
            <a:pPr marL="0" indent="0">
              <a:lnSpc>
                <a:spcPts val="1750"/>
              </a:lnSpc>
              <a:buNone/>
            </a:pPr>
            <a:r>
              <a:rPr lang="en-US" sz="1400" b="1" dirty="0">
                <a:solidFill>
                  <a:srgbClr val="26221C"/>
                </a:solidFill>
                <a:latin typeface="Calibri" pitchFamily="34" charset="0"/>
                <a:ea typeface="Calibri" pitchFamily="34" charset="-122"/>
                <a:cs typeface="Calibri" pitchFamily="34" charset="-120"/>
              </a:rPr>
              <a:t>What their answers become.</a:t>
            </a:r>
            <a:endParaRPr lang="en-US" sz="1400" dirty="0"/>
          </a:p>
        </p:txBody>
      </p:sp>
      <p:sp>
        <p:nvSpPr>
          <p:cNvPr id="9" name="Text 6"/>
          <p:cNvSpPr/>
          <p:nvPr/>
        </p:nvSpPr>
        <p:spPr>
          <a:xfrm>
            <a:off x="5029200" y="3026664"/>
            <a:ext cx="6309360" cy="868680"/>
          </a:xfrm>
          <a:prstGeom prst="rect">
            <a:avLst/>
          </a:prstGeom>
          <a:noFill/>
          <a:ln/>
        </p:spPr>
        <p:txBody>
          <a:bodyPr wrap="square" lIns="0" tIns="0" rIns="0" bIns="0" rtlCol="0" anchor="t"/>
          <a:lstStyle/>
          <a:p>
            <a:pPr marL="0" indent="0">
              <a:lnSpc>
                <a:spcPts val="1650"/>
              </a:lnSpc>
              <a:buNone/>
            </a:pPr>
            <a:r>
              <a:rPr lang="en-US" sz="1300" dirty="0">
                <a:solidFill>
                  <a:srgbClr val="4A4338"/>
                </a:solidFill>
                <a:latin typeface="Calibri" pitchFamily="34" charset="0"/>
                <a:ea typeface="Calibri" pitchFamily="34" charset="-122"/>
                <a:cs typeface="Calibri" pitchFamily="34" charset="-120"/>
              </a:rPr>
              <a:t>Your meeting brief. Each buyer-seller meeting the following week is matched from what they say on the 20th and what your pricing sheet says about you.</a:t>
            </a:r>
            <a:endParaRPr lang="en-US" sz="1300" dirty="0"/>
          </a:p>
        </p:txBody>
      </p:sp>
      <p:sp>
        <p:nvSpPr>
          <p:cNvPr id="10" name="Shape 7"/>
          <p:cNvSpPr/>
          <p:nvPr/>
        </p:nvSpPr>
        <p:spPr>
          <a:xfrm>
            <a:off x="822960" y="4069080"/>
            <a:ext cx="10515600" cy="0"/>
          </a:xfrm>
          <a:prstGeom prst="line">
            <a:avLst/>
          </a:prstGeom>
          <a:noFill/>
          <a:ln w="6350">
            <a:solidFill>
              <a:srgbClr val="D8CDB6"/>
            </a:solidFill>
            <a:prstDash val="solid"/>
          </a:ln>
        </p:spPr>
      </p:sp>
      <p:sp>
        <p:nvSpPr>
          <p:cNvPr id="11" name="Text 8"/>
          <p:cNvSpPr/>
          <p:nvPr/>
        </p:nvSpPr>
        <p:spPr>
          <a:xfrm>
            <a:off x="822960" y="4206240"/>
            <a:ext cx="3977640" cy="868680"/>
          </a:xfrm>
          <a:prstGeom prst="rect">
            <a:avLst/>
          </a:prstGeom>
          <a:noFill/>
          <a:ln/>
        </p:spPr>
        <p:txBody>
          <a:bodyPr wrap="square" lIns="0" tIns="0" rIns="0" bIns="0" rtlCol="0" anchor="t"/>
          <a:lstStyle/>
          <a:p>
            <a:pPr marL="0" indent="0">
              <a:lnSpc>
                <a:spcPts val="1750"/>
              </a:lnSpc>
              <a:buNone/>
            </a:pPr>
            <a:r>
              <a:rPr lang="en-US" sz="1400" b="1" dirty="0">
                <a:solidFill>
                  <a:srgbClr val="26221C"/>
                </a:solidFill>
                <a:latin typeface="Calibri" pitchFamily="34" charset="0"/>
                <a:ea typeface="Calibri" pitchFamily="34" charset="-122"/>
                <a:cs typeface="Calibri" pitchFamily="34" charset="-120"/>
              </a:rPr>
              <a:t>What you send by Wednesday.</a:t>
            </a:r>
            <a:endParaRPr lang="en-US" sz="1400" dirty="0"/>
          </a:p>
        </p:txBody>
      </p:sp>
      <p:sp>
        <p:nvSpPr>
          <p:cNvPr id="12" name="Text 9"/>
          <p:cNvSpPr/>
          <p:nvPr/>
        </p:nvSpPr>
        <p:spPr>
          <a:xfrm>
            <a:off x="5029200" y="4215384"/>
            <a:ext cx="6309360" cy="868680"/>
          </a:xfrm>
          <a:prstGeom prst="rect">
            <a:avLst/>
          </a:prstGeom>
          <a:noFill/>
          <a:ln/>
        </p:spPr>
        <p:txBody>
          <a:bodyPr wrap="square" lIns="0" tIns="0" rIns="0" bIns="0" rtlCol="0" anchor="t"/>
          <a:lstStyle/>
          <a:p>
            <a:pPr marL="0" indent="0">
              <a:lnSpc>
                <a:spcPts val="1650"/>
              </a:lnSpc>
              <a:buNone/>
            </a:pPr>
            <a:r>
              <a:rPr lang="en-US" sz="1300" dirty="0">
                <a:solidFill>
                  <a:srgbClr val="4A4338"/>
                </a:solidFill>
                <a:latin typeface="Calibri" pitchFamily="34" charset="0"/>
                <a:ea typeface="Calibri" pitchFamily="34" charset="-122"/>
                <a:cs typeface="Calibri" pitchFamily="34" charset="-120"/>
              </a:rPr>
              <a:t>Your pricing sheet if pending. Your capability line: branded only or also private label and bulk, states you can support, realistic year-one volume. Your mock-pitch slot, booked.</a:t>
            </a:r>
            <a:endParaRPr lang="en-US" sz="1300" dirty="0"/>
          </a:p>
        </p:txBody>
      </p:sp>
      <p:sp>
        <p:nvSpPr>
          <p:cNvPr id="13" name="Shape 10"/>
          <p:cNvSpPr/>
          <p:nvPr/>
        </p:nvSpPr>
        <p:spPr>
          <a:xfrm>
            <a:off x="850392" y="5943600"/>
            <a:ext cx="2011680" cy="0"/>
          </a:xfrm>
          <a:prstGeom prst="line">
            <a:avLst/>
          </a:prstGeom>
          <a:noFill/>
          <a:ln w="12700">
            <a:solidFill>
              <a:srgbClr val="6E5630"/>
            </a:solidFill>
            <a:prstDash val="solid"/>
          </a:ln>
        </p:spPr>
      </p:sp>
      <p:sp>
        <p:nvSpPr>
          <p:cNvPr id="14" name="Text 11"/>
          <p:cNvSpPr/>
          <p:nvPr/>
        </p:nvSpPr>
        <p:spPr>
          <a:xfrm>
            <a:off x="822960" y="6035040"/>
            <a:ext cx="10515600" cy="365760"/>
          </a:xfrm>
          <a:prstGeom prst="rect">
            <a:avLst/>
          </a:prstGeom>
          <a:noFill/>
          <a:ln/>
        </p:spPr>
        <p:txBody>
          <a:bodyPr wrap="square" lIns="0" tIns="0" rIns="0" bIns="0" rtlCol="0" anchor="ctr"/>
          <a:lstStyle/>
          <a:p>
            <a:pPr marL="0" indent="0">
              <a:buNone/>
            </a:pPr>
            <a:r>
              <a:rPr lang="en-US" sz="1350" b="1" i="1" dirty="0">
                <a:solidFill>
                  <a:srgbClr val="6E5630"/>
                </a:solidFill>
                <a:latin typeface="Calibri" pitchFamily="34" charset="0"/>
                <a:ea typeface="Calibri" pitchFamily="34" charset="-122"/>
                <a:cs typeface="Calibri" pitchFamily="34" charset="-120"/>
              </a:rPr>
              <a:t>Matching runs on paper that is in, not paper that is promised.</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8F1"/>
        </a:solidFill>
        <a:effectLst/>
      </p:bgPr>
    </p:bg>
    <p:spTree>
      <p:nvGrpSpPr>
        <p:cNvPr id="1" name=""/>
        <p:cNvGrpSpPr/>
        <p:nvPr/>
      </p:nvGrpSpPr>
      <p:grpSpPr>
        <a:xfrm>
          <a:off x="0" y="0"/>
          <a:ext cx="0" cy="0"/>
          <a:chOff x="0" y="0"/>
          <a:chExt cx="0" cy="0"/>
        </a:xfrm>
      </p:grpSpPr>
      <p:sp>
        <p:nvSpPr>
          <p:cNvPr id="3" name="Text 0"/>
          <p:cNvSpPr/>
          <p:nvPr/>
        </p:nvSpPr>
        <p:spPr>
          <a:xfrm>
            <a:off x="822960" y="685800"/>
            <a:ext cx="10515600" cy="310896"/>
          </a:xfrm>
          <a:prstGeom prst="rect">
            <a:avLst/>
          </a:prstGeom>
          <a:noFill/>
          <a:ln/>
        </p:spPr>
        <p:txBody>
          <a:bodyPr wrap="square" lIns="0" tIns="0" rIns="0" bIns="0" rtlCol="0" anchor="ctr"/>
          <a:lstStyle/>
          <a:p>
            <a:pPr marL="0" indent="0">
              <a:buNone/>
            </a:pPr>
            <a:r>
              <a:rPr lang="en-US" sz="1100" b="1" dirty="0">
                <a:solidFill>
                  <a:srgbClr val="8B6E3D"/>
                </a:solidFill>
                <a:latin typeface="Calibri" pitchFamily="34" charset="0"/>
                <a:ea typeface="Calibri" pitchFamily="34" charset="-122"/>
                <a:cs typeface="Calibri" pitchFamily="34" charset="-120"/>
              </a:rPr>
              <a:t>S E S S I O N   </a:t>
            </a:r>
            <a:r>
              <a:rPr lang="en-US" sz="1100" b="1" dirty="0" smtClean="0">
                <a:solidFill>
                  <a:srgbClr val="8B6E3D"/>
                </a:solidFill>
                <a:latin typeface="Calibri" pitchFamily="34" charset="0"/>
                <a:ea typeface="Calibri" pitchFamily="34" charset="-122"/>
                <a:cs typeface="Calibri" pitchFamily="34" charset="-120"/>
              </a:rPr>
              <a:t>6   </a:t>
            </a:r>
            <a:r>
              <a:rPr lang="en-US" sz="1100" b="1" dirty="0">
                <a:solidFill>
                  <a:srgbClr val="8B6E3D"/>
                </a:solidFill>
                <a:latin typeface="Calibri" pitchFamily="34" charset="0"/>
                <a:ea typeface="Calibri" pitchFamily="34" charset="-122"/>
                <a:cs typeface="Calibri" pitchFamily="34" charset="-120"/>
              </a:rPr>
              <a:t>C L O S E S   H E R E</a:t>
            </a:r>
            <a:endParaRPr lang="en-US" sz="1100" dirty="0"/>
          </a:p>
        </p:txBody>
      </p:sp>
      <p:pic>
        <p:nvPicPr>
          <p:cNvPr id="4" name="Image 0" descr="/home/claude/tequila/build/media/image-1-1.png"/>
          <p:cNvPicPr>
            <a:picLocks noChangeAspect="1"/>
          </p:cNvPicPr>
          <p:nvPr/>
        </p:nvPicPr>
        <p:blipFill>
          <a:blip r:embed="rId3"/>
          <a:stretch>
            <a:fillRect/>
          </a:stretch>
        </p:blipFill>
        <p:spPr>
          <a:xfrm>
            <a:off x="8503920" y="1463040"/>
            <a:ext cx="3200400" cy="3200400"/>
          </a:xfrm>
          <a:prstGeom prst="rect">
            <a:avLst/>
          </a:prstGeom>
        </p:spPr>
      </p:pic>
      <p:sp>
        <p:nvSpPr>
          <p:cNvPr id="5" name="Text 1"/>
          <p:cNvSpPr/>
          <p:nvPr/>
        </p:nvSpPr>
        <p:spPr>
          <a:xfrm>
            <a:off x="822960" y="1417320"/>
            <a:ext cx="7680960" cy="1554480"/>
          </a:xfrm>
          <a:prstGeom prst="rect">
            <a:avLst/>
          </a:prstGeom>
          <a:noFill/>
          <a:ln/>
        </p:spPr>
        <p:txBody>
          <a:bodyPr wrap="square" lIns="0" tIns="0" rIns="0" bIns="0" rtlCol="0" anchor="ctr"/>
          <a:lstStyle/>
          <a:p>
            <a:pPr marL="0" indent="0">
              <a:lnSpc>
                <a:spcPts val="4500"/>
              </a:lnSpc>
              <a:buNone/>
            </a:pPr>
            <a:r>
              <a:rPr lang="en-US" sz="3800" dirty="0">
                <a:solidFill>
                  <a:srgbClr val="26221C"/>
                </a:solidFill>
                <a:latin typeface="Bookman Old Style" pitchFamily="34" charset="0"/>
                <a:ea typeface="Bookman Old Style" pitchFamily="34" charset="-122"/>
                <a:cs typeface="Bookman Old Style" pitchFamily="34" charset="-120"/>
              </a:rPr>
              <a:t>Ten names.</a:t>
            </a:r>
            <a:endParaRPr lang="en-US" sz="3800" dirty="0"/>
          </a:p>
          <a:p>
            <a:pPr marL="0" indent="0">
              <a:lnSpc>
                <a:spcPts val="4500"/>
              </a:lnSpc>
              <a:buNone/>
            </a:pPr>
            <a:r>
              <a:rPr lang="en-US" sz="3800" dirty="0">
                <a:solidFill>
                  <a:srgbClr val="26221C"/>
                </a:solidFill>
                <a:latin typeface="Bookman Old Style" pitchFamily="34" charset="0"/>
                <a:ea typeface="Bookman Old Style" pitchFamily="34" charset="-122"/>
                <a:cs typeface="Bookman Old Style" pitchFamily="34" charset="-120"/>
              </a:rPr>
              <a:t>One date. The 20th.</a:t>
            </a:r>
            <a:endParaRPr lang="en-US" sz="3800" dirty="0"/>
          </a:p>
        </p:txBody>
      </p:sp>
      <p:sp>
        <p:nvSpPr>
          <p:cNvPr id="6" name="Shape 2"/>
          <p:cNvSpPr/>
          <p:nvPr/>
        </p:nvSpPr>
        <p:spPr>
          <a:xfrm>
            <a:off x="850392" y="3291840"/>
            <a:ext cx="2926080" cy="0"/>
          </a:xfrm>
          <a:prstGeom prst="line">
            <a:avLst/>
          </a:prstGeom>
          <a:noFill/>
          <a:ln w="12700">
            <a:solidFill>
              <a:srgbClr val="6E5630"/>
            </a:solidFill>
            <a:prstDash val="solid"/>
          </a:ln>
        </p:spPr>
      </p:sp>
      <p:sp>
        <p:nvSpPr>
          <p:cNvPr id="7" name="Text 3"/>
          <p:cNvSpPr/>
          <p:nvPr/>
        </p:nvSpPr>
        <p:spPr>
          <a:xfrm>
            <a:off x="822960" y="3611880"/>
            <a:ext cx="7315200" cy="594360"/>
          </a:xfrm>
          <a:prstGeom prst="rect">
            <a:avLst/>
          </a:prstGeom>
          <a:noFill/>
          <a:ln/>
        </p:spPr>
        <p:txBody>
          <a:bodyPr wrap="square" lIns="0" tIns="0" rIns="0" bIns="0" rtlCol="0" anchor="ctr"/>
          <a:lstStyle/>
          <a:p>
            <a:pPr marL="0" indent="0">
              <a:lnSpc>
                <a:spcPts val="1900"/>
              </a:lnSpc>
              <a:buNone/>
            </a:pPr>
            <a:r>
              <a:rPr lang="en-US" sz="1400" dirty="0">
                <a:solidFill>
                  <a:srgbClr val="4A4338"/>
                </a:solidFill>
                <a:latin typeface="Calibri" pitchFamily="34" charset="0"/>
                <a:ea typeface="Calibri" pitchFamily="34" charset="-122"/>
                <a:cs typeface="Calibri" pitchFamily="34" charset="-120"/>
              </a:rPr>
              <a:t>Send your three by Wednesday, and the week after the 20th, one of these names is sitting across from you.</a:t>
            </a:r>
            <a:endParaRPr lang="en-US" sz="1400" dirty="0"/>
          </a:p>
        </p:txBody>
      </p:sp>
      <p:sp>
        <p:nvSpPr>
          <p:cNvPr id="8" name="Text 4"/>
          <p:cNvSpPr/>
          <p:nvPr/>
        </p:nvSpPr>
        <p:spPr>
          <a:xfrm>
            <a:off x="822960" y="4572000"/>
            <a:ext cx="5486400" cy="320040"/>
          </a:xfrm>
          <a:prstGeom prst="rect">
            <a:avLst/>
          </a:prstGeom>
          <a:noFill/>
          <a:ln/>
        </p:spPr>
        <p:txBody>
          <a:bodyPr wrap="square" lIns="0" tIns="0" rIns="0" bIns="0" rtlCol="0" anchor="ctr"/>
          <a:lstStyle/>
          <a:p>
            <a:pPr marL="0" indent="0">
              <a:buNone/>
            </a:pPr>
            <a:r>
              <a:rPr lang="en-US" sz="1450" b="1" dirty="0">
                <a:solidFill>
                  <a:srgbClr val="26221C"/>
                </a:solidFill>
                <a:latin typeface="Calibri" pitchFamily="34" charset="0"/>
                <a:ea typeface="Calibri" pitchFamily="34" charset="-122"/>
                <a:cs typeface="Calibri" pitchFamily="34" charset="-120"/>
              </a:rPr>
              <a:t>Ravi K. Tiwari</a:t>
            </a:r>
            <a:endParaRPr lang="en-US" sz="1450" dirty="0"/>
          </a:p>
        </p:txBody>
      </p:sp>
      <p:sp>
        <p:nvSpPr>
          <p:cNvPr id="9" name="Text 5"/>
          <p:cNvSpPr/>
          <p:nvPr/>
        </p:nvSpPr>
        <p:spPr>
          <a:xfrm>
            <a:off x="822960" y="4892040"/>
            <a:ext cx="7315200" cy="292608"/>
          </a:xfrm>
          <a:prstGeom prst="rect">
            <a:avLst/>
          </a:prstGeom>
          <a:noFill/>
          <a:ln/>
        </p:spPr>
        <p:txBody>
          <a:bodyPr wrap="square" lIns="0" tIns="0" rIns="0" bIns="0" rtlCol="0" anchor="ctr"/>
          <a:lstStyle/>
          <a:p>
            <a:pPr marL="0" indent="0">
              <a:buNone/>
            </a:pPr>
            <a:r>
              <a:rPr lang="en-US" sz="1200" dirty="0">
                <a:solidFill>
                  <a:srgbClr val="4A4338"/>
                </a:solidFill>
                <a:latin typeface="Calibri" pitchFamily="34" charset="0"/>
                <a:ea typeface="Calibri" pitchFamily="34" charset="-122"/>
                <a:cs typeface="Calibri" pitchFamily="34" charset="-120"/>
              </a:rPr>
              <a:t>Chief Executive Officer, México–India Business Council</a:t>
            </a:r>
            <a:endParaRPr lang="en-US" sz="1200" dirty="0"/>
          </a:p>
        </p:txBody>
      </p:sp>
      <p:sp>
        <p:nvSpPr>
          <p:cNvPr id="10" name="Text 6"/>
          <p:cNvSpPr/>
          <p:nvPr/>
        </p:nvSpPr>
        <p:spPr>
          <a:xfrm>
            <a:off x="822960" y="5230368"/>
            <a:ext cx="8229600" cy="292608"/>
          </a:xfrm>
          <a:prstGeom prst="rect">
            <a:avLst/>
          </a:prstGeom>
          <a:noFill/>
          <a:ln/>
        </p:spPr>
        <p:txBody>
          <a:bodyPr wrap="square" lIns="0" tIns="0" rIns="0" bIns="0" rtlCol="0" anchor="ctr"/>
          <a:lstStyle/>
          <a:p>
            <a:pPr marL="0" indent="0">
              <a:buNone/>
            </a:pPr>
            <a:r>
              <a:rPr lang="en-US" sz="1200" dirty="0">
                <a:solidFill>
                  <a:srgbClr val="6E5630"/>
                </a:solidFill>
                <a:latin typeface="Calibri" pitchFamily="34" charset="0"/>
                <a:ea typeface="Calibri" pitchFamily="34" charset="-122"/>
                <a:cs typeface="Calibri" pitchFamily="34" charset="-120"/>
              </a:rPr>
              <a:t>ceo@mexicoindia.org   ·   www.mexicoindia.org   ·   linkedin.com/company/mibcorg</a:t>
            </a:r>
            <a:endParaRPr lang="en-US" sz="1200" dirty="0"/>
          </a:p>
        </p:txBody>
      </p:sp>
      <p:sp>
        <p:nvSpPr>
          <p:cNvPr id="11" name="Text 7"/>
          <p:cNvSpPr/>
          <p:nvPr/>
        </p:nvSpPr>
        <p:spPr>
          <a:xfrm>
            <a:off x="822960" y="6126480"/>
            <a:ext cx="8229600" cy="320040"/>
          </a:xfrm>
          <a:prstGeom prst="rect">
            <a:avLst/>
          </a:prstGeom>
          <a:noFill/>
          <a:ln/>
        </p:spPr>
        <p:txBody>
          <a:bodyPr wrap="square" lIns="0" tIns="0" rIns="0" bIns="0" rtlCol="0" anchor="ctr"/>
          <a:lstStyle/>
          <a:p>
            <a:pPr marL="0" indent="0">
              <a:buNone/>
            </a:pPr>
            <a:r>
              <a:rPr lang="en-US" sz="1250" b="1" dirty="0">
                <a:solidFill>
                  <a:srgbClr val="8B6E3D"/>
                </a:solidFill>
                <a:latin typeface="Calibri" pitchFamily="34" charset="0"/>
                <a:ea typeface="Calibri" pitchFamily="34" charset="-122"/>
                <a:cs typeface="Calibri" pitchFamily="34" charset="-120"/>
              </a:rPr>
              <a:t>D I S C O V E R .     C O N N E C T .     G R O W   I N   I N D I A .</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1141</Words>
  <Application>Microsoft Office PowerPoint</Application>
  <PresentationFormat>Widescreen</PresentationFormat>
  <Paragraphs>93</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Bookman Old Style</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Microsoft account</cp:lastModifiedBy>
  <cp:revision>2</cp:revision>
  <dcterms:created xsi:type="dcterms:W3CDTF">2026-08-15T14:39:37Z</dcterms:created>
  <dcterms:modified xsi:type="dcterms:W3CDTF">2026-08-21T10:03:03Z</dcterms:modified>
</cp:coreProperties>
</file>