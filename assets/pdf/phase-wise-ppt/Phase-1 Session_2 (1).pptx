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5211C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5211C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5211C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5211C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AF8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3683" y="804418"/>
            <a:ext cx="92132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5211C"/>
                </a:solidFill>
                <a:latin typeface="Bookman Old Style"/>
                <a:cs typeface="Bookman Old Styl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0259" y="3316299"/>
            <a:ext cx="10193020" cy="2887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mailto:ceo@mexicoindia.org" TargetMode="External"/><Relationship Id="rId4" Type="http://schemas.openxmlformats.org/officeDocument/2006/relationships/hyperlink" Target="http://www.mexicoindia.org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65191" y="502919"/>
            <a:ext cx="2268220" cy="0"/>
          </a:xfrm>
          <a:custGeom>
            <a:avLst/>
            <a:gdLst/>
            <a:ahLst/>
            <a:cxnLst/>
            <a:rect l="l" t="t" r="r" b="b"/>
            <a:pathLst>
              <a:path w="2268220" h="0">
                <a:moveTo>
                  <a:pt x="0" y="0"/>
                </a:moveTo>
                <a:lnTo>
                  <a:pt x="226771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105527" y="464126"/>
            <a:ext cx="1948814" cy="46863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500" spc="-20" b="1">
                <a:solidFill>
                  <a:srgbClr val="25211C"/>
                </a:solidFill>
                <a:latin typeface="Bookman Old Style"/>
                <a:cs typeface="Bookman Old Style"/>
              </a:rPr>
              <a:t>M</a:t>
            </a:r>
            <a:r>
              <a:rPr dirty="0" sz="1500" spc="-225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b="1">
                <a:solidFill>
                  <a:srgbClr val="25211C"/>
                </a:solidFill>
                <a:latin typeface="Bookman Old Style"/>
                <a:cs typeface="Bookman Old Style"/>
              </a:rPr>
              <a:t>É</a:t>
            </a:r>
            <a:r>
              <a:rPr dirty="0" sz="1500" spc="-210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20" b="1">
                <a:solidFill>
                  <a:srgbClr val="25211C"/>
                </a:solidFill>
                <a:latin typeface="Bookman Old Style"/>
                <a:cs typeface="Bookman Old Style"/>
              </a:rPr>
              <a:t>X</a:t>
            </a:r>
            <a:r>
              <a:rPr dirty="0" sz="1500" spc="-215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10" b="1">
                <a:solidFill>
                  <a:srgbClr val="25211C"/>
                </a:solidFill>
                <a:latin typeface="Bookman Old Style"/>
                <a:cs typeface="Bookman Old Style"/>
              </a:rPr>
              <a:t>I</a:t>
            </a:r>
            <a:r>
              <a:rPr dirty="0" sz="1500" spc="-210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20" b="1">
                <a:solidFill>
                  <a:srgbClr val="25211C"/>
                </a:solidFill>
                <a:latin typeface="Bookman Old Style"/>
                <a:cs typeface="Bookman Old Style"/>
              </a:rPr>
              <a:t>C</a:t>
            </a:r>
            <a:r>
              <a:rPr dirty="0" sz="1500" spc="-215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20" b="1">
                <a:solidFill>
                  <a:srgbClr val="25211C"/>
                </a:solidFill>
                <a:latin typeface="Bookman Old Style"/>
                <a:cs typeface="Bookman Old Style"/>
              </a:rPr>
              <a:t>O</a:t>
            </a:r>
            <a:r>
              <a:rPr dirty="0" sz="1500" spc="-195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b="1">
                <a:solidFill>
                  <a:srgbClr val="25211C"/>
                </a:solidFill>
                <a:latin typeface="Bookman Old Style"/>
                <a:cs typeface="Bookman Old Style"/>
              </a:rPr>
              <a:t>–</a:t>
            </a:r>
            <a:r>
              <a:rPr dirty="0" sz="1500" spc="-200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10" b="1">
                <a:solidFill>
                  <a:srgbClr val="25211C"/>
                </a:solidFill>
                <a:latin typeface="Bookman Old Style"/>
                <a:cs typeface="Bookman Old Style"/>
              </a:rPr>
              <a:t>I</a:t>
            </a:r>
            <a:r>
              <a:rPr dirty="0" sz="1500" spc="-210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20" b="1">
                <a:solidFill>
                  <a:srgbClr val="25211C"/>
                </a:solidFill>
                <a:latin typeface="Bookman Old Style"/>
                <a:cs typeface="Bookman Old Style"/>
              </a:rPr>
              <a:t>N</a:t>
            </a:r>
            <a:r>
              <a:rPr dirty="0" sz="1500" spc="-215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20" b="1">
                <a:solidFill>
                  <a:srgbClr val="25211C"/>
                </a:solidFill>
                <a:latin typeface="Bookman Old Style"/>
                <a:cs typeface="Bookman Old Style"/>
              </a:rPr>
              <a:t>D</a:t>
            </a:r>
            <a:r>
              <a:rPr dirty="0" sz="1500" spc="-215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10" b="1">
                <a:solidFill>
                  <a:srgbClr val="25211C"/>
                </a:solidFill>
                <a:latin typeface="Bookman Old Style"/>
                <a:cs typeface="Bookman Old Style"/>
              </a:rPr>
              <a:t>I</a:t>
            </a:r>
            <a:r>
              <a:rPr dirty="0" sz="1500" spc="-204" b="1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1500" spc="-50" b="1">
                <a:solidFill>
                  <a:srgbClr val="25211C"/>
                </a:solidFill>
                <a:latin typeface="Bookman Old Style"/>
                <a:cs typeface="Bookman Old Style"/>
              </a:rPr>
              <a:t>A</a:t>
            </a:r>
            <a:endParaRPr sz="1500">
              <a:latin typeface="Bookman Old Style"/>
              <a:cs typeface="Bookman Old Style"/>
            </a:endParaRPr>
          </a:p>
          <a:p>
            <a:pPr algn="ctr" marR="19050">
              <a:lnSpc>
                <a:spcPct val="100000"/>
              </a:lnSpc>
              <a:spcBef>
                <a:spcPts val="300"/>
              </a:spcBef>
              <a:tabLst>
                <a:tab pos="899794" algn="l"/>
              </a:tabLst>
            </a:pP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B</a:t>
            </a:r>
            <a:r>
              <a:rPr dirty="0" sz="600" spc="37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U</a:t>
            </a:r>
            <a:r>
              <a:rPr dirty="0" sz="600" spc="37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S</a:t>
            </a:r>
            <a:r>
              <a:rPr dirty="0" sz="600" spc="38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I</a:t>
            </a:r>
            <a:r>
              <a:rPr dirty="0" sz="600" spc="37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N</a:t>
            </a:r>
            <a:r>
              <a:rPr dirty="0" sz="600" spc="39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E</a:t>
            </a:r>
            <a:r>
              <a:rPr dirty="0" sz="600" spc="37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S</a:t>
            </a:r>
            <a:r>
              <a:rPr dirty="0" sz="600" spc="38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 spc="-50">
                <a:solidFill>
                  <a:srgbClr val="494338"/>
                </a:solidFill>
                <a:latin typeface="Calibri"/>
                <a:cs typeface="Calibri"/>
              </a:rPr>
              <a:t>S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	C</a:t>
            </a:r>
            <a:r>
              <a:rPr dirty="0" sz="600" spc="37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O</a:t>
            </a:r>
            <a:r>
              <a:rPr dirty="0" sz="600" spc="37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U</a:t>
            </a:r>
            <a:r>
              <a:rPr dirty="0" sz="600" spc="37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N</a:t>
            </a:r>
            <a:r>
              <a:rPr dirty="0" sz="600" spc="38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C</a:t>
            </a:r>
            <a:r>
              <a:rPr dirty="0" sz="600" spc="37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338"/>
                </a:solidFill>
                <a:latin typeface="Calibri"/>
                <a:cs typeface="Calibri"/>
              </a:rPr>
              <a:t>I</a:t>
            </a:r>
            <a:r>
              <a:rPr dirty="0" sz="600" spc="3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600" spc="-60">
                <a:solidFill>
                  <a:srgbClr val="494338"/>
                </a:solidFill>
                <a:latin typeface="Calibri"/>
                <a:cs typeface="Calibri"/>
              </a:rPr>
              <a:t>L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65191" y="978408"/>
            <a:ext cx="2268220" cy="0"/>
          </a:xfrm>
          <a:custGeom>
            <a:avLst/>
            <a:gdLst/>
            <a:ahLst/>
            <a:cxnLst/>
            <a:rect l="l" t="t" r="r" b="b"/>
            <a:pathLst>
              <a:path w="2268220" h="0">
                <a:moveTo>
                  <a:pt x="0" y="0"/>
                </a:moveTo>
                <a:lnTo>
                  <a:pt x="226771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73683" y="2257459"/>
            <a:ext cx="5477510" cy="192532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919"/>
              </a:spcBef>
              <a:tabLst>
                <a:tab pos="1299845" algn="l"/>
                <a:tab pos="1544320" algn="l"/>
              </a:tabLst>
            </a:pP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C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450" spc="-3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450" spc="-4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450" spc="-3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450" spc="114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450" spc="-50" b="1">
                <a:solidFill>
                  <a:srgbClr val="8A6D3C"/>
                </a:solidFill>
                <a:latin typeface="Calibri"/>
                <a:cs typeface="Calibri"/>
              </a:rPr>
              <a:t>1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	</a:t>
            </a:r>
            <a:r>
              <a:rPr dirty="0" sz="1450" spc="-5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	S</a:t>
            </a:r>
            <a:r>
              <a:rPr dirty="0" sz="1450" spc="-4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450" spc="13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2</a:t>
            </a:r>
            <a:r>
              <a:rPr dirty="0" sz="1450" spc="13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450" spc="-3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450" spc="12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450" spc="-50" b="1">
                <a:solidFill>
                  <a:srgbClr val="8A6D3C"/>
                </a:solidFill>
                <a:latin typeface="Calibri"/>
                <a:cs typeface="Calibri"/>
              </a:rPr>
              <a:t>8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ts val="5015"/>
              </a:lnSpc>
            </a:pPr>
            <a:r>
              <a:rPr dirty="0" sz="4200">
                <a:solidFill>
                  <a:srgbClr val="25211C"/>
                </a:solidFill>
                <a:latin typeface="Bookman Old Style"/>
                <a:cs typeface="Bookman Old Style"/>
              </a:rPr>
              <a:t>India</a:t>
            </a:r>
            <a:r>
              <a:rPr dirty="0" sz="4200" spc="-40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4200" spc="-10">
                <a:solidFill>
                  <a:srgbClr val="25211C"/>
                </a:solidFill>
                <a:latin typeface="Bookman Old Style"/>
                <a:cs typeface="Bookman Old Style"/>
              </a:rPr>
              <a:t>Opportunity</a:t>
            </a:r>
            <a:endParaRPr sz="4200">
              <a:latin typeface="Bookman Old Style"/>
              <a:cs typeface="Bookman Old Style"/>
            </a:endParaRPr>
          </a:p>
          <a:p>
            <a:pPr marL="12700">
              <a:lnSpc>
                <a:spcPts val="5015"/>
              </a:lnSpc>
            </a:pPr>
            <a:r>
              <a:rPr dirty="0" sz="4200">
                <a:solidFill>
                  <a:srgbClr val="25211C"/>
                </a:solidFill>
                <a:latin typeface="Bookman Old Style"/>
                <a:cs typeface="Bookman Old Style"/>
              </a:rPr>
              <a:t>&amp;</a:t>
            </a:r>
            <a:r>
              <a:rPr dirty="0" sz="4200" spc="-100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4200">
                <a:solidFill>
                  <a:srgbClr val="25211C"/>
                </a:solidFill>
                <a:latin typeface="Bookman Old Style"/>
                <a:cs typeface="Bookman Old Style"/>
              </a:rPr>
              <a:t>Product</a:t>
            </a:r>
            <a:r>
              <a:rPr dirty="0" sz="4200" spc="-95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4200" spc="-10">
                <a:solidFill>
                  <a:srgbClr val="25211C"/>
                </a:solidFill>
                <a:latin typeface="Bookman Old Style"/>
                <a:cs typeface="Bookman Old Style"/>
              </a:rPr>
              <a:t>Readiness</a:t>
            </a:r>
            <a:endParaRPr sz="4200">
              <a:latin typeface="Bookman Old Style"/>
              <a:cs typeface="Bookman Old Style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8159" y="1828800"/>
            <a:ext cx="4053840" cy="45720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22960" y="4526279"/>
            <a:ext cx="2926080" cy="0"/>
          </a:xfrm>
          <a:custGeom>
            <a:avLst/>
            <a:gdLst/>
            <a:ahLst/>
            <a:cxnLst/>
            <a:rect l="l" t="t" r="r" b="b"/>
            <a:pathLst>
              <a:path w="2926079" h="0">
                <a:moveTo>
                  <a:pt x="0" y="0"/>
                </a:moveTo>
                <a:lnTo>
                  <a:pt x="2926079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0259" y="4767833"/>
            <a:ext cx="664146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complete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Phase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1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walkthrough,</a:t>
            </a:r>
            <a:r>
              <a:rPr dirty="0" sz="15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step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by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step.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Every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topic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today</a:t>
            </a:r>
            <a:r>
              <a:rPr dirty="0" sz="1500" spc="-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comes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with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94338"/>
                </a:solidFill>
                <a:latin typeface="Calibri"/>
                <a:cs typeface="Calibri"/>
              </a:rPr>
              <a:t>one-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pager</a:t>
            </a:r>
            <a:r>
              <a:rPr dirty="0" sz="15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for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5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team.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6074155"/>
            <a:ext cx="16935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25211C"/>
                </a:solidFill>
                <a:latin typeface="Calibri"/>
                <a:cs typeface="Calibri"/>
              </a:rPr>
              <a:t>Session</a:t>
            </a:r>
            <a:r>
              <a:rPr dirty="0" sz="1300" spc="-1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5211C"/>
                </a:solidFill>
                <a:latin typeface="Calibri"/>
                <a:cs typeface="Calibri"/>
              </a:rPr>
              <a:t>2</a:t>
            </a:r>
            <a:r>
              <a:rPr dirty="0" sz="1300" spc="30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5211C"/>
                </a:solidFill>
                <a:latin typeface="Calibri"/>
                <a:cs typeface="Calibri"/>
              </a:rPr>
              <a:t>·</a:t>
            </a:r>
            <a:r>
              <a:rPr dirty="0" sz="1300" spc="29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5211C"/>
                </a:solidFill>
                <a:latin typeface="Calibri"/>
                <a:cs typeface="Calibri"/>
              </a:rPr>
              <a:t>15</a:t>
            </a:r>
            <a:r>
              <a:rPr dirty="0" sz="1300" spc="-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25211C"/>
                </a:solidFill>
                <a:latin typeface="Calibri"/>
                <a:cs typeface="Calibri"/>
              </a:rPr>
              <a:t>July</a:t>
            </a:r>
            <a:r>
              <a:rPr dirty="0" sz="1300" spc="-1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25211C"/>
                </a:solidFill>
                <a:latin typeface="Calibri"/>
                <a:cs typeface="Calibri"/>
              </a:rPr>
              <a:t>2026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102996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 I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Today,</a:t>
            </a:r>
            <a:r>
              <a:rPr dirty="0" spc="-25"/>
              <a:t> </a:t>
            </a:r>
            <a:r>
              <a:rPr dirty="0"/>
              <a:t>step</a:t>
            </a:r>
            <a:r>
              <a:rPr dirty="0" spc="-20"/>
              <a:t> </a:t>
            </a:r>
            <a:r>
              <a:rPr dirty="0"/>
              <a:t>by</a:t>
            </a:r>
            <a:r>
              <a:rPr dirty="0" spc="-5"/>
              <a:t> </a:t>
            </a:r>
            <a:r>
              <a:rPr dirty="0" spc="-20"/>
              <a:t>step</a:t>
            </a:r>
          </a:p>
        </p:txBody>
      </p:sp>
      <p:sp>
        <p:nvSpPr>
          <p:cNvPr id="4" name="object 4"/>
          <p:cNvSpPr/>
          <p:nvPr/>
        </p:nvSpPr>
        <p:spPr>
          <a:xfrm>
            <a:off x="822960" y="1874520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8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3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84605" y="1966086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3746" y="1956942"/>
            <a:ext cx="27641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6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opportunity,</a:t>
            </a:r>
            <a:r>
              <a:rPr dirty="0" sz="16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in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four</a:t>
            </a: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numbers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00800" y="1874520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8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3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563106" y="1966086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6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02220" y="1956942"/>
            <a:ext cx="19507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6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price:</a:t>
            </a:r>
            <a:r>
              <a:rPr dirty="0" sz="16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FOB</a:t>
            </a:r>
            <a:r>
              <a:rPr dirty="0" sz="16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to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shelf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2960" y="2624327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8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84605" y="2715895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3746" y="2706750"/>
            <a:ext cx="23380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600" spc="-6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product:</a:t>
            </a:r>
            <a:r>
              <a:rPr dirty="0" sz="1600" spc="-6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four</a:t>
            </a:r>
            <a:r>
              <a:rPr dirty="0" sz="1600" spc="-6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decisions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00800" y="2624327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8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563106" y="2715895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7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02220" y="2706750"/>
            <a:ext cx="12934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600" spc="-6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first</a:t>
            </a:r>
            <a:r>
              <a:rPr dirty="0" sz="1600" spc="-8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states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960" y="3374135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8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84605" y="3465957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3746" y="3456813"/>
            <a:ext cx="297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México's</a:t>
            </a:r>
            <a:r>
              <a:rPr dirty="0" sz="16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paperwork:</a:t>
            </a:r>
            <a:r>
              <a:rPr dirty="0" sz="1600" spc="-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six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documents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400800" y="3374135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8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563106" y="3465957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8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02220" y="3456813"/>
            <a:ext cx="13004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600" spc="-6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trademark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2960" y="412394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7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3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84605" y="4215765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4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3746" y="4206621"/>
            <a:ext cx="1254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India's</a:t>
            </a:r>
            <a:r>
              <a:rPr dirty="0" sz="16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licences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00800" y="412394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7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3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563106" y="4215765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9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02220" y="4206621"/>
            <a:ext cx="1571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6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Year</a:t>
            </a:r>
            <a:r>
              <a:rPr dirty="0" sz="16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1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budget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2960" y="4873752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8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84605" y="4965954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5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23746" y="4956809"/>
            <a:ext cx="10007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India's</a:t>
            </a:r>
            <a:r>
              <a:rPr dirty="0" sz="16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label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00800" y="4873752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8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499097" y="4956809"/>
            <a:ext cx="2450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5315" algn="l"/>
              </a:tabLst>
            </a:pPr>
            <a:r>
              <a:rPr dirty="0" sz="1500" spc="-25" b="1">
                <a:solidFill>
                  <a:srgbClr val="FFFFFF"/>
                </a:solidFill>
                <a:latin typeface="Bookman Old Style"/>
                <a:cs typeface="Bookman Old Style"/>
              </a:rPr>
              <a:t>10</a:t>
            </a:r>
            <a:r>
              <a:rPr dirty="0" sz="1500" b="1">
                <a:solidFill>
                  <a:srgbClr val="FFFFFF"/>
                </a:solidFill>
                <a:latin typeface="Bookman Old Style"/>
                <a:cs typeface="Bookman Old Style"/>
              </a:rPr>
              <a:t>	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What</a:t>
            </a:r>
            <a:r>
              <a:rPr dirty="0" sz="1600" spc="-8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importers</a:t>
            </a:r>
            <a:r>
              <a:rPr dirty="0" sz="1600" spc="-6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check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22960" y="5806440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10259" y="5933338"/>
            <a:ext cx="1023810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Then: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readiness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score,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cohort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picture,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next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steps.</a:t>
            </a:r>
            <a:r>
              <a:rPr dirty="0" sz="135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Each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step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has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its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file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today's</a:t>
            </a:r>
            <a:r>
              <a:rPr dirty="0" sz="13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set: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ten</a:t>
            </a:r>
            <a:r>
              <a:rPr dirty="0" sz="13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one-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pagers,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first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reading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material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the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programme.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683" y="494747"/>
            <a:ext cx="4551045" cy="823594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350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1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16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 P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T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200">
                <a:solidFill>
                  <a:srgbClr val="25211C"/>
                </a:solidFill>
                <a:latin typeface="Bookman Old Style"/>
                <a:cs typeface="Bookman Old Style"/>
              </a:rPr>
              <a:t>India,</a:t>
            </a:r>
            <a:r>
              <a:rPr dirty="0" sz="3200" spc="-35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3200">
                <a:solidFill>
                  <a:srgbClr val="25211C"/>
                </a:solidFill>
                <a:latin typeface="Bookman Old Style"/>
                <a:cs typeface="Bookman Old Style"/>
              </a:rPr>
              <a:t>in</a:t>
            </a:r>
            <a:r>
              <a:rPr dirty="0" sz="3200" spc="-30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3200">
                <a:solidFill>
                  <a:srgbClr val="25211C"/>
                </a:solidFill>
                <a:latin typeface="Bookman Old Style"/>
                <a:cs typeface="Bookman Old Style"/>
              </a:rPr>
              <a:t>four</a:t>
            </a:r>
            <a:r>
              <a:rPr dirty="0" sz="3200" spc="-35">
                <a:solidFill>
                  <a:srgbClr val="25211C"/>
                </a:solidFill>
                <a:latin typeface="Bookman Old Style"/>
                <a:cs typeface="Bookman Old Style"/>
              </a:rPr>
              <a:t> </a:t>
            </a:r>
            <a:r>
              <a:rPr dirty="0" sz="3200" spc="-10">
                <a:solidFill>
                  <a:srgbClr val="25211C"/>
                </a:solidFill>
                <a:latin typeface="Bookman Old Style"/>
                <a:cs typeface="Bookman Old Style"/>
              </a:rPr>
              <a:t>numbers</a:t>
            </a:r>
            <a:endParaRPr sz="3200">
              <a:latin typeface="Bookman Old Style"/>
              <a:cs typeface="Bookman Old Sty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0259" y="1775586"/>
            <a:ext cx="3824604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9F7D45"/>
                </a:solidFill>
                <a:latin typeface="Bookman Old Style"/>
                <a:cs typeface="Bookman Old Style"/>
              </a:rPr>
              <a:t>No.</a:t>
            </a:r>
            <a:r>
              <a:rPr dirty="0" sz="5400" spc="-9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5400" spc="-50">
                <a:solidFill>
                  <a:srgbClr val="9F7D45"/>
                </a:solidFill>
                <a:latin typeface="Bookman Old Style"/>
                <a:cs typeface="Bookman Old Style"/>
              </a:rPr>
              <a:t>1</a:t>
            </a:r>
            <a:endParaRPr sz="5400">
              <a:latin typeface="Bookman Old Style"/>
              <a:cs typeface="Bookman Old Style"/>
            </a:endParaRPr>
          </a:p>
          <a:p>
            <a:pPr marL="40005">
              <a:lnSpc>
                <a:spcPct val="100000"/>
              </a:lnSpc>
              <a:spcBef>
                <a:spcPts val="2745"/>
              </a:spcBef>
            </a:pPr>
            <a:r>
              <a:rPr dirty="0" sz="1500" spc="-20">
                <a:solidFill>
                  <a:srgbClr val="494338"/>
                </a:solidFill>
                <a:latin typeface="Calibri"/>
                <a:cs typeface="Calibri"/>
              </a:rPr>
              <a:t>fastest-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growing</a:t>
            </a:r>
            <a:r>
              <a:rPr dirty="0" sz="15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major</a:t>
            </a:r>
            <a:r>
              <a:rPr dirty="0" sz="15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drinks</a:t>
            </a:r>
            <a:r>
              <a:rPr dirty="0" sz="15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market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world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8989" y="1775586"/>
            <a:ext cx="4486910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5">
                <a:solidFill>
                  <a:srgbClr val="9F7D45"/>
                </a:solidFill>
                <a:latin typeface="Bookman Old Style"/>
                <a:cs typeface="Bookman Old Style"/>
              </a:rPr>
              <a:t>31%</a:t>
            </a:r>
            <a:endParaRPr sz="5400">
              <a:latin typeface="Bookman Old Style"/>
              <a:cs typeface="Bookman Old Style"/>
            </a:endParaRPr>
          </a:p>
          <a:p>
            <a:pPr marL="40005">
              <a:lnSpc>
                <a:spcPct val="100000"/>
              </a:lnSpc>
              <a:spcBef>
                <a:spcPts val="2745"/>
              </a:spcBef>
            </a:pP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tequila</a:t>
            </a:r>
            <a:r>
              <a:rPr dirty="0" sz="15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growth</a:t>
            </a:r>
            <a:r>
              <a:rPr dirty="0" sz="15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per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year;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category</a:t>
            </a:r>
            <a:r>
              <a:rPr dirty="0" sz="1500" spc="-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tripled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four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years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259" y="3878656"/>
            <a:ext cx="4066540" cy="1426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0">
                <a:solidFill>
                  <a:srgbClr val="9F7D45"/>
                </a:solidFill>
                <a:latin typeface="Bookman Old Style"/>
                <a:cs typeface="Bookman Old Style"/>
              </a:rPr>
              <a:t>2-</a:t>
            </a:r>
            <a:r>
              <a:rPr dirty="0" sz="5400" spc="-50">
                <a:solidFill>
                  <a:srgbClr val="9F7D45"/>
                </a:solidFill>
                <a:latin typeface="Bookman Old Style"/>
                <a:cs typeface="Bookman Old Style"/>
              </a:rPr>
              <a:t>3</a:t>
            </a:r>
            <a:endParaRPr sz="5400">
              <a:latin typeface="Bookman Old Style"/>
              <a:cs typeface="Bookman Old Style"/>
            </a:endParaRPr>
          </a:p>
          <a:p>
            <a:pPr marL="40005">
              <a:lnSpc>
                <a:spcPct val="100000"/>
              </a:lnSpc>
              <a:spcBef>
                <a:spcPts val="2745"/>
              </a:spcBef>
            </a:pP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imported</a:t>
            </a:r>
            <a:r>
              <a:rPr dirty="0" sz="1500" spc="-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tequila</a:t>
            </a:r>
            <a:r>
              <a:rPr dirty="0" sz="1500" spc="-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brands</a:t>
            </a:r>
            <a:r>
              <a:rPr dirty="0" sz="1500" spc="-7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with</a:t>
            </a:r>
            <a:r>
              <a:rPr dirty="0" sz="15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real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national</a:t>
            </a:r>
            <a:r>
              <a:rPr dirty="0" sz="1500" spc="-8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presence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89320" y="1874520"/>
            <a:ext cx="0" cy="3840479"/>
          </a:xfrm>
          <a:custGeom>
            <a:avLst/>
            <a:gdLst/>
            <a:ahLst/>
            <a:cxnLst/>
            <a:rect l="l" t="t" r="r" b="b"/>
            <a:pathLst>
              <a:path w="0" h="3840479">
                <a:moveTo>
                  <a:pt x="0" y="0"/>
                </a:moveTo>
                <a:lnTo>
                  <a:pt x="0" y="3840479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88989" y="3878656"/>
            <a:ext cx="3169920" cy="1426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5">
                <a:solidFill>
                  <a:srgbClr val="9F7D45"/>
                </a:solidFill>
                <a:latin typeface="Bookman Old Style"/>
                <a:cs typeface="Bookman Old Style"/>
              </a:rPr>
              <a:t>5-7x</a:t>
            </a:r>
            <a:endParaRPr sz="5400">
              <a:latin typeface="Bookman Old Style"/>
              <a:cs typeface="Bookman Old Style"/>
            </a:endParaRPr>
          </a:p>
          <a:p>
            <a:pPr marL="40005">
              <a:lnSpc>
                <a:spcPct val="100000"/>
              </a:lnSpc>
              <a:spcBef>
                <a:spcPts val="2745"/>
              </a:spcBef>
            </a:pP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5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FOB</a:t>
            </a:r>
            <a:r>
              <a:rPr dirty="0" sz="15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becomes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Indian</a:t>
            </a:r>
            <a:r>
              <a:rPr dirty="0" sz="1500" spc="-6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shelf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494338"/>
                </a:solidFill>
                <a:latin typeface="Calibri"/>
                <a:cs typeface="Calibri"/>
              </a:rPr>
              <a:t>price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8082" y="6392976"/>
            <a:ext cx="153289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01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India</a:t>
            </a:r>
            <a:r>
              <a:rPr dirty="0" sz="11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Numbers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24612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2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 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 O D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C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Four</a:t>
            </a:r>
            <a:r>
              <a:rPr dirty="0" spc="-45"/>
              <a:t> </a:t>
            </a:r>
            <a:r>
              <a:rPr dirty="0" spc="-10"/>
              <a:t>decisions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932558"/>
            <a:ext cx="7181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>
                <a:solidFill>
                  <a:srgbClr val="6D552F"/>
                </a:solidFill>
                <a:latin typeface="Bookman Old Style"/>
                <a:cs typeface="Bookman Old Style"/>
              </a:rPr>
              <a:t>Bottle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70834" y="1968804"/>
            <a:ext cx="741997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750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ml.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Add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180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ml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for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trial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if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economics</a:t>
            </a:r>
            <a:r>
              <a:rPr dirty="0" sz="14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allow.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1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litre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is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duty-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free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only.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700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ml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needs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state-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by-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state approval;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do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not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plan on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it.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" y="2715767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259" y="3047822"/>
            <a:ext cx="1045844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>
                <a:solidFill>
                  <a:srgbClr val="6D552F"/>
                </a:solidFill>
                <a:latin typeface="Bookman Old Style"/>
                <a:cs typeface="Bookman Old Style"/>
              </a:rPr>
              <a:t>Strength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0834" y="3224911"/>
            <a:ext cx="788924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40%.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legal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band</a:t>
            </a:r>
            <a:r>
              <a:rPr dirty="0" sz="14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is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31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to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55%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(±3%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on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label).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38%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is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allowed</a:t>
            </a:r>
            <a:r>
              <a:rPr dirty="0" sz="145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and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saves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little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duty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in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some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states.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60" y="3831335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0259" y="4163644"/>
            <a:ext cx="118300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solidFill>
                  <a:srgbClr val="6D552F"/>
                </a:solidFill>
                <a:latin typeface="Bookman Old Style"/>
                <a:cs typeface="Bookman Old Style"/>
              </a:rPr>
              <a:t>Lead</a:t>
            </a:r>
            <a:r>
              <a:rPr dirty="0" sz="190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900" spc="-25">
                <a:solidFill>
                  <a:srgbClr val="6D552F"/>
                </a:solidFill>
                <a:latin typeface="Bookman Old Style"/>
                <a:cs typeface="Bookman Old Style"/>
              </a:rPr>
              <a:t>SKU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0834" y="4340733"/>
            <a:ext cx="589534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Blanco</a:t>
            </a:r>
            <a:r>
              <a:rPr dirty="0" sz="145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first.</a:t>
            </a:r>
            <a:r>
              <a:rPr dirty="0" sz="145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Reposado</a:t>
            </a:r>
            <a:r>
              <a:rPr dirty="0" sz="145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and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añejo</a:t>
            </a:r>
            <a:r>
              <a:rPr dirty="0" sz="14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in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gift</a:t>
            </a:r>
            <a:r>
              <a:rPr dirty="0" sz="145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boxes</a:t>
            </a:r>
            <a:r>
              <a:rPr dirty="0" sz="145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for</a:t>
            </a:r>
            <a:r>
              <a:rPr dirty="0" sz="145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Diwali,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October</a:t>
            </a:r>
            <a:r>
              <a:rPr dirty="0" sz="145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to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December.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4946903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0259" y="5279897"/>
            <a:ext cx="5892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20">
                <a:solidFill>
                  <a:srgbClr val="6D552F"/>
                </a:solidFill>
                <a:latin typeface="Bookman Old Style"/>
                <a:cs typeface="Bookman Old Style"/>
              </a:rPr>
              <a:t>Pack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70834" y="5315587"/>
            <a:ext cx="7524115" cy="50800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Glass</a:t>
            </a:r>
            <a:r>
              <a:rPr dirty="0" sz="14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works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everywhere.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Ceramic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is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allowed:</a:t>
            </a:r>
            <a:r>
              <a:rPr dirty="0" sz="145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plan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freight,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leave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space</a:t>
            </a:r>
            <a:r>
              <a:rPr dirty="0" sz="14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for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India's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stickers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and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seals.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88082" y="6392976"/>
            <a:ext cx="190182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02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Bottle,</a:t>
            </a:r>
            <a:r>
              <a:rPr dirty="0" sz="11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Strength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&amp;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Pack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31851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3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M É X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C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16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 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 W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Six</a:t>
            </a:r>
            <a:r>
              <a:rPr dirty="0" spc="-30"/>
              <a:t> </a:t>
            </a:r>
            <a:r>
              <a:rPr dirty="0"/>
              <a:t>documents</a:t>
            </a:r>
            <a:r>
              <a:rPr dirty="0" spc="-35"/>
              <a:t> </a:t>
            </a:r>
            <a:r>
              <a:rPr dirty="0"/>
              <a:t>before</a:t>
            </a:r>
            <a:r>
              <a:rPr dirty="0" spc="-55"/>
              <a:t> </a:t>
            </a:r>
            <a:r>
              <a:rPr dirty="0"/>
              <a:t>anything</a:t>
            </a:r>
            <a:r>
              <a:rPr dirty="0" spc="-40"/>
              <a:t> </a:t>
            </a:r>
            <a:r>
              <a:rPr dirty="0" spc="-10"/>
              <a:t>ships</a:t>
            </a:r>
          </a:p>
        </p:txBody>
      </p:sp>
      <p:sp>
        <p:nvSpPr>
          <p:cNvPr id="4" name="object 4"/>
          <p:cNvSpPr/>
          <p:nvPr/>
        </p:nvSpPr>
        <p:spPr>
          <a:xfrm>
            <a:off x="822960" y="1719072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4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1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3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1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98321" y="1821306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2033" y="1850263"/>
            <a:ext cx="438848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69745" algn="l"/>
              </a:tabLst>
            </a:pP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CRT</a:t>
            </a:r>
            <a:r>
              <a:rPr dirty="0" sz="1700" spc="-2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00" spc="-10">
                <a:solidFill>
                  <a:srgbClr val="6D552F"/>
                </a:solidFill>
                <a:latin typeface="Bookman Old Style"/>
                <a:cs typeface="Bookman Old Style"/>
              </a:rPr>
              <a:t>certificate</a:t>
            </a: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	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current,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for</a:t>
            </a:r>
            <a:r>
              <a:rPr dirty="0" sz="14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SKUs</a:t>
            </a:r>
            <a:r>
              <a:rPr dirty="0" sz="14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will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export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4480" y="2340864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2960" y="2450592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4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2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3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2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98321" y="2552826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2033" y="2581782"/>
            <a:ext cx="146304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NOM</a:t>
            </a:r>
            <a:r>
              <a:rPr dirty="0" sz="1700" spc="-10">
                <a:solidFill>
                  <a:srgbClr val="6D552F"/>
                </a:solidFill>
                <a:latin typeface="Bookman Old Style"/>
                <a:cs typeface="Bookman Old Style"/>
              </a:rPr>
              <a:t> number</a:t>
            </a:r>
            <a:endParaRPr sz="17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1857" y="2619882"/>
            <a:ext cx="16097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printed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on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every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label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54480" y="3072383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22960" y="3182111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5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2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3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2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98321" y="3284601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2033" y="3313557"/>
            <a:ext cx="62293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0">
                <a:solidFill>
                  <a:srgbClr val="6D552F"/>
                </a:solidFill>
                <a:latin typeface="Bookman Old Style"/>
                <a:cs typeface="Bookman Old Style"/>
              </a:rPr>
              <a:t>CAET</a:t>
            </a:r>
            <a:endParaRPr sz="17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3657" y="3351657"/>
            <a:ext cx="49085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export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certificate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per</a:t>
            </a:r>
            <a:r>
              <a:rPr dirty="0" sz="14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shipment: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category,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class,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strength,</a:t>
            </a:r>
            <a:r>
              <a:rPr dirty="0" sz="140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brand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54480" y="3803903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2960" y="3913632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5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2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4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2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98321" y="4016121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4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2033" y="4045077"/>
            <a:ext cx="292544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IMPI</a:t>
            </a:r>
            <a:r>
              <a:rPr dirty="0" sz="1700" spc="-6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trademark</a:t>
            </a:r>
            <a:r>
              <a:rPr dirty="0" sz="170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+</a:t>
            </a:r>
            <a:r>
              <a:rPr dirty="0" sz="1700" spc="-2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00" spc="-10">
                <a:solidFill>
                  <a:srgbClr val="6D552F"/>
                </a:solidFill>
                <a:latin typeface="Bookman Old Style"/>
                <a:cs typeface="Bookman Old Style"/>
              </a:rPr>
              <a:t>Convenio</a:t>
            </a:r>
            <a:endParaRPr sz="17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43754" y="4083177"/>
            <a:ext cx="59385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Convenio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de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Corresponsabilidad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applies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if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another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distillery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makes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brand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54480" y="4535423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22960" y="4645152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5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1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4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1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98321" y="4748022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5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2033" y="4776977"/>
            <a:ext cx="1767839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Padrón</a:t>
            </a:r>
            <a:r>
              <a:rPr dirty="0" sz="1700" spc="-7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00" spc="-10">
                <a:solidFill>
                  <a:srgbClr val="6D552F"/>
                </a:solidFill>
                <a:latin typeface="Bookman Old Style"/>
                <a:cs typeface="Bookman Old Style"/>
              </a:rPr>
              <a:t>Sectorial</a:t>
            </a:r>
            <a:endParaRPr sz="17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88182" y="4815077"/>
            <a:ext cx="333565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SAT's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exporter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registry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for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alcoholic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beverages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54480" y="5266944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22960" y="5376671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5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1"/>
                </a:lnTo>
                <a:lnTo>
                  <a:pt x="4125" y="302053"/>
                </a:lnTo>
                <a:lnTo>
                  <a:pt x="16018" y="345369"/>
                </a:lnTo>
                <a:lnTo>
                  <a:pt x="34956" y="385255"/>
                </a:lnTo>
                <a:lnTo>
                  <a:pt x="60215" y="420989"/>
                </a:lnTo>
                <a:lnTo>
                  <a:pt x="91074" y="451848"/>
                </a:lnTo>
                <a:lnTo>
                  <a:pt x="126808" y="477107"/>
                </a:lnTo>
                <a:lnTo>
                  <a:pt x="166694" y="496045"/>
                </a:lnTo>
                <a:lnTo>
                  <a:pt x="210010" y="507938"/>
                </a:lnTo>
                <a:lnTo>
                  <a:pt x="256031" y="512063"/>
                </a:lnTo>
                <a:lnTo>
                  <a:pt x="302053" y="507938"/>
                </a:lnTo>
                <a:lnTo>
                  <a:pt x="345369" y="496045"/>
                </a:lnTo>
                <a:lnTo>
                  <a:pt x="385255" y="477107"/>
                </a:lnTo>
                <a:lnTo>
                  <a:pt x="420989" y="451848"/>
                </a:lnTo>
                <a:lnTo>
                  <a:pt x="451848" y="420989"/>
                </a:lnTo>
                <a:lnTo>
                  <a:pt x="477107" y="385255"/>
                </a:lnTo>
                <a:lnTo>
                  <a:pt x="496045" y="345369"/>
                </a:lnTo>
                <a:lnTo>
                  <a:pt x="507938" y="302053"/>
                </a:lnTo>
                <a:lnTo>
                  <a:pt x="512064" y="256031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98321" y="5479491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6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42033" y="5508447"/>
            <a:ext cx="161099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6D552F"/>
                </a:solidFill>
                <a:latin typeface="Bookman Old Style"/>
                <a:cs typeface="Bookman Old Style"/>
              </a:rPr>
              <a:t>Bottler</a:t>
            </a:r>
            <a:r>
              <a:rPr dirty="0" sz="1700" spc="-7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00" spc="-10">
                <a:solidFill>
                  <a:srgbClr val="6D552F"/>
                </a:solidFill>
                <a:latin typeface="Bookman Old Style"/>
                <a:cs typeface="Bookman Old Style"/>
              </a:rPr>
              <a:t>registry</a:t>
            </a:r>
            <a:endParaRPr sz="1700">
              <a:latin typeface="Bookman Old Style"/>
              <a:cs typeface="Bookman Old Sty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29685" y="5546547"/>
            <a:ext cx="28549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CRT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registration,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with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quarterly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reports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0259" y="5931509"/>
            <a:ext cx="5988050" cy="662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Phase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2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we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collect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these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documents,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not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answers.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Start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folder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week.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890395" algn="l"/>
              </a:tabLst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03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Mexican</a:t>
            </a:r>
            <a:r>
              <a:rPr dirty="0" sz="11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Paper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Trail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26993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P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4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N D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16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300" spc="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C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C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Three</a:t>
            </a:r>
            <a:r>
              <a:rPr dirty="0" spc="-25"/>
              <a:t> </a:t>
            </a:r>
            <a:r>
              <a:rPr dirty="0"/>
              <a:t>licences,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who</a:t>
            </a:r>
            <a:r>
              <a:rPr dirty="0" spc="-25"/>
              <a:t> </a:t>
            </a:r>
            <a:r>
              <a:rPr dirty="0"/>
              <a:t>holds</a:t>
            </a:r>
            <a:r>
              <a:rPr dirty="0" spc="-35"/>
              <a:t> </a:t>
            </a:r>
            <a:r>
              <a:rPr dirty="0" spc="-20"/>
              <a:t>them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932558"/>
            <a:ext cx="248221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solidFill>
                  <a:srgbClr val="6D552F"/>
                </a:solidFill>
                <a:latin typeface="Bookman Old Style"/>
                <a:cs typeface="Bookman Old Style"/>
              </a:rPr>
              <a:t>FSSAI</a:t>
            </a:r>
            <a:r>
              <a:rPr dirty="0" sz="1900" spc="-5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900">
                <a:solidFill>
                  <a:srgbClr val="6D552F"/>
                </a:solidFill>
                <a:latin typeface="Bookman Old Style"/>
                <a:cs typeface="Bookman Old Style"/>
              </a:rPr>
              <a:t>import</a:t>
            </a:r>
            <a:r>
              <a:rPr dirty="0" sz="1900" spc="-4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900" spc="-10">
                <a:solidFill>
                  <a:srgbClr val="6D552F"/>
                </a:solidFill>
                <a:latin typeface="Bookman Old Style"/>
                <a:cs typeface="Bookman Old Style"/>
              </a:rPr>
              <a:t>licence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6189" y="1991105"/>
            <a:ext cx="166370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held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by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importer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" y="2532888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259" y="2801238"/>
            <a:ext cx="291592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solidFill>
                  <a:srgbClr val="6D552F"/>
                </a:solidFill>
                <a:latin typeface="Bookman Old Style"/>
                <a:cs typeface="Bookman Old Style"/>
              </a:rPr>
              <a:t>IEC</a:t>
            </a:r>
            <a:r>
              <a:rPr dirty="0" sz="190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900" spc="-20">
                <a:solidFill>
                  <a:srgbClr val="6D552F"/>
                </a:solidFill>
                <a:latin typeface="Bookman Old Style"/>
                <a:cs typeface="Bookman Old Style"/>
              </a:rPr>
              <a:t>(import-</a:t>
            </a:r>
            <a:r>
              <a:rPr dirty="0" sz="1900">
                <a:solidFill>
                  <a:srgbClr val="6D552F"/>
                </a:solidFill>
                <a:latin typeface="Bookman Old Style"/>
                <a:cs typeface="Bookman Old Style"/>
              </a:rPr>
              <a:t>export</a:t>
            </a:r>
            <a:r>
              <a:rPr dirty="0" sz="1900" spc="5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900" spc="-10">
                <a:solidFill>
                  <a:srgbClr val="6D552F"/>
                </a:solidFill>
                <a:latin typeface="Bookman Old Style"/>
                <a:cs typeface="Bookman Old Style"/>
              </a:rPr>
              <a:t>code)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6189" y="2860039"/>
            <a:ext cx="166370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held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by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importer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60" y="3401567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0259" y="3670172"/>
            <a:ext cx="229679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>
                <a:solidFill>
                  <a:srgbClr val="6D552F"/>
                </a:solidFill>
                <a:latin typeface="Bookman Old Style"/>
                <a:cs typeface="Bookman Old Style"/>
              </a:rPr>
              <a:t>NOC,</a:t>
            </a:r>
            <a:r>
              <a:rPr dirty="0" sz="1900" spc="-3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900">
                <a:solidFill>
                  <a:srgbClr val="6D552F"/>
                </a:solidFill>
                <a:latin typeface="Bookman Old Style"/>
                <a:cs typeface="Bookman Old Style"/>
              </a:rPr>
              <a:t>per</a:t>
            </a:r>
            <a:r>
              <a:rPr dirty="0" sz="1900" spc="-2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900" spc="-10">
                <a:solidFill>
                  <a:srgbClr val="6D552F"/>
                </a:solidFill>
                <a:latin typeface="Bookman Old Style"/>
                <a:cs typeface="Bookman Old Style"/>
              </a:rPr>
              <a:t>shipment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6189" y="3728415"/>
            <a:ext cx="363347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applied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for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by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importer,</a:t>
            </a:r>
            <a:r>
              <a:rPr dirty="0" sz="1450" spc="-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every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consignment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4480559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0259" y="4733925"/>
            <a:ext cx="9069070" cy="8870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What</a:t>
            </a:r>
            <a:r>
              <a:rPr dirty="0" sz="1450" spc="-4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you</a:t>
            </a:r>
            <a:r>
              <a:rPr dirty="0" sz="14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provide</a:t>
            </a:r>
            <a:r>
              <a:rPr dirty="0" sz="1450" spc="-5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from</a:t>
            </a:r>
            <a:r>
              <a:rPr dirty="0" sz="1450" spc="-4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México:</a:t>
            </a:r>
            <a:r>
              <a:rPr dirty="0" sz="14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lab</a:t>
            </a:r>
            <a:r>
              <a:rPr dirty="0" sz="14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certificate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(CoA),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brand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documents,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an</a:t>
            </a:r>
            <a:r>
              <a:rPr dirty="0" sz="14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authorisation</a:t>
            </a:r>
            <a:r>
              <a:rPr dirty="0" sz="145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letter</a:t>
            </a:r>
            <a:r>
              <a:rPr dirty="0" sz="14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as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brand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owner.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The</a:t>
            </a:r>
            <a:r>
              <a:rPr dirty="0" sz="1450" spc="-5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clock:</a:t>
            </a:r>
            <a:r>
              <a:rPr dirty="0" sz="145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state</a:t>
            </a:r>
            <a:r>
              <a:rPr dirty="0" sz="14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label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registration</a:t>
            </a:r>
            <a:r>
              <a:rPr dirty="0" sz="14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can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take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4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to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5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months.</a:t>
            </a:r>
            <a:r>
              <a:rPr dirty="0" sz="1450" spc="-6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For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Diwali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2026,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paperwork</a:t>
            </a:r>
            <a:r>
              <a:rPr dirty="0" sz="145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starts</a:t>
            </a:r>
            <a:r>
              <a:rPr dirty="0" sz="145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this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month.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8082" y="6392976"/>
            <a:ext cx="13823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04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India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Gate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23622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5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D I 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' S</a:t>
            </a:r>
            <a:r>
              <a:rPr dirty="0" sz="1300" spc="16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300" spc="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B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25"/>
              <a:t> </a:t>
            </a:r>
            <a:r>
              <a:rPr dirty="0"/>
              <a:t>your</a:t>
            </a:r>
            <a:r>
              <a:rPr dirty="0" spc="-40"/>
              <a:t> </a:t>
            </a:r>
            <a:r>
              <a:rPr dirty="0"/>
              <a:t>label</a:t>
            </a:r>
            <a:r>
              <a:rPr dirty="0" spc="-25"/>
              <a:t> </a:t>
            </a:r>
            <a:r>
              <a:rPr dirty="0"/>
              <a:t>must</a:t>
            </a:r>
            <a:r>
              <a:rPr dirty="0" spc="-25"/>
              <a:t> </a:t>
            </a:r>
            <a:r>
              <a:rPr dirty="0"/>
              <a:t>add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25"/>
              <a:t> </a:t>
            </a:r>
            <a:r>
              <a:rPr dirty="0" spc="-10"/>
              <a:t>India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875281"/>
            <a:ext cx="302069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Standard</a:t>
            </a:r>
            <a:r>
              <a:rPr dirty="0" sz="1750" spc="-6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Drink</a:t>
            </a:r>
            <a:r>
              <a:rPr dirty="0" sz="1750" spc="-3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declaration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6189" y="1940179"/>
            <a:ext cx="25368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new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rule,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force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since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1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July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2026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" y="2386583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259" y="2625343"/>
            <a:ext cx="199898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Statutory</a:t>
            </a:r>
            <a:r>
              <a:rPr dirty="0" sz="1750" spc="-8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warning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6189" y="2689987"/>
            <a:ext cx="251523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size</a:t>
            </a:r>
            <a:r>
              <a:rPr dirty="0" sz="14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depends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on</a:t>
            </a:r>
            <a:r>
              <a:rPr dirty="0" sz="14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bottle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volume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60" y="3136392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0259" y="3375152"/>
            <a:ext cx="148844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ABV</a:t>
            </a:r>
            <a:r>
              <a:rPr dirty="0" sz="175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declared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6189" y="3440048"/>
            <a:ext cx="22561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within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±3%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real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strength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3886200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0259" y="4125214"/>
            <a:ext cx="3500754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Importer</a:t>
            </a:r>
            <a:r>
              <a:rPr dirty="0" sz="1750" spc="-4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details</a:t>
            </a:r>
            <a:r>
              <a:rPr dirty="0" sz="1750" spc="-6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and</a:t>
            </a:r>
            <a:r>
              <a:rPr dirty="0" sz="1750" spc="-4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MRP</a:t>
            </a:r>
            <a:r>
              <a:rPr dirty="0" sz="1750" spc="-3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space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6189" y="4189857"/>
            <a:ext cx="11607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added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per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state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0" y="4636008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10259" y="4874717"/>
            <a:ext cx="2431415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No</a:t>
            </a:r>
            <a:r>
              <a:rPr dirty="0" sz="1750" spc="-3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expiry</a:t>
            </a:r>
            <a:r>
              <a:rPr dirty="0" sz="175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date</a:t>
            </a:r>
            <a:r>
              <a:rPr dirty="0" sz="175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needed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6189" y="4940046"/>
            <a:ext cx="21456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spirits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above</a:t>
            </a:r>
            <a:r>
              <a:rPr dirty="0" sz="1400" spc="-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10%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are</a:t>
            </a:r>
            <a:r>
              <a:rPr dirty="0" sz="14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exempt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0259" y="5762955"/>
            <a:ext cx="978725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450" spc="-5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good</a:t>
            </a:r>
            <a:r>
              <a:rPr dirty="0" sz="1450" spc="-4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news:</a:t>
            </a:r>
            <a:r>
              <a:rPr dirty="0" sz="14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all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goes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on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rear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over-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label,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applied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at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bonded</a:t>
            </a:r>
            <a:r>
              <a:rPr dirty="0" sz="145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warehouse</a:t>
            </a:r>
            <a:r>
              <a:rPr dirty="0" sz="14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India.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original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label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does</a:t>
            </a:r>
            <a:r>
              <a:rPr dirty="0" sz="14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not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change.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8082" y="6392976"/>
            <a:ext cx="13823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04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India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Gate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21050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6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 R I C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From</a:t>
            </a:r>
            <a:r>
              <a:rPr dirty="0" spc="-20"/>
              <a:t> </a:t>
            </a:r>
            <a:r>
              <a:rPr dirty="0"/>
              <a:t>your</a:t>
            </a:r>
            <a:r>
              <a:rPr dirty="0" spc="-40"/>
              <a:t> </a:t>
            </a:r>
            <a:r>
              <a:rPr dirty="0"/>
              <a:t>FOB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an</a:t>
            </a:r>
            <a:r>
              <a:rPr dirty="0" spc="-15"/>
              <a:t> </a:t>
            </a:r>
            <a:r>
              <a:rPr dirty="0"/>
              <a:t>Indian</a:t>
            </a:r>
            <a:r>
              <a:rPr dirty="0" spc="-20"/>
              <a:t> </a:t>
            </a:r>
            <a:r>
              <a:rPr dirty="0" spc="-10"/>
              <a:t>shelf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926463"/>
            <a:ext cx="14395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FOB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(example)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4710" y="1892935"/>
            <a:ext cx="7975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8A6D3C"/>
                </a:solidFill>
                <a:latin typeface="Bookman Old Style"/>
                <a:cs typeface="Bookman Old Style"/>
              </a:rPr>
              <a:t>USD</a:t>
            </a:r>
            <a:r>
              <a:rPr dirty="0" sz="1600" spc="-20">
                <a:solidFill>
                  <a:srgbClr val="8A6D3C"/>
                </a:solidFill>
                <a:latin typeface="Bookman Old Style"/>
                <a:cs typeface="Bookman Old Style"/>
              </a:rPr>
              <a:t> </a:t>
            </a:r>
            <a:r>
              <a:rPr dirty="0" sz="1600" spc="-25">
                <a:solidFill>
                  <a:srgbClr val="8A6D3C"/>
                </a:solidFill>
                <a:latin typeface="Bookman Old Style"/>
                <a:cs typeface="Bookman Old Style"/>
              </a:rPr>
              <a:t>15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" y="2395727"/>
            <a:ext cx="5394960" cy="0"/>
          </a:xfrm>
          <a:custGeom>
            <a:avLst/>
            <a:gdLst/>
            <a:ahLst/>
            <a:cxnLst/>
            <a:rect l="l" t="t" r="r" b="b"/>
            <a:pathLst>
              <a:path w="5394960" h="0">
                <a:moveTo>
                  <a:pt x="0" y="0"/>
                </a:moveTo>
                <a:lnTo>
                  <a:pt x="539496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259" y="2639695"/>
            <a:ext cx="19500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+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import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duty,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about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150%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960" y="3108960"/>
            <a:ext cx="5394960" cy="0"/>
          </a:xfrm>
          <a:custGeom>
            <a:avLst/>
            <a:gdLst/>
            <a:ahLst/>
            <a:cxnLst/>
            <a:rect l="l" t="t" r="r" b="b"/>
            <a:pathLst>
              <a:path w="5394960" h="0">
                <a:moveTo>
                  <a:pt x="0" y="0"/>
                </a:moveTo>
                <a:lnTo>
                  <a:pt x="539496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10259" y="3353180"/>
            <a:ext cx="172973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+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state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taxes,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40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80%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960" y="3822191"/>
            <a:ext cx="5394960" cy="0"/>
          </a:xfrm>
          <a:custGeom>
            <a:avLst/>
            <a:gdLst/>
            <a:ahLst/>
            <a:cxnLst/>
            <a:rect l="l" t="t" r="r" b="b"/>
            <a:pathLst>
              <a:path w="5394960" h="0">
                <a:moveTo>
                  <a:pt x="0" y="0"/>
                </a:moveTo>
                <a:lnTo>
                  <a:pt x="539496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10259" y="4066413"/>
            <a:ext cx="26885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+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importer, distributor,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retail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margins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4535423"/>
            <a:ext cx="5394960" cy="0"/>
          </a:xfrm>
          <a:custGeom>
            <a:avLst/>
            <a:gdLst/>
            <a:ahLst/>
            <a:cxnLst/>
            <a:rect l="l" t="t" r="r" b="b"/>
            <a:pathLst>
              <a:path w="5394960" h="0">
                <a:moveTo>
                  <a:pt x="0" y="0"/>
                </a:moveTo>
                <a:lnTo>
                  <a:pt x="539496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0259" y="4772405"/>
            <a:ext cx="15474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5211C"/>
                </a:solidFill>
                <a:latin typeface="Calibri"/>
                <a:cs typeface="Calibri"/>
              </a:rPr>
              <a:t>Mumbai</a:t>
            </a:r>
            <a:r>
              <a:rPr dirty="0" sz="1500" spc="-2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25211C"/>
                </a:solidFill>
                <a:latin typeface="Calibri"/>
                <a:cs typeface="Calibri"/>
              </a:rPr>
              <a:t>shelf</a:t>
            </a:r>
            <a:r>
              <a:rPr dirty="0" sz="1500" spc="-2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25211C"/>
                </a:solidFill>
                <a:latin typeface="Calibri"/>
                <a:cs typeface="Calibri"/>
              </a:rPr>
              <a:t>price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47742" y="4748022"/>
            <a:ext cx="16846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8A6D3C"/>
                </a:solidFill>
                <a:latin typeface="Times New Roman"/>
                <a:cs typeface="Times New Roman"/>
              </a:rPr>
              <a:t>₹</a:t>
            </a:r>
            <a:r>
              <a:rPr dirty="0" sz="1600">
                <a:solidFill>
                  <a:srgbClr val="8A6D3C"/>
                </a:solidFill>
                <a:latin typeface="Bookman Old Style"/>
                <a:cs typeface="Bookman Old Style"/>
              </a:rPr>
              <a:t>7,500</a:t>
            </a:r>
            <a:r>
              <a:rPr dirty="0" sz="1600" spc="-30">
                <a:solidFill>
                  <a:srgbClr val="8A6D3C"/>
                </a:solidFill>
                <a:latin typeface="Bookman Old Style"/>
                <a:cs typeface="Bookman Old Style"/>
              </a:rPr>
              <a:t> </a:t>
            </a:r>
            <a:r>
              <a:rPr dirty="0" sz="1600">
                <a:solidFill>
                  <a:srgbClr val="8A6D3C"/>
                </a:solidFill>
                <a:latin typeface="Bookman Old Style"/>
                <a:cs typeface="Bookman Old Style"/>
              </a:rPr>
              <a:t>to</a:t>
            </a:r>
            <a:r>
              <a:rPr dirty="0" sz="1600" spc="-10">
                <a:solidFill>
                  <a:srgbClr val="8A6D3C"/>
                </a:solidFill>
                <a:latin typeface="Bookman Old Style"/>
                <a:cs typeface="Bookman Old Style"/>
              </a:rPr>
              <a:t> </a:t>
            </a:r>
            <a:r>
              <a:rPr dirty="0" sz="1600" spc="-10">
                <a:solidFill>
                  <a:srgbClr val="8A6D3C"/>
                </a:solidFill>
                <a:latin typeface="Times New Roman"/>
                <a:cs typeface="Times New Roman"/>
              </a:rPr>
              <a:t>₹</a:t>
            </a:r>
            <a:r>
              <a:rPr dirty="0" sz="1600" spc="-10">
                <a:solidFill>
                  <a:srgbClr val="8A6D3C"/>
                </a:solidFill>
                <a:latin typeface="Bookman Old Style"/>
                <a:cs typeface="Bookman Old Style"/>
              </a:rPr>
              <a:t>9,500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75119" y="1874520"/>
            <a:ext cx="0" cy="3840479"/>
          </a:xfrm>
          <a:custGeom>
            <a:avLst/>
            <a:gdLst/>
            <a:ahLst/>
            <a:cxnLst/>
            <a:rect l="l" t="t" r="r" b="b"/>
            <a:pathLst>
              <a:path w="0" h="3840479">
                <a:moveTo>
                  <a:pt x="0" y="0"/>
                </a:moveTo>
                <a:lnTo>
                  <a:pt x="0" y="3840479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029068" y="1907285"/>
            <a:ext cx="229997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8A6D3C"/>
                </a:solidFill>
                <a:latin typeface="Calibri"/>
                <a:cs typeface="Calibri"/>
              </a:rPr>
              <a:t>If</a:t>
            </a:r>
            <a:r>
              <a:rPr dirty="0" sz="1350" spc="2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50" spc="65" b="1">
                <a:solidFill>
                  <a:srgbClr val="8A6D3C"/>
                </a:solidFill>
                <a:latin typeface="Calibri"/>
                <a:cs typeface="Calibri"/>
              </a:rPr>
              <a:t>you</a:t>
            </a:r>
            <a:r>
              <a:rPr dirty="0" sz="1350" spc="1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50" spc="75" b="1">
                <a:solidFill>
                  <a:srgbClr val="8A6D3C"/>
                </a:solidFill>
                <a:latin typeface="Calibri"/>
                <a:cs typeface="Calibri"/>
              </a:rPr>
              <a:t>want</a:t>
            </a:r>
            <a:r>
              <a:rPr dirty="0" sz="1350" spc="18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50" spc="65" b="1">
                <a:solidFill>
                  <a:srgbClr val="8A6D3C"/>
                </a:solidFill>
                <a:latin typeface="Calibri"/>
                <a:cs typeface="Calibri"/>
              </a:rPr>
              <a:t>this</a:t>
            </a:r>
            <a:r>
              <a:rPr dirty="0" sz="1350" spc="2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50" spc="75" b="1">
                <a:solidFill>
                  <a:srgbClr val="8A6D3C"/>
                </a:solidFill>
                <a:latin typeface="Calibri"/>
                <a:cs typeface="Calibri"/>
              </a:rPr>
              <a:t>shelf</a:t>
            </a:r>
            <a:r>
              <a:rPr dirty="0" sz="1350" spc="204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50" spc="65" b="1">
                <a:solidFill>
                  <a:srgbClr val="8A6D3C"/>
                </a:solidFill>
                <a:latin typeface="Calibri"/>
                <a:cs typeface="Calibri"/>
              </a:rPr>
              <a:t>price: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29068" y="2388235"/>
            <a:ext cx="9455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25211C"/>
                </a:solidFill>
                <a:latin typeface="Times New Roman"/>
                <a:cs typeface="Times New Roman"/>
              </a:rPr>
              <a:t>₹</a:t>
            </a:r>
            <a:r>
              <a:rPr dirty="0" sz="2200" spc="-10">
                <a:solidFill>
                  <a:srgbClr val="25211C"/>
                </a:solidFill>
                <a:latin typeface="Bookman Old Style"/>
                <a:cs typeface="Bookman Old Style"/>
              </a:rPr>
              <a:t>4,000</a:t>
            </a:r>
            <a:endParaRPr sz="22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58250" y="2498851"/>
            <a:ext cx="129413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FOB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USD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6.5</a:t>
            </a:r>
            <a:r>
              <a:rPr dirty="0" sz="14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50">
                <a:solidFill>
                  <a:srgbClr val="494338"/>
                </a:solidFill>
                <a:latin typeface="Calibri"/>
                <a:cs typeface="Calibri"/>
              </a:rPr>
              <a:t>9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40880" y="2971800"/>
            <a:ext cx="4297680" cy="0"/>
          </a:xfrm>
          <a:custGeom>
            <a:avLst/>
            <a:gdLst/>
            <a:ahLst/>
            <a:cxnLst/>
            <a:rect l="l" t="t" r="r" b="b"/>
            <a:pathLst>
              <a:path w="4297680" h="0">
                <a:moveTo>
                  <a:pt x="0" y="0"/>
                </a:moveTo>
                <a:lnTo>
                  <a:pt x="429768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029068" y="3165729"/>
            <a:ext cx="9455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25211C"/>
                </a:solidFill>
                <a:latin typeface="Times New Roman"/>
                <a:cs typeface="Times New Roman"/>
              </a:rPr>
              <a:t>₹</a:t>
            </a:r>
            <a:r>
              <a:rPr dirty="0" sz="2200" spc="-10">
                <a:solidFill>
                  <a:srgbClr val="25211C"/>
                </a:solidFill>
                <a:latin typeface="Bookman Old Style"/>
                <a:cs typeface="Bookman Old Style"/>
              </a:rPr>
              <a:t>6,000</a:t>
            </a:r>
            <a:endParaRPr sz="22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58250" y="3276092"/>
            <a:ext cx="133985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FOB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USD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10</a:t>
            </a:r>
            <a:r>
              <a:rPr dirty="0" sz="14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14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40880" y="3749040"/>
            <a:ext cx="4297680" cy="0"/>
          </a:xfrm>
          <a:custGeom>
            <a:avLst/>
            <a:gdLst/>
            <a:ahLst/>
            <a:cxnLst/>
            <a:rect l="l" t="t" r="r" b="b"/>
            <a:pathLst>
              <a:path w="4297680" h="0">
                <a:moveTo>
                  <a:pt x="0" y="0"/>
                </a:moveTo>
                <a:lnTo>
                  <a:pt x="429768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029068" y="3942969"/>
            <a:ext cx="9455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25211C"/>
                </a:solidFill>
                <a:latin typeface="Times New Roman"/>
                <a:cs typeface="Times New Roman"/>
              </a:rPr>
              <a:t>₹</a:t>
            </a:r>
            <a:r>
              <a:rPr dirty="0" sz="2200" spc="-10">
                <a:solidFill>
                  <a:srgbClr val="25211C"/>
                </a:solidFill>
                <a:latin typeface="Bookman Old Style"/>
                <a:cs typeface="Bookman Old Style"/>
              </a:rPr>
              <a:t>9,000</a:t>
            </a:r>
            <a:endParaRPr sz="22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58250" y="4053585"/>
            <a:ext cx="133985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FOB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USD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15</a:t>
            </a:r>
            <a:r>
              <a:rPr dirty="0" sz="14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21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0259" y="5862929"/>
            <a:ext cx="595439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Rule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thumb: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shelf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=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5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7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times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FOB.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Your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exact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model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built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with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Phase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3.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88082" y="6392976"/>
            <a:ext cx="20777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05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Landed-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Cost</a:t>
            </a:r>
            <a:r>
              <a:rPr dirty="0" sz="11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Equation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28879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7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 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 T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Start</a:t>
            </a:r>
            <a:r>
              <a:rPr dirty="0" spc="-30"/>
              <a:t> </a:t>
            </a:r>
            <a:r>
              <a:rPr dirty="0"/>
              <a:t>narrow.</a:t>
            </a:r>
            <a:r>
              <a:rPr dirty="0" spc="-10"/>
              <a:t> </a:t>
            </a:r>
            <a:r>
              <a:rPr dirty="0"/>
              <a:t>One</a:t>
            </a:r>
            <a:r>
              <a:rPr dirty="0" spc="-25"/>
              <a:t> </a:t>
            </a:r>
            <a:r>
              <a:rPr dirty="0"/>
              <a:t>or</a:t>
            </a:r>
            <a:r>
              <a:rPr dirty="0" spc="-25"/>
              <a:t> </a:t>
            </a:r>
            <a:r>
              <a:rPr dirty="0"/>
              <a:t>two</a:t>
            </a:r>
            <a:r>
              <a:rPr dirty="0" spc="-25"/>
              <a:t> </a:t>
            </a:r>
            <a:r>
              <a:rPr dirty="0" spc="-10"/>
              <a:t>states.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798447"/>
            <a:ext cx="10826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40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-8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095" y="1798447"/>
            <a:ext cx="5518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300" spc="-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-8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17789" y="1798447"/>
            <a:ext cx="88709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42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60" b="1">
                <a:solidFill>
                  <a:srgbClr val="8A6D3C"/>
                </a:solidFill>
                <a:latin typeface="Calibri"/>
                <a:cs typeface="Calibri"/>
              </a:rPr>
              <a:t>W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2960" y="2103120"/>
            <a:ext cx="3520440" cy="0"/>
          </a:xfrm>
          <a:custGeom>
            <a:avLst/>
            <a:gdLst/>
            <a:ahLst/>
            <a:cxnLst/>
            <a:rect l="l" t="t" r="r" b="b"/>
            <a:pathLst>
              <a:path w="3520440" h="0">
                <a:moveTo>
                  <a:pt x="0" y="0"/>
                </a:moveTo>
                <a:lnTo>
                  <a:pt x="3520440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09159" y="2103120"/>
            <a:ext cx="3154680" cy="0"/>
          </a:xfrm>
          <a:custGeom>
            <a:avLst/>
            <a:gdLst/>
            <a:ahLst/>
            <a:cxnLst/>
            <a:rect l="l" t="t" r="r" b="b"/>
            <a:pathLst>
              <a:path w="3154679" h="0">
                <a:moveTo>
                  <a:pt x="0" y="0"/>
                </a:moveTo>
                <a:lnTo>
                  <a:pt x="3154680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29600" y="2103120"/>
            <a:ext cx="3108960" cy="0"/>
          </a:xfrm>
          <a:custGeom>
            <a:avLst/>
            <a:gdLst/>
            <a:ahLst/>
            <a:cxnLst/>
            <a:rect l="l" t="t" r="r" b="b"/>
            <a:pathLst>
              <a:path w="3108959" h="0">
                <a:moveTo>
                  <a:pt x="0" y="0"/>
                </a:moveTo>
                <a:lnTo>
                  <a:pt x="3108959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0259" y="2983814"/>
            <a:ext cx="170751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Maharashtra</a:t>
            </a:r>
            <a:r>
              <a:rPr dirty="0" sz="140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(Mumbai)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259" y="3365372"/>
            <a:ext cx="7467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Delhi</a:t>
            </a:r>
            <a:r>
              <a:rPr dirty="0" sz="14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25211C"/>
                </a:solidFill>
                <a:latin typeface="Calibri"/>
                <a:cs typeface="Calibri"/>
              </a:rPr>
              <a:t>NCR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97095" y="3365372"/>
            <a:ext cx="15474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Punjab</a:t>
            </a:r>
            <a:r>
              <a:rPr dirty="0" sz="14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&amp;</a:t>
            </a:r>
            <a:r>
              <a:rPr dirty="0" sz="14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Chandigarh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17789" y="3365372"/>
            <a:ext cx="13963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Dry:</a:t>
            </a:r>
            <a:r>
              <a:rPr dirty="0" sz="14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Gujarat,</a:t>
            </a:r>
            <a:r>
              <a:rPr dirty="0" sz="1400" spc="-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Bihar,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3746372"/>
            <a:ext cx="1629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Karnataka</a:t>
            </a:r>
            <a:r>
              <a:rPr dirty="0" sz="14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(Bengaluru)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7095" y="3746372"/>
            <a:ext cx="7366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Rajasthan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17789" y="3746372"/>
            <a:ext cx="1428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Mizoram, Nagaland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259" y="4127372"/>
            <a:ext cx="3181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25211C"/>
                </a:solidFill>
                <a:latin typeface="Calibri"/>
                <a:cs typeface="Calibri"/>
              </a:rPr>
              <a:t>Goa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97095" y="4127372"/>
            <a:ext cx="920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5211C"/>
                </a:solidFill>
                <a:latin typeface="Calibri"/>
                <a:cs typeface="Calibri"/>
              </a:rPr>
              <a:t>West</a:t>
            </a:r>
            <a:r>
              <a:rPr dirty="0" sz="14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Bengal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17789" y="4127372"/>
            <a:ext cx="175513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State-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monopoly</a:t>
            </a:r>
            <a:r>
              <a:rPr dirty="0" sz="14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buying: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59" y="4508753"/>
            <a:ext cx="15074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Haryana</a:t>
            </a:r>
            <a:r>
              <a:rPr dirty="0" sz="1400" spc="-7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(Gurugram)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97095" y="4508753"/>
            <a:ext cx="10242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Uttar</a:t>
            </a:r>
            <a:r>
              <a:rPr dirty="0" sz="1400" spc="-7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Pradesh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17789" y="4508753"/>
            <a:ext cx="1369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Kerala,</a:t>
            </a:r>
            <a:r>
              <a:rPr dirty="0" sz="14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25211C"/>
                </a:solidFill>
                <a:latin typeface="Calibri"/>
                <a:cs typeface="Calibri"/>
              </a:rPr>
              <a:t>Tamil</a:t>
            </a:r>
            <a:r>
              <a:rPr dirty="0" sz="14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25211C"/>
                </a:solidFill>
                <a:latin typeface="Calibri"/>
                <a:cs typeface="Calibri"/>
              </a:rPr>
              <a:t>Nadu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0259" y="4889753"/>
            <a:ext cx="16865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25211C"/>
                </a:solidFill>
                <a:latin typeface="Calibri"/>
                <a:cs typeface="Calibri"/>
              </a:rPr>
              <a:t>Telangana</a:t>
            </a:r>
            <a:r>
              <a:rPr dirty="0" sz="1400" spc="-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(Hyderabad)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80559" y="1828800"/>
            <a:ext cx="0" cy="3931920"/>
          </a:xfrm>
          <a:custGeom>
            <a:avLst/>
            <a:gdLst/>
            <a:ahLst/>
            <a:cxnLst/>
            <a:rect l="l" t="t" r="r" b="b"/>
            <a:pathLst>
              <a:path w="0" h="3931920">
                <a:moveTo>
                  <a:pt x="0" y="0"/>
                </a:moveTo>
                <a:lnTo>
                  <a:pt x="0" y="393192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001000" y="1828800"/>
            <a:ext cx="0" cy="3931920"/>
          </a:xfrm>
          <a:custGeom>
            <a:avLst/>
            <a:gdLst/>
            <a:ahLst/>
            <a:cxnLst/>
            <a:rect l="l" t="t" r="r" b="b"/>
            <a:pathLst>
              <a:path w="0" h="3931920">
                <a:moveTo>
                  <a:pt x="0" y="0"/>
                </a:moveTo>
                <a:lnTo>
                  <a:pt x="0" y="393192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10259" y="5931509"/>
            <a:ext cx="5262880" cy="662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briefing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names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or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two,</a:t>
            </a:r>
            <a:r>
              <a:rPr dirty="0" sz="13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matched</a:t>
            </a:r>
            <a:r>
              <a:rPr dirty="0" sz="13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budget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channel.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890395" algn="l"/>
              </a:tabLst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	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06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State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494338"/>
                </a:solidFill>
                <a:latin typeface="Calibri"/>
                <a:cs typeface="Calibri"/>
              </a:rPr>
              <a:t>Map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27482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P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8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 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D E M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Two</a:t>
            </a:r>
            <a:r>
              <a:rPr dirty="0" spc="-20"/>
              <a:t> </a:t>
            </a:r>
            <a:r>
              <a:rPr dirty="0"/>
              <a:t>registrations</a:t>
            </a:r>
            <a:r>
              <a:rPr dirty="0" spc="-20"/>
              <a:t> </a:t>
            </a:r>
            <a:r>
              <a:rPr dirty="0"/>
              <a:t>protect</a:t>
            </a:r>
            <a:r>
              <a:rPr dirty="0" spc="-45"/>
              <a:t> </a:t>
            </a:r>
            <a:r>
              <a:rPr dirty="0"/>
              <a:t>your</a:t>
            </a:r>
            <a:r>
              <a:rPr dirty="0" spc="-35"/>
              <a:t> </a:t>
            </a:r>
            <a:r>
              <a:rPr dirty="0" spc="-10"/>
              <a:t>brand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2060575"/>
            <a:ext cx="16795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6D552F"/>
                </a:solidFill>
                <a:latin typeface="Bookman Old Style"/>
                <a:cs typeface="Bookman Old Style"/>
              </a:rPr>
              <a:t>México</a:t>
            </a:r>
            <a:r>
              <a:rPr dirty="0" sz="2000" spc="-4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2000">
                <a:solidFill>
                  <a:srgbClr val="6D552F"/>
                </a:solidFill>
                <a:latin typeface="Bookman Old Style"/>
                <a:cs typeface="Bookman Old Style"/>
              </a:rPr>
              <a:t>· </a:t>
            </a:r>
            <a:r>
              <a:rPr dirty="0" sz="2000" spc="-20">
                <a:solidFill>
                  <a:srgbClr val="6D552F"/>
                </a:solidFill>
                <a:latin typeface="Bookman Old Style"/>
                <a:cs typeface="Bookman Old Style"/>
              </a:rPr>
              <a:t>IMPI</a:t>
            </a:r>
            <a:endParaRPr sz="20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1295" y="2402840"/>
            <a:ext cx="721740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Required</a:t>
            </a:r>
            <a:r>
              <a:rPr dirty="0" sz="15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before</a:t>
            </a:r>
            <a:r>
              <a:rPr dirty="0" sz="15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export:</a:t>
            </a:r>
            <a:r>
              <a:rPr dirty="0" sz="15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5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CAET</a:t>
            </a:r>
            <a:r>
              <a:rPr dirty="0" sz="150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certificate</a:t>
            </a:r>
            <a:r>
              <a:rPr dirty="0" sz="15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cannot</a:t>
            </a:r>
            <a:r>
              <a:rPr dirty="0" sz="1500" spc="-6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be</a:t>
            </a:r>
            <a:r>
              <a:rPr dirty="0" sz="15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issued</a:t>
            </a:r>
            <a:r>
              <a:rPr dirty="0" sz="15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without</a:t>
            </a:r>
            <a:r>
              <a:rPr dirty="0" sz="15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50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registered</a:t>
            </a:r>
            <a:r>
              <a:rPr dirty="0" sz="15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marca.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" y="3291840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259" y="3661028"/>
            <a:ext cx="19608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6D552F"/>
                </a:solidFill>
                <a:latin typeface="Bookman Old Style"/>
                <a:cs typeface="Bookman Old Style"/>
              </a:rPr>
              <a:t>India</a:t>
            </a:r>
            <a:r>
              <a:rPr dirty="0" sz="200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2000">
                <a:solidFill>
                  <a:srgbClr val="6D552F"/>
                </a:solidFill>
                <a:latin typeface="Bookman Old Style"/>
                <a:cs typeface="Bookman Old Style"/>
              </a:rPr>
              <a:t>·</a:t>
            </a:r>
            <a:r>
              <a:rPr dirty="0" sz="2000" spc="-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2000">
                <a:solidFill>
                  <a:srgbClr val="6D552F"/>
                </a:solidFill>
                <a:latin typeface="Bookman Old Style"/>
                <a:cs typeface="Bookman Old Style"/>
              </a:rPr>
              <a:t>Class</a:t>
            </a:r>
            <a:r>
              <a:rPr dirty="0" sz="200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2000" spc="-25">
                <a:solidFill>
                  <a:srgbClr val="6D552F"/>
                </a:solidFill>
                <a:latin typeface="Bookman Old Style"/>
                <a:cs typeface="Bookman Old Style"/>
              </a:rPr>
              <a:t>33</a:t>
            </a:r>
            <a:endParaRPr sz="20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11295" y="3850640"/>
            <a:ext cx="7162165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100"/>
              </a:spcBef>
            </a:pP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File</a:t>
            </a:r>
            <a:r>
              <a:rPr dirty="0" sz="15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now,</a:t>
            </a:r>
            <a:r>
              <a:rPr dirty="0" sz="15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before</a:t>
            </a:r>
            <a:r>
              <a:rPr dirty="0" sz="15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Phase</a:t>
            </a:r>
            <a:r>
              <a:rPr dirty="0" sz="15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4</a:t>
            </a:r>
            <a:r>
              <a:rPr dirty="0" sz="15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puts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5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name</a:t>
            </a:r>
            <a:r>
              <a:rPr dirty="0" sz="15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in</a:t>
            </a:r>
            <a:r>
              <a:rPr dirty="0" sz="15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front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of</a:t>
            </a:r>
            <a:r>
              <a:rPr dirty="0" sz="15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buyers.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Filing</a:t>
            </a:r>
            <a:r>
              <a:rPr dirty="0" sz="15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is</a:t>
            </a:r>
            <a:r>
              <a:rPr dirty="0" sz="15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cheap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and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takes</a:t>
            </a:r>
            <a:r>
              <a:rPr dirty="0" sz="15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months; recovering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5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name</a:t>
            </a:r>
            <a:r>
              <a:rPr dirty="0" sz="15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someone</a:t>
            </a:r>
            <a:r>
              <a:rPr dirty="0" sz="15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else</a:t>
            </a:r>
            <a:r>
              <a:rPr dirty="0" sz="15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registered</a:t>
            </a:r>
            <a:r>
              <a:rPr dirty="0" sz="15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25211C"/>
                </a:solidFill>
                <a:latin typeface="Calibri"/>
                <a:cs typeface="Calibri"/>
              </a:rPr>
              <a:t>takes</a:t>
            </a:r>
            <a:r>
              <a:rPr dirty="0" sz="15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25211C"/>
                </a:solidFill>
                <a:latin typeface="Calibri"/>
                <a:cs typeface="Calibri"/>
              </a:rPr>
              <a:t>years.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60" y="5257800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0259" y="5558129"/>
            <a:ext cx="97129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questionnaire</a:t>
            </a:r>
            <a:r>
              <a:rPr dirty="0" sz="1400" spc="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told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us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India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status.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Every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house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that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 answered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“not</a:t>
            </a:r>
            <a:r>
              <a:rPr dirty="0" sz="14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filed”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receives</a:t>
            </a:r>
            <a:r>
              <a:rPr dirty="0" sz="14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filing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guide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with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4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one-pager.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8082" y="6392976"/>
            <a:ext cx="185483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07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Protecting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1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Marca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31108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9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 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 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6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1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B</a:t>
            </a:r>
            <a:r>
              <a:rPr dirty="0" sz="1300" spc="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D G E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first</a:t>
            </a:r>
            <a:r>
              <a:rPr dirty="0" spc="-20"/>
              <a:t> </a:t>
            </a:r>
            <a:r>
              <a:rPr dirty="0"/>
              <a:t>year</a:t>
            </a:r>
            <a:r>
              <a:rPr dirty="0" spc="-15"/>
              <a:t> </a:t>
            </a:r>
            <a:r>
              <a:rPr dirty="0"/>
              <a:t>pays</a:t>
            </a:r>
            <a:r>
              <a:rPr dirty="0" spc="-15"/>
              <a:t> </a:t>
            </a:r>
            <a:r>
              <a:rPr dirty="0" spc="-25"/>
              <a:t>for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875281"/>
            <a:ext cx="346710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State</a:t>
            </a:r>
            <a:r>
              <a:rPr dirty="0" sz="175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registration</a:t>
            </a:r>
            <a:r>
              <a:rPr dirty="0" sz="1750" spc="-5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and</a:t>
            </a:r>
            <a:r>
              <a:rPr dirty="0" sz="175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label</a:t>
            </a:r>
            <a:r>
              <a:rPr dirty="0" sz="1750" spc="-6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20">
                <a:solidFill>
                  <a:srgbClr val="6D552F"/>
                </a:solidFill>
                <a:latin typeface="Bookman Old Style"/>
                <a:cs typeface="Bookman Old Style"/>
              </a:rPr>
              <a:t>fees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6189" y="1940179"/>
            <a:ext cx="22987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per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brand,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per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state,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every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year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960" y="2414016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10259" y="2652775"/>
            <a:ext cx="278892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Samples</a:t>
            </a:r>
            <a:r>
              <a:rPr dirty="0" sz="175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and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their</a:t>
            </a:r>
            <a:r>
              <a:rPr dirty="0" sz="175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freight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6189" y="2717419"/>
            <a:ext cx="24911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for</a:t>
            </a:r>
            <a:r>
              <a:rPr dirty="0" sz="1400" spc="-6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buyers,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tastings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lab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checks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60" y="3191255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0259" y="3430016"/>
            <a:ext cx="343852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Duty</a:t>
            </a:r>
            <a:r>
              <a:rPr dirty="0" sz="1750" spc="-1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on</a:t>
            </a:r>
            <a:r>
              <a:rPr dirty="0" sz="1750" spc="-2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your</a:t>
            </a:r>
            <a:r>
              <a:rPr dirty="0" sz="1750" spc="-1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first</a:t>
            </a:r>
            <a:r>
              <a:rPr dirty="0" sz="175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consignment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6189" y="3494913"/>
            <a:ext cx="27584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cash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out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before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first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sale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comes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3968496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0259" y="4207510"/>
            <a:ext cx="202628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6D552F"/>
                </a:solidFill>
                <a:latin typeface="Bookman Old Style"/>
                <a:cs typeface="Bookman Old Style"/>
              </a:rPr>
              <a:t>Launch</a:t>
            </a:r>
            <a:r>
              <a:rPr dirty="0" sz="1750" spc="-4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750" spc="-10">
                <a:solidFill>
                  <a:srgbClr val="6D552F"/>
                </a:solidFill>
                <a:latin typeface="Bookman Old Style"/>
                <a:cs typeface="Bookman Old Style"/>
              </a:rPr>
              <a:t>marketing</a:t>
            </a:r>
            <a:endParaRPr sz="175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6189" y="4272152"/>
            <a:ext cx="28181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tastings,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staff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training,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festive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push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0" y="4983479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10259" y="5166360"/>
            <a:ext cx="10539095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If</a:t>
            </a:r>
            <a:r>
              <a:rPr dirty="0" sz="1450" spc="-2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your</a:t>
            </a:r>
            <a:r>
              <a:rPr dirty="0" sz="14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budget</a:t>
            </a:r>
            <a:r>
              <a:rPr dirty="0" sz="1450" spc="-5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is</a:t>
            </a:r>
            <a:r>
              <a:rPr dirty="0" sz="14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under</a:t>
            </a:r>
            <a:r>
              <a:rPr dirty="0" sz="1450" spc="-4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USD</a:t>
            </a:r>
            <a:r>
              <a:rPr dirty="0" sz="1450" spc="-2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25211C"/>
                </a:solidFill>
                <a:latin typeface="Calibri"/>
                <a:cs typeface="Calibri"/>
              </a:rPr>
              <a:t>25,000:</a:t>
            </a:r>
            <a:r>
              <a:rPr dirty="0" sz="1450" spc="2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state,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season,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4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lead SKU,</a:t>
            </a:r>
            <a:r>
              <a:rPr dirty="0" sz="14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done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completely.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is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4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strategy,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it</a:t>
            </a:r>
            <a:r>
              <a:rPr dirty="0" sz="14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works.</a:t>
            </a:r>
            <a:r>
              <a:rPr dirty="0" sz="14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Half</a:t>
            </a:r>
            <a:r>
              <a:rPr dirty="0" sz="14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4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cohort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will</a:t>
            </a:r>
            <a:r>
              <a:rPr dirty="0" sz="14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494338"/>
                </a:solidFill>
                <a:latin typeface="Calibri"/>
                <a:cs typeface="Calibri"/>
              </a:rPr>
              <a:t>run</a:t>
            </a:r>
            <a:r>
              <a:rPr dirty="0" sz="14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494338"/>
                </a:solidFill>
                <a:latin typeface="Calibri"/>
                <a:cs typeface="Calibri"/>
              </a:rPr>
              <a:t>it.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8082" y="6392976"/>
            <a:ext cx="17760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08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What Year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Costs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35528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P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1 0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W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 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16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M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R S</a:t>
            </a:r>
            <a:r>
              <a:rPr dirty="0" sz="1300" spc="16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C 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C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Five</a:t>
            </a:r>
            <a:r>
              <a:rPr dirty="0" spc="-20"/>
              <a:t> </a:t>
            </a:r>
            <a:r>
              <a:rPr dirty="0"/>
              <a:t>things,</a:t>
            </a:r>
            <a:r>
              <a:rPr dirty="0" spc="-25"/>
              <a:t> </a:t>
            </a:r>
            <a:r>
              <a:rPr dirty="0"/>
              <a:t>before</a:t>
            </a:r>
            <a:r>
              <a:rPr dirty="0" spc="-30"/>
              <a:t> </a:t>
            </a:r>
            <a:r>
              <a:rPr dirty="0"/>
              <a:t>they</a:t>
            </a:r>
            <a:r>
              <a:rPr dirty="0" spc="-30"/>
              <a:t> </a:t>
            </a:r>
            <a:r>
              <a:rPr dirty="0"/>
              <a:t>say</a:t>
            </a:r>
            <a:r>
              <a:rPr dirty="0" spc="-15"/>
              <a:t> </a:t>
            </a:r>
            <a:r>
              <a:rPr dirty="0" spc="-25"/>
              <a:t>yes</a:t>
            </a:r>
          </a:p>
        </p:txBody>
      </p:sp>
      <p:sp>
        <p:nvSpPr>
          <p:cNvPr id="4" name="object 4"/>
          <p:cNvSpPr/>
          <p:nvPr/>
        </p:nvSpPr>
        <p:spPr>
          <a:xfrm>
            <a:off x="822960" y="1764792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4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2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3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2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98321" y="1867026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2033" y="1902079"/>
            <a:ext cx="44964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Sales</a:t>
            </a:r>
            <a:r>
              <a:rPr dirty="0" sz="160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proof</a:t>
            </a:r>
            <a:r>
              <a:rPr dirty="0" sz="16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at</a:t>
            </a:r>
            <a:r>
              <a:rPr dirty="0" sz="1600" spc="-6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home:</a:t>
            </a:r>
            <a:r>
              <a:rPr dirty="0" sz="16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awards,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listings,</a:t>
            </a:r>
            <a:r>
              <a:rPr dirty="0" sz="1600" spc="-7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how</a:t>
            </a:r>
            <a:r>
              <a:rPr dirty="0" sz="16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fast</a:t>
            </a:r>
            <a:r>
              <a:rPr dirty="0" sz="1600" spc="-6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you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sell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4480" y="2414016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2960" y="2542032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4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1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3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1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98321" y="2644267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2033" y="2679318"/>
            <a:ext cx="37572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Enough</a:t>
            </a:r>
            <a:r>
              <a:rPr dirty="0" sz="16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volume</a:t>
            </a:r>
            <a:r>
              <a:rPr dirty="0" sz="16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for</a:t>
            </a:r>
            <a:r>
              <a:rPr dirty="0" sz="160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them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to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make</a:t>
            </a:r>
            <a:r>
              <a:rPr dirty="0" sz="1600" spc="-6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real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money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54480" y="3191255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22960" y="3319271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5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1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3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1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98321" y="3421760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2033" y="3456813"/>
            <a:ext cx="4212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60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price</a:t>
            </a:r>
            <a:r>
              <a:rPr dirty="0" sz="16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that</a:t>
            </a:r>
            <a:r>
              <a:rPr dirty="0" sz="1600" spc="-5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works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backwards</a:t>
            </a:r>
            <a:r>
              <a:rPr dirty="0" sz="16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from</a:t>
            </a:r>
            <a:r>
              <a:rPr dirty="0" sz="16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the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Indian</a:t>
            </a:r>
            <a:r>
              <a:rPr dirty="0" sz="1600" spc="-6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shelf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54480" y="3968496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2960" y="4096511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5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1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3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1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98321" y="4199001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4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2033" y="4234053"/>
            <a:ext cx="43764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More</a:t>
            </a:r>
            <a:r>
              <a:rPr dirty="0" sz="1600" spc="-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than</a:t>
            </a:r>
            <a:r>
              <a:rPr dirty="0" sz="16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one</a:t>
            </a:r>
            <a:r>
              <a:rPr dirty="0" sz="1600" spc="-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SKU: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6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door-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opener</a:t>
            </a:r>
            <a:r>
              <a:rPr dirty="0" sz="1600" spc="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plus</a:t>
            </a:r>
            <a:r>
              <a:rPr dirty="0" sz="16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workhorse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54480" y="4745735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2960" y="4873752"/>
            <a:ext cx="512445" cy="512445"/>
          </a:xfrm>
          <a:custGeom>
            <a:avLst/>
            <a:gdLst/>
            <a:ahLst/>
            <a:cxnLst/>
            <a:rect l="l" t="t" r="r" b="b"/>
            <a:pathLst>
              <a:path w="512444" h="512445">
                <a:moveTo>
                  <a:pt x="256031" y="0"/>
                </a:moveTo>
                <a:lnTo>
                  <a:pt x="210010" y="4126"/>
                </a:lnTo>
                <a:lnTo>
                  <a:pt x="166694" y="16023"/>
                </a:lnTo>
                <a:lnTo>
                  <a:pt x="126808" y="34967"/>
                </a:lnTo>
                <a:lnTo>
                  <a:pt x="91074" y="60232"/>
                </a:lnTo>
                <a:lnTo>
                  <a:pt x="60215" y="91095"/>
                </a:lnTo>
                <a:lnTo>
                  <a:pt x="34956" y="126830"/>
                </a:lnTo>
                <a:lnTo>
                  <a:pt x="16018" y="166714"/>
                </a:lnTo>
                <a:lnTo>
                  <a:pt x="4125" y="210023"/>
                </a:lnTo>
                <a:lnTo>
                  <a:pt x="0" y="256031"/>
                </a:lnTo>
                <a:lnTo>
                  <a:pt x="4125" y="302040"/>
                </a:lnTo>
                <a:lnTo>
                  <a:pt x="16018" y="345349"/>
                </a:lnTo>
                <a:lnTo>
                  <a:pt x="34956" y="385233"/>
                </a:lnTo>
                <a:lnTo>
                  <a:pt x="60215" y="420968"/>
                </a:lnTo>
                <a:lnTo>
                  <a:pt x="91074" y="451831"/>
                </a:lnTo>
                <a:lnTo>
                  <a:pt x="126808" y="477096"/>
                </a:lnTo>
                <a:lnTo>
                  <a:pt x="166694" y="496040"/>
                </a:lnTo>
                <a:lnTo>
                  <a:pt x="210010" y="507937"/>
                </a:lnTo>
                <a:lnTo>
                  <a:pt x="256031" y="512064"/>
                </a:lnTo>
                <a:lnTo>
                  <a:pt x="302053" y="507937"/>
                </a:lnTo>
                <a:lnTo>
                  <a:pt x="345369" y="496040"/>
                </a:lnTo>
                <a:lnTo>
                  <a:pt x="385255" y="477096"/>
                </a:lnTo>
                <a:lnTo>
                  <a:pt x="420989" y="451831"/>
                </a:lnTo>
                <a:lnTo>
                  <a:pt x="451848" y="420968"/>
                </a:lnTo>
                <a:lnTo>
                  <a:pt x="477107" y="385233"/>
                </a:lnTo>
                <a:lnTo>
                  <a:pt x="496045" y="345349"/>
                </a:lnTo>
                <a:lnTo>
                  <a:pt x="507938" y="302040"/>
                </a:lnTo>
                <a:lnTo>
                  <a:pt x="512064" y="256031"/>
                </a:lnTo>
                <a:lnTo>
                  <a:pt x="507938" y="210023"/>
                </a:lnTo>
                <a:lnTo>
                  <a:pt x="496045" y="166714"/>
                </a:lnTo>
                <a:lnTo>
                  <a:pt x="477107" y="126830"/>
                </a:lnTo>
                <a:lnTo>
                  <a:pt x="451848" y="91095"/>
                </a:lnTo>
                <a:lnTo>
                  <a:pt x="420989" y="60232"/>
                </a:lnTo>
                <a:lnTo>
                  <a:pt x="385255" y="34967"/>
                </a:lnTo>
                <a:lnTo>
                  <a:pt x="345369" y="16023"/>
                </a:lnTo>
                <a:lnTo>
                  <a:pt x="302053" y="4126"/>
                </a:lnTo>
                <a:lnTo>
                  <a:pt x="256031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98321" y="4976622"/>
            <a:ext cx="1593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Bookman Old Style"/>
                <a:cs typeface="Bookman Old Style"/>
              </a:rPr>
              <a:t>5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42033" y="5011673"/>
            <a:ext cx="4592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6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committed</a:t>
            </a:r>
            <a:r>
              <a:rPr dirty="0" sz="160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owner</a:t>
            </a:r>
            <a:r>
              <a:rPr dirty="0" sz="1600" spc="1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on</a:t>
            </a:r>
            <a:r>
              <a:rPr dirty="0" sz="16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your side,</a:t>
            </a:r>
            <a:r>
              <a:rPr dirty="0" sz="16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not</a:t>
            </a:r>
            <a:r>
              <a:rPr dirty="0" sz="160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6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part-</a:t>
            </a:r>
            <a:r>
              <a:rPr dirty="0" sz="1600">
                <a:solidFill>
                  <a:srgbClr val="25211C"/>
                </a:solidFill>
                <a:latin typeface="Calibri"/>
                <a:cs typeface="Calibri"/>
              </a:rPr>
              <a:t>time</a:t>
            </a:r>
            <a:r>
              <a:rPr dirty="0" sz="160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25211C"/>
                </a:solidFill>
                <a:latin typeface="Calibri"/>
                <a:cs typeface="Calibri"/>
              </a:rPr>
              <a:t>agent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0259" y="5862929"/>
            <a:ext cx="635254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Phase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4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puts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front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importers.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Phases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2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3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make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sure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all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five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answers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are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ready.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88082" y="6392976"/>
            <a:ext cx="169354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09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Importer's</a:t>
            </a:r>
            <a:r>
              <a:rPr dirty="0" sz="11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Lens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267525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L T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S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W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E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Your</a:t>
            </a:r>
            <a:r>
              <a:rPr dirty="0" spc="-50"/>
              <a:t> </a:t>
            </a:r>
            <a:r>
              <a:rPr dirty="0"/>
              <a:t>readiness</a:t>
            </a:r>
            <a:r>
              <a:rPr dirty="0" spc="-20"/>
              <a:t> </a:t>
            </a:r>
            <a:r>
              <a:rPr dirty="0"/>
              <a:t>score:</a:t>
            </a:r>
            <a:r>
              <a:rPr dirty="0" spc="-35"/>
              <a:t> </a:t>
            </a:r>
            <a:r>
              <a:rPr dirty="0"/>
              <a:t>six</a:t>
            </a:r>
            <a:r>
              <a:rPr dirty="0" spc="-30"/>
              <a:t> </a:t>
            </a:r>
            <a:r>
              <a:rPr dirty="0"/>
              <a:t>checks,</a:t>
            </a:r>
            <a:r>
              <a:rPr dirty="0" spc="-55"/>
              <a:t> </a:t>
            </a:r>
            <a:r>
              <a:rPr dirty="0"/>
              <a:t>thirty</a:t>
            </a:r>
            <a:r>
              <a:rPr dirty="0" spc="-15"/>
              <a:t> </a:t>
            </a:r>
            <a:r>
              <a:rPr dirty="0" spc="-10"/>
              <a:t>points</a:t>
            </a:r>
          </a:p>
        </p:txBody>
      </p:sp>
      <p:sp>
        <p:nvSpPr>
          <p:cNvPr id="4" name="object 4"/>
          <p:cNvSpPr/>
          <p:nvPr/>
        </p:nvSpPr>
        <p:spPr>
          <a:xfrm>
            <a:off x="822960" y="1783079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8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84605" y="1874646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8882" y="1926717"/>
            <a:ext cx="22688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6D552F"/>
                </a:solidFill>
                <a:latin typeface="Bookman Old Style"/>
                <a:cs typeface="Bookman Old Style"/>
              </a:rPr>
              <a:t>Product</a:t>
            </a:r>
            <a:r>
              <a:rPr dirty="0" sz="1600" spc="-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600">
                <a:solidFill>
                  <a:srgbClr val="6D552F"/>
                </a:solidFill>
                <a:latin typeface="Bookman Old Style"/>
                <a:cs typeface="Bookman Old Style"/>
              </a:rPr>
              <a:t>&amp;</a:t>
            </a:r>
            <a:r>
              <a:rPr dirty="0" sz="1600" spc="-3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600" spc="-10">
                <a:solidFill>
                  <a:srgbClr val="6D552F"/>
                </a:solidFill>
                <a:latin typeface="Bookman Old Style"/>
                <a:cs typeface="Bookman Old Style"/>
              </a:rPr>
              <a:t>certification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186" y="1964817"/>
            <a:ext cx="2014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CRT,</a:t>
            </a:r>
            <a:r>
              <a:rPr dirty="0" sz="13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NOM,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export-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ready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SKUs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00800" y="1783079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8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63106" y="1874646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7356" y="1926717"/>
            <a:ext cx="18002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6D552F"/>
                </a:solidFill>
                <a:latin typeface="Bookman Old Style"/>
                <a:cs typeface="Bookman Old Style"/>
              </a:rPr>
              <a:t>Export</a:t>
            </a:r>
            <a:r>
              <a:rPr dirty="0" sz="1600" spc="-7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600" spc="-10">
                <a:solidFill>
                  <a:srgbClr val="6D552F"/>
                </a:solidFill>
                <a:latin typeface="Bookman Old Style"/>
                <a:cs typeface="Bookman Old Style"/>
              </a:rPr>
              <a:t>operations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1318" y="1964817"/>
            <a:ext cx="24028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markets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served,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capacity,</a:t>
            </a:r>
            <a:r>
              <a:rPr dirty="0" sz="13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CIF</a:t>
            </a:r>
            <a:r>
              <a:rPr dirty="0" sz="13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ability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60" y="2743200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8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84605" y="2834766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68882" y="2887217"/>
            <a:ext cx="1966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6D552F"/>
                </a:solidFill>
                <a:latin typeface="Bookman Old Style"/>
                <a:cs typeface="Bookman Old Style"/>
              </a:rPr>
              <a:t>Label</a:t>
            </a:r>
            <a:r>
              <a:rPr dirty="0" sz="160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600">
                <a:solidFill>
                  <a:srgbClr val="6D552F"/>
                </a:solidFill>
                <a:latin typeface="Bookman Old Style"/>
                <a:cs typeface="Bookman Old Style"/>
              </a:rPr>
              <a:t>&amp;</a:t>
            </a:r>
            <a:r>
              <a:rPr dirty="0" sz="160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600" spc="-10">
                <a:solidFill>
                  <a:srgbClr val="6D552F"/>
                </a:solidFill>
                <a:latin typeface="Bookman Old Style"/>
                <a:cs typeface="Bookman Old Style"/>
              </a:rPr>
              <a:t>compliance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10102" y="2925317"/>
            <a:ext cx="2266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artwork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files,</a:t>
            </a:r>
            <a:r>
              <a:rPr dirty="0" sz="13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over-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label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 flexibility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00800" y="2743200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4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8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4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563106" y="2834766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4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47356" y="2887217"/>
            <a:ext cx="675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6D552F"/>
                </a:solidFill>
                <a:latin typeface="Bookman Old Style"/>
                <a:cs typeface="Bookman Old Style"/>
              </a:rPr>
              <a:t>Money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94701" y="2925317"/>
            <a:ext cx="24155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budget</a:t>
            </a:r>
            <a:r>
              <a:rPr dirty="0" sz="13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matched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3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3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real</a:t>
            </a:r>
            <a:r>
              <a:rPr dirty="0" sz="13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state</a:t>
            </a:r>
            <a:r>
              <a:rPr dirty="0" sz="13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plan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2960" y="3703320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9" y="4829"/>
                </a:lnTo>
                <a:lnTo>
                  <a:pt x="145202" y="18680"/>
                </a:lnTo>
                <a:lnTo>
                  <a:pt x="104817" y="40598"/>
                </a:lnTo>
                <a:lnTo>
                  <a:pt x="69632" y="69627"/>
                </a:lnTo>
                <a:lnTo>
                  <a:pt x="40602" y="104812"/>
                </a:lnTo>
                <a:lnTo>
                  <a:pt x="18682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4829" y="285662"/>
                </a:lnTo>
                <a:lnTo>
                  <a:pt x="18682" y="330291"/>
                </a:lnTo>
                <a:lnTo>
                  <a:pt x="40602" y="370675"/>
                </a:lnTo>
                <a:lnTo>
                  <a:pt x="69632" y="405860"/>
                </a:lnTo>
                <a:lnTo>
                  <a:pt x="104817" y="434889"/>
                </a:lnTo>
                <a:lnTo>
                  <a:pt x="145202" y="456807"/>
                </a:lnTo>
                <a:lnTo>
                  <a:pt x="189829" y="470658"/>
                </a:lnTo>
                <a:lnTo>
                  <a:pt x="237744" y="475487"/>
                </a:lnTo>
                <a:lnTo>
                  <a:pt x="285658" y="470658"/>
                </a:lnTo>
                <a:lnTo>
                  <a:pt x="330285" y="456807"/>
                </a:lnTo>
                <a:lnTo>
                  <a:pt x="370670" y="434889"/>
                </a:lnTo>
                <a:lnTo>
                  <a:pt x="405855" y="405860"/>
                </a:lnTo>
                <a:lnTo>
                  <a:pt x="434885" y="370675"/>
                </a:lnTo>
                <a:lnTo>
                  <a:pt x="456805" y="330291"/>
                </a:lnTo>
                <a:lnTo>
                  <a:pt x="470658" y="285662"/>
                </a:lnTo>
                <a:lnTo>
                  <a:pt x="475488" y="237743"/>
                </a:lnTo>
                <a:lnTo>
                  <a:pt x="470658" y="189825"/>
                </a:lnTo>
                <a:lnTo>
                  <a:pt x="456805" y="145196"/>
                </a:lnTo>
                <a:lnTo>
                  <a:pt x="434885" y="104812"/>
                </a:lnTo>
                <a:lnTo>
                  <a:pt x="405855" y="69627"/>
                </a:lnTo>
                <a:lnTo>
                  <a:pt x="370670" y="40598"/>
                </a:lnTo>
                <a:lnTo>
                  <a:pt x="330285" y="18680"/>
                </a:lnTo>
                <a:lnTo>
                  <a:pt x="285658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84605" y="3795141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5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68882" y="3847591"/>
            <a:ext cx="6419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6D552F"/>
                </a:solidFill>
                <a:latin typeface="Bookman Old Style"/>
                <a:cs typeface="Bookman Old Style"/>
              </a:rPr>
              <a:t>Brand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1173" y="3885691"/>
            <a:ext cx="23501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proof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at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home,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clear</a:t>
            </a:r>
            <a:r>
              <a:rPr dirty="0" sz="13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price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position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400800" y="3703320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744" y="0"/>
                </a:moveTo>
                <a:lnTo>
                  <a:pt x="189825" y="4829"/>
                </a:lnTo>
                <a:lnTo>
                  <a:pt x="145196" y="18680"/>
                </a:lnTo>
                <a:lnTo>
                  <a:pt x="104812" y="40598"/>
                </a:lnTo>
                <a:lnTo>
                  <a:pt x="69627" y="69627"/>
                </a:lnTo>
                <a:lnTo>
                  <a:pt x="40598" y="104812"/>
                </a:lnTo>
                <a:lnTo>
                  <a:pt x="18680" y="145196"/>
                </a:lnTo>
                <a:lnTo>
                  <a:pt x="4829" y="189825"/>
                </a:lnTo>
                <a:lnTo>
                  <a:pt x="0" y="237743"/>
                </a:lnTo>
                <a:lnTo>
                  <a:pt x="4829" y="285662"/>
                </a:lnTo>
                <a:lnTo>
                  <a:pt x="18680" y="330291"/>
                </a:lnTo>
                <a:lnTo>
                  <a:pt x="40598" y="370675"/>
                </a:lnTo>
                <a:lnTo>
                  <a:pt x="69627" y="405860"/>
                </a:lnTo>
                <a:lnTo>
                  <a:pt x="104812" y="434889"/>
                </a:lnTo>
                <a:lnTo>
                  <a:pt x="145196" y="456807"/>
                </a:lnTo>
                <a:lnTo>
                  <a:pt x="189825" y="470658"/>
                </a:lnTo>
                <a:lnTo>
                  <a:pt x="237744" y="475487"/>
                </a:lnTo>
                <a:lnTo>
                  <a:pt x="285662" y="470658"/>
                </a:lnTo>
                <a:lnTo>
                  <a:pt x="330291" y="456807"/>
                </a:lnTo>
                <a:lnTo>
                  <a:pt x="370675" y="434889"/>
                </a:lnTo>
                <a:lnTo>
                  <a:pt x="405860" y="405860"/>
                </a:lnTo>
                <a:lnTo>
                  <a:pt x="434889" y="370675"/>
                </a:lnTo>
                <a:lnTo>
                  <a:pt x="456807" y="330291"/>
                </a:lnTo>
                <a:lnTo>
                  <a:pt x="470658" y="285662"/>
                </a:lnTo>
                <a:lnTo>
                  <a:pt x="475488" y="237743"/>
                </a:lnTo>
                <a:lnTo>
                  <a:pt x="470658" y="189825"/>
                </a:lnTo>
                <a:lnTo>
                  <a:pt x="456807" y="145196"/>
                </a:lnTo>
                <a:lnTo>
                  <a:pt x="434889" y="104812"/>
                </a:lnTo>
                <a:lnTo>
                  <a:pt x="405860" y="69627"/>
                </a:lnTo>
                <a:lnTo>
                  <a:pt x="370675" y="40598"/>
                </a:lnTo>
                <a:lnTo>
                  <a:pt x="330291" y="18680"/>
                </a:lnTo>
                <a:lnTo>
                  <a:pt x="285662" y="4829"/>
                </a:lnTo>
                <a:lnTo>
                  <a:pt x="23774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63106" y="3795141"/>
            <a:ext cx="151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FFFFFF"/>
                </a:solidFill>
                <a:latin typeface="Bookman Old Style"/>
                <a:cs typeface="Bookman Old Style"/>
              </a:rPr>
              <a:t>6</a:t>
            </a:r>
            <a:endParaRPr sz="15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47356" y="3847591"/>
            <a:ext cx="1316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6D552F"/>
                </a:solidFill>
                <a:latin typeface="Bookman Old Style"/>
                <a:cs typeface="Bookman Old Style"/>
              </a:rPr>
              <a:t>Commitment</a:t>
            </a:r>
            <a:endParaRPr sz="1600">
              <a:latin typeface="Bookman Old Style"/>
              <a:cs typeface="Bookman Old Styl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36305" y="3885691"/>
            <a:ext cx="21539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named</a:t>
            </a:r>
            <a:r>
              <a:rPr dirty="0" sz="13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owner,</a:t>
            </a:r>
            <a:r>
              <a:rPr dirty="0" sz="13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decisions</a:t>
            </a:r>
            <a:r>
              <a:rPr dirty="0" sz="13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days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22960" y="4892040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10259" y="5174360"/>
            <a:ext cx="2286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24</a:t>
            </a:r>
            <a:r>
              <a:rPr dirty="0" sz="1400" spc="-2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or</a:t>
            </a:r>
            <a:r>
              <a:rPr dirty="0" sz="140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more:</a:t>
            </a:r>
            <a:r>
              <a:rPr dirty="0" sz="1400" spc="24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start</a:t>
            </a:r>
            <a:r>
              <a:rPr dirty="0" sz="140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Phase</a:t>
            </a:r>
            <a:r>
              <a:rPr dirty="0" sz="140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2</a:t>
            </a:r>
            <a:r>
              <a:rPr dirty="0" sz="14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25211C"/>
                </a:solidFill>
                <a:latin typeface="Calibri"/>
                <a:cs typeface="Calibri"/>
              </a:rPr>
              <a:t>now.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06826" y="5174360"/>
            <a:ext cx="326262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18</a:t>
            </a:r>
            <a:r>
              <a:rPr dirty="0" sz="1400" spc="-3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to</a:t>
            </a:r>
            <a:r>
              <a:rPr dirty="0" sz="1400" spc="-4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23:</a:t>
            </a:r>
            <a:r>
              <a:rPr dirty="0" sz="1400" spc="2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fix</a:t>
            </a:r>
            <a:r>
              <a:rPr dirty="0" sz="14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two</a:t>
            </a:r>
            <a:r>
              <a:rPr dirty="0" sz="14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or</a:t>
            </a:r>
            <a:r>
              <a:rPr dirty="0" sz="14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three</a:t>
            </a:r>
            <a:r>
              <a:rPr dirty="0" sz="1400" spc="-1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named</a:t>
            </a:r>
            <a:r>
              <a:rPr dirty="0" sz="140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things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 first.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82181" y="5174360"/>
            <a:ext cx="36137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Below</a:t>
            </a:r>
            <a:r>
              <a:rPr dirty="0" sz="14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8A6D3C"/>
                </a:solidFill>
                <a:latin typeface="Calibri"/>
                <a:cs typeface="Calibri"/>
              </a:rPr>
              <a:t>18:</a:t>
            </a:r>
            <a:r>
              <a:rPr dirty="0" sz="1400" spc="2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we</a:t>
            </a:r>
            <a:r>
              <a:rPr dirty="0" sz="140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25211C"/>
                </a:solidFill>
                <a:latin typeface="Calibri"/>
                <a:cs typeface="Calibri"/>
              </a:rPr>
              <a:t>re-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plan</a:t>
            </a:r>
            <a:r>
              <a:rPr dirty="0" sz="140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together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 before</a:t>
            </a:r>
            <a:r>
              <a:rPr dirty="0" sz="14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25211C"/>
                </a:solidFill>
                <a:latin typeface="Calibri"/>
                <a:cs typeface="Calibri"/>
              </a:rPr>
              <a:t>you</a:t>
            </a:r>
            <a:r>
              <a:rPr dirty="0" sz="140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25211C"/>
                </a:solidFill>
                <a:latin typeface="Calibri"/>
                <a:cs typeface="Calibri"/>
              </a:rPr>
              <a:t>spend.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0259" y="5771794"/>
            <a:ext cx="789876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Private,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house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by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house,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inside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briefing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week.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fix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list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is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normal;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most</a:t>
            </a:r>
            <a:r>
              <a:rPr dirty="0" sz="135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fixes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clear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inside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programme.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22960" y="6291071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10259" y="6392976"/>
            <a:ext cx="1699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150" spc="3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'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3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L</a:t>
            </a:r>
            <a:r>
              <a:rPr dirty="0" sz="11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3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15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15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5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88082" y="6392976"/>
            <a:ext cx="178752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No.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10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·</a:t>
            </a:r>
            <a:r>
              <a:rPr dirty="0" sz="11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1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Readiness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Score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48158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W E R S</a:t>
            </a:r>
            <a:r>
              <a:rPr dirty="0" sz="1300" spc="16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P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16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1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Q 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R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you</a:t>
            </a:r>
            <a:r>
              <a:rPr dirty="0" spc="-35"/>
              <a:t> </a:t>
            </a:r>
            <a:r>
              <a:rPr dirty="0"/>
              <a:t>told</a:t>
            </a:r>
            <a:r>
              <a:rPr dirty="0" spc="-10"/>
              <a:t> </a:t>
            </a:r>
            <a:r>
              <a:rPr dirty="0"/>
              <a:t>us</a:t>
            </a:r>
            <a:r>
              <a:rPr dirty="0" spc="-20"/>
              <a:t> </a:t>
            </a:r>
            <a:r>
              <a:rPr dirty="0"/>
              <a:t>this</a:t>
            </a:r>
            <a:r>
              <a:rPr dirty="0" spc="-20"/>
              <a:t> week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725295"/>
            <a:ext cx="1225550" cy="159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>
                <a:solidFill>
                  <a:srgbClr val="9F7D45"/>
                </a:solidFill>
                <a:latin typeface="Bookman Old Style"/>
                <a:cs typeface="Bookman Old Style"/>
              </a:rPr>
              <a:t>32</a:t>
            </a:r>
            <a:endParaRPr sz="6000">
              <a:latin typeface="Bookman Old Style"/>
              <a:cs typeface="Bookman Old Style"/>
            </a:endParaRPr>
          </a:p>
          <a:p>
            <a:pPr marL="48895" marR="5080">
              <a:lnSpc>
                <a:spcPct val="109200"/>
              </a:lnSpc>
              <a:spcBef>
                <a:spcPts val="1730"/>
              </a:spcBef>
            </a:pP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houses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answered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five 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days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46120" y="1828800"/>
            <a:ext cx="0" cy="3931920"/>
          </a:xfrm>
          <a:custGeom>
            <a:avLst/>
            <a:gdLst/>
            <a:ahLst/>
            <a:cxnLst/>
            <a:rect l="l" t="t" r="r" b="b"/>
            <a:pathLst>
              <a:path w="0" h="3931920">
                <a:moveTo>
                  <a:pt x="0" y="0"/>
                </a:moveTo>
                <a:lnTo>
                  <a:pt x="0" y="393192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599434" y="1981022"/>
            <a:ext cx="597281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23</a:t>
            </a:r>
            <a:r>
              <a:rPr dirty="0" sz="1350" spc="-1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lead</a:t>
            </a:r>
            <a:r>
              <a:rPr dirty="0" sz="13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with</a:t>
            </a:r>
            <a:r>
              <a:rPr dirty="0" sz="1350" spc="-4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blanco;</a:t>
            </a:r>
            <a:r>
              <a:rPr dirty="0" sz="1350" spc="2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19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aim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for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premium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shelf.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cohort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market</a:t>
            </a:r>
            <a:r>
              <a:rPr dirty="0" sz="13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agree.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11879" y="2377439"/>
            <a:ext cx="7726680" cy="0"/>
          </a:xfrm>
          <a:custGeom>
            <a:avLst/>
            <a:gdLst/>
            <a:ahLst/>
            <a:cxnLst/>
            <a:rect l="l" t="t" r="r" b="b"/>
            <a:pathLst>
              <a:path w="7726680" h="0">
                <a:moveTo>
                  <a:pt x="0" y="0"/>
                </a:moveTo>
                <a:lnTo>
                  <a:pt x="772668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99434" y="2649092"/>
            <a:ext cx="562292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25211C"/>
                </a:solidFill>
                <a:latin typeface="Calibri"/>
                <a:cs typeface="Calibri"/>
              </a:rPr>
              <a:t>Maharashtra</a:t>
            </a:r>
            <a:r>
              <a:rPr dirty="0" sz="1350" spc="-6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chosen</a:t>
            </a:r>
            <a:r>
              <a:rPr dirty="0" sz="1350" spc="-5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23</a:t>
            </a:r>
            <a:r>
              <a:rPr dirty="0" sz="1350" spc="-2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times,</a:t>
            </a:r>
            <a:r>
              <a:rPr dirty="0" sz="1350" spc="22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Delhi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16.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Your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instincts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match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map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File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06.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11879" y="3044951"/>
            <a:ext cx="7726680" cy="0"/>
          </a:xfrm>
          <a:custGeom>
            <a:avLst/>
            <a:gdLst/>
            <a:ahLst/>
            <a:cxnLst/>
            <a:rect l="l" t="t" r="r" b="b"/>
            <a:pathLst>
              <a:path w="7726680" h="0">
                <a:moveTo>
                  <a:pt x="0" y="0"/>
                </a:moveTo>
                <a:lnTo>
                  <a:pt x="772668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11879" y="3712464"/>
            <a:ext cx="7726680" cy="0"/>
          </a:xfrm>
          <a:custGeom>
            <a:avLst/>
            <a:gdLst/>
            <a:ahLst/>
            <a:cxnLst/>
            <a:rect l="l" t="t" r="r" b="b"/>
            <a:pathLst>
              <a:path w="7726680" h="0">
                <a:moveTo>
                  <a:pt x="0" y="0"/>
                </a:moveTo>
                <a:lnTo>
                  <a:pt x="772668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11879" y="4379976"/>
            <a:ext cx="7726680" cy="0"/>
          </a:xfrm>
          <a:custGeom>
            <a:avLst/>
            <a:gdLst/>
            <a:ahLst/>
            <a:cxnLst/>
            <a:rect l="l" t="t" r="r" b="b"/>
            <a:pathLst>
              <a:path w="7726680" h="0">
                <a:moveTo>
                  <a:pt x="0" y="0"/>
                </a:moveTo>
                <a:lnTo>
                  <a:pt x="772668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11879" y="5047488"/>
            <a:ext cx="7726680" cy="0"/>
          </a:xfrm>
          <a:custGeom>
            <a:avLst/>
            <a:gdLst/>
            <a:ahLst/>
            <a:cxnLst/>
            <a:rect l="l" t="t" r="r" b="b"/>
            <a:pathLst>
              <a:path w="7726680" h="0">
                <a:moveTo>
                  <a:pt x="0" y="0"/>
                </a:moveTo>
                <a:lnTo>
                  <a:pt x="7726680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10259" y="3316299"/>
            <a:ext cx="10193020" cy="288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0162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25</a:t>
            </a:r>
            <a:r>
              <a:rPr dirty="0" sz="1350" spc="-1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already</a:t>
            </a:r>
            <a:r>
              <a:rPr dirty="0" sz="1350" spc="-6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bottle</a:t>
            </a:r>
            <a:r>
              <a:rPr dirty="0" sz="1350" spc="-5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750</a:t>
            </a:r>
            <a:r>
              <a:rPr dirty="0" sz="1350" spc="-1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ml.</a:t>
            </a:r>
            <a:r>
              <a:rPr dirty="0" sz="1350" spc="25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Three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houses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run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700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ml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only;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we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plan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those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state</a:t>
            </a:r>
            <a:r>
              <a:rPr dirty="0" sz="135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by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state.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50">
              <a:latin typeface="Calibri"/>
              <a:cs typeface="Calibri"/>
            </a:endParaRPr>
          </a:p>
          <a:p>
            <a:pPr marL="2801620">
              <a:lnSpc>
                <a:spcPct val="100000"/>
              </a:lnSpc>
            </a:pP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29</a:t>
            </a:r>
            <a:r>
              <a:rPr dirty="0" sz="1350" spc="-1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of</a:t>
            </a:r>
            <a:r>
              <a:rPr dirty="0" sz="1350" spc="-4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32</a:t>
            </a:r>
            <a:r>
              <a:rPr dirty="0" sz="1350" spc="-1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hold</a:t>
            </a:r>
            <a:r>
              <a:rPr dirty="0" sz="13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no</a:t>
            </a:r>
            <a:r>
              <a:rPr dirty="0" sz="1350" spc="-2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India</a:t>
            </a:r>
            <a:r>
              <a:rPr dirty="0" sz="1350" spc="-2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25211C"/>
                </a:solidFill>
                <a:latin typeface="Calibri"/>
                <a:cs typeface="Calibri"/>
              </a:rPr>
              <a:t>trademark</a:t>
            </a:r>
            <a:r>
              <a:rPr dirty="0" sz="1350" spc="-5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yet.</a:t>
            </a:r>
            <a:r>
              <a:rPr dirty="0" sz="1350" spc="22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File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07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is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today's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set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for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exactly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this.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Filing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starts</a:t>
            </a:r>
            <a:r>
              <a:rPr dirty="0" sz="13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week.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350">
              <a:latin typeface="Calibri"/>
              <a:cs typeface="Calibri"/>
            </a:endParaRPr>
          </a:p>
          <a:p>
            <a:pPr marL="2801620">
              <a:lnSpc>
                <a:spcPct val="100000"/>
              </a:lnSpc>
              <a:spcBef>
                <a:spcPts val="5"/>
              </a:spcBef>
            </a:pP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15</a:t>
            </a:r>
            <a:r>
              <a:rPr dirty="0" sz="1350" spc="-1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said</a:t>
            </a:r>
            <a:r>
              <a:rPr dirty="0" sz="1350" spc="-3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“whenever</a:t>
            </a:r>
            <a:r>
              <a:rPr dirty="0" sz="1350" spc="-6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ready”</a:t>
            </a:r>
            <a:r>
              <a:rPr dirty="0" sz="1350" spc="-5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on</a:t>
            </a:r>
            <a:r>
              <a:rPr dirty="0" sz="1350" spc="-2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timing.</a:t>
            </a:r>
            <a:r>
              <a:rPr dirty="0" sz="1350" spc="229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Ready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is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date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 paperwork</a:t>
            </a:r>
            <a:r>
              <a:rPr dirty="0" sz="13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picks: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July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filings</a:t>
            </a:r>
            <a:r>
              <a:rPr dirty="0" sz="135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put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bottles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on</a:t>
            </a:r>
            <a:endParaRPr sz="1350">
              <a:latin typeface="Calibri"/>
              <a:cs typeface="Calibri"/>
            </a:endParaRPr>
          </a:p>
          <a:p>
            <a:pPr marL="2801620">
              <a:lnSpc>
                <a:spcPct val="100000"/>
              </a:lnSpc>
              <a:spcBef>
                <a:spcPts val="80"/>
              </a:spcBef>
            </a:pP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November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shelves.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350">
              <a:latin typeface="Calibri"/>
              <a:cs typeface="Calibri"/>
            </a:endParaRPr>
          </a:p>
          <a:p>
            <a:pPr marL="2801620">
              <a:lnSpc>
                <a:spcPct val="100000"/>
              </a:lnSpc>
              <a:spcBef>
                <a:spcPts val="5"/>
              </a:spcBef>
            </a:pP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7</a:t>
            </a:r>
            <a:r>
              <a:rPr dirty="0" sz="1350" spc="-3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houses</a:t>
            </a:r>
            <a:r>
              <a:rPr dirty="0" sz="1350" spc="-55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already</a:t>
            </a:r>
            <a:r>
              <a:rPr dirty="0" sz="1350" spc="-6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talk</a:t>
            </a:r>
            <a:r>
              <a:rPr dirty="0" sz="1350" spc="-3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to</a:t>
            </a:r>
            <a:r>
              <a:rPr dirty="0" sz="1350" spc="-3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Indian</a:t>
            </a:r>
            <a:r>
              <a:rPr dirty="0" sz="1350" spc="-4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25211C"/>
                </a:solidFill>
                <a:latin typeface="Calibri"/>
                <a:cs typeface="Calibri"/>
              </a:rPr>
              <a:t>buyers.</a:t>
            </a:r>
            <a:r>
              <a:rPr dirty="0" sz="1350" spc="204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Those</a:t>
            </a:r>
            <a:r>
              <a:rPr dirty="0" sz="13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lanes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are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noted</a:t>
            </a:r>
            <a:r>
              <a:rPr dirty="0" sz="13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protected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before</a:t>
            </a:r>
            <a:r>
              <a:rPr dirty="0" sz="135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Phase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4</a:t>
            </a:r>
            <a:r>
              <a:rPr dirty="0" sz="135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338"/>
                </a:solidFill>
                <a:latin typeface="Calibri"/>
                <a:cs typeface="Calibri"/>
              </a:rPr>
              <a:t>opens</a:t>
            </a:r>
            <a:r>
              <a:rPr dirty="0" sz="13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338"/>
                </a:solidFill>
                <a:latin typeface="Calibri"/>
                <a:cs typeface="Calibri"/>
              </a:rPr>
              <a:t>doors.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 spc="-2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2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individual</a:t>
            </a:r>
            <a:r>
              <a:rPr dirty="0" sz="12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94338"/>
                </a:solidFill>
                <a:latin typeface="Calibri"/>
                <a:cs typeface="Calibri"/>
              </a:rPr>
              <a:t>answers</a:t>
            </a:r>
            <a:r>
              <a:rPr dirty="0" sz="12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feed</a:t>
            </a:r>
            <a:r>
              <a:rPr dirty="0" sz="12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2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briefing</a:t>
            </a:r>
            <a:r>
              <a:rPr dirty="0" sz="12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2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2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score.</a:t>
            </a:r>
            <a:r>
              <a:rPr dirty="0" sz="12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Nothing</a:t>
            </a:r>
            <a:r>
              <a:rPr dirty="0" sz="125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here</a:t>
            </a:r>
            <a:r>
              <a:rPr dirty="0" sz="12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names</a:t>
            </a:r>
            <a:r>
              <a:rPr dirty="0" sz="12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2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494338"/>
                </a:solidFill>
                <a:latin typeface="Calibri"/>
                <a:cs typeface="Calibri"/>
              </a:rPr>
              <a:t>house.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42849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C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 T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M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W N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W E R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Where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57</a:t>
            </a:r>
            <a:r>
              <a:rPr dirty="0" spc="-25"/>
              <a:t> </a:t>
            </a:r>
            <a:r>
              <a:rPr dirty="0"/>
              <a:t>assessed</a:t>
            </a:r>
            <a:r>
              <a:rPr dirty="0" spc="-50"/>
              <a:t> </a:t>
            </a:r>
            <a:r>
              <a:rPr dirty="0"/>
              <a:t>houses</a:t>
            </a:r>
            <a:r>
              <a:rPr dirty="0" spc="-60"/>
              <a:t> </a:t>
            </a:r>
            <a:r>
              <a:rPr dirty="0" spc="-10"/>
              <a:t>stand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59" y="1798447"/>
            <a:ext cx="7302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43269" y="1798447"/>
            <a:ext cx="5937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40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F</a:t>
            </a:r>
            <a:r>
              <a:rPr dirty="0" sz="1300" spc="-8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X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2960" y="2103120"/>
            <a:ext cx="5074920" cy="0"/>
          </a:xfrm>
          <a:custGeom>
            <a:avLst/>
            <a:gdLst/>
            <a:ahLst/>
            <a:cxnLst/>
            <a:rect l="l" t="t" r="r" b="b"/>
            <a:pathLst>
              <a:path w="5074920" h="0">
                <a:moveTo>
                  <a:pt x="0" y="0"/>
                </a:moveTo>
                <a:lnTo>
                  <a:pt x="5074920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55079" y="2103120"/>
            <a:ext cx="5011420" cy="0"/>
          </a:xfrm>
          <a:custGeom>
            <a:avLst/>
            <a:gdLst/>
            <a:ahLst/>
            <a:cxnLst/>
            <a:rect l="l" t="t" r="r" b="b"/>
            <a:pathLst>
              <a:path w="5011420" h="0">
                <a:moveTo>
                  <a:pt x="0" y="0"/>
                </a:moveTo>
                <a:lnTo>
                  <a:pt x="501091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0259" y="2348610"/>
            <a:ext cx="10922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46</a:t>
            </a:r>
            <a:r>
              <a:rPr dirty="0" sz="2100" spc="-2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6473" y="2453131"/>
            <a:ext cx="995044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CRT-certified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43269" y="2348610"/>
            <a:ext cx="10922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28</a:t>
            </a:r>
            <a:r>
              <a:rPr dirty="0" sz="2100" spc="-2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34908" y="2426334"/>
            <a:ext cx="1821180" cy="417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budget</a:t>
            </a:r>
            <a:r>
              <a:rPr dirty="0" sz="13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under</a:t>
            </a:r>
            <a:r>
              <a:rPr dirty="0" sz="13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USD</a:t>
            </a:r>
            <a:r>
              <a:rPr dirty="0" sz="1350" spc="-6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5211C"/>
                </a:solidFill>
                <a:latin typeface="Calibri"/>
                <a:cs typeface="Calibri"/>
              </a:rPr>
              <a:t>25,000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→</a:t>
            </a:r>
            <a:r>
              <a:rPr dirty="0" sz="12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one-</a:t>
            </a:r>
            <a:r>
              <a:rPr dirty="0" sz="1200" spc="-10">
                <a:solidFill>
                  <a:srgbClr val="494338"/>
                </a:solidFill>
                <a:latin typeface="Calibri"/>
                <a:cs typeface="Calibri"/>
              </a:rPr>
              <a:t>state</a:t>
            </a:r>
            <a:r>
              <a:rPr dirty="0" sz="12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94338"/>
                </a:solidFill>
                <a:latin typeface="Calibri"/>
                <a:cs typeface="Calibri"/>
              </a:rPr>
              <a:t>plan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3190113"/>
            <a:ext cx="10922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53</a:t>
            </a:r>
            <a:r>
              <a:rPr dirty="0" sz="2100" spc="-2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6473" y="3294380"/>
            <a:ext cx="110998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already</a:t>
            </a:r>
            <a:r>
              <a:rPr dirty="0" sz="1450" spc="-6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export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3269" y="3190113"/>
            <a:ext cx="10922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26</a:t>
            </a:r>
            <a:r>
              <a:rPr dirty="0" sz="2100" spc="-2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34908" y="3267836"/>
            <a:ext cx="1467485" cy="417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cannot</a:t>
            </a:r>
            <a:r>
              <a:rPr dirty="0" sz="13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quote</a:t>
            </a:r>
            <a:r>
              <a:rPr dirty="0" sz="1350" spc="-5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CIF</a:t>
            </a:r>
            <a:r>
              <a:rPr dirty="0" sz="1350" spc="-25">
                <a:solidFill>
                  <a:srgbClr val="25211C"/>
                </a:solidFill>
                <a:latin typeface="Calibri"/>
                <a:cs typeface="Calibri"/>
              </a:rPr>
              <a:t> yet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→</a:t>
            </a:r>
            <a:r>
              <a:rPr dirty="0" sz="12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Session</a:t>
            </a:r>
            <a:r>
              <a:rPr dirty="0" sz="12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5</a:t>
            </a:r>
            <a:r>
              <a:rPr dirty="0" sz="12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builds</a:t>
            </a:r>
            <a:r>
              <a:rPr dirty="0" sz="12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94338"/>
                </a:solidFill>
                <a:latin typeface="Calibri"/>
                <a:cs typeface="Calibri"/>
              </a:rPr>
              <a:t>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259" y="4031360"/>
            <a:ext cx="10922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r>
              <a:rPr dirty="0" sz="2100" spc="-2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76473" y="4135882"/>
            <a:ext cx="139890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can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fill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a</a:t>
            </a:r>
            <a:r>
              <a:rPr dirty="0" sz="14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container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3269" y="4031360"/>
            <a:ext cx="10922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13</a:t>
            </a:r>
            <a:r>
              <a:rPr dirty="0" sz="2100" spc="-2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34908" y="4109084"/>
            <a:ext cx="2061845" cy="417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cannot</a:t>
            </a:r>
            <a:r>
              <a:rPr dirty="0" sz="13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give</a:t>
            </a:r>
            <a:r>
              <a:rPr dirty="0" sz="13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5211C"/>
                </a:solidFill>
                <a:latin typeface="Calibri"/>
                <a:cs typeface="Calibri"/>
              </a:rPr>
              <a:t>45-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90</a:t>
            </a:r>
            <a:r>
              <a:rPr dirty="0" sz="1350" spc="-4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days</a:t>
            </a:r>
            <a:r>
              <a:rPr dirty="0" sz="13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5211C"/>
                </a:solidFill>
                <a:latin typeface="Calibri"/>
                <a:cs typeface="Calibri"/>
              </a:rPr>
              <a:t>credit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→</a:t>
            </a:r>
            <a:r>
              <a:rPr dirty="0" sz="120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we </a:t>
            </a:r>
            <a:r>
              <a:rPr dirty="0" sz="1200" spc="-10">
                <a:solidFill>
                  <a:srgbClr val="494338"/>
                </a:solidFill>
                <a:latin typeface="Calibri"/>
                <a:cs typeface="Calibri"/>
              </a:rPr>
              <a:t>negotiate</a:t>
            </a:r>
            <a:r>
              <a:rPr dirty="0" sz="12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4338"/>
                </a:solidFill>
                <a:latin typeface="Calibri"/>
                <a:cs typeface="Calibri"/>
              </a:rPr>
              <a:t>terms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259" y="4872990"/>
            <a:ext cx="10922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36</a:t>
            </a:r>
            <a:r>
              <a:rPr dirty="0" sz="2100" spc="-2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6473" y="4976825"/>
            <a:ext cx="195326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owners</a:t>
            </a:r>
            <a:r>
              <a:rPr dirty="0" sz="1450" spc="-7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can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25211C"/>
                </a:solidFill>
                <a:latin typeface="Calibri"/>
                <a:cs typeface="Calibri"/>
              </a:rPr>
              <a:t>travel</a:t>
            </a:r>
            <a:r>
              <a:rPr dirty="0" sz="1450" spc="-4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25211C"/>
                </a:solidFill>
                <a:latin typeface="Calibri"/>
                <a:cs typeface="Calibri"/>
              </a:rPr>
              <a:t>to</a:t>
            </a:r>
            <a:r>
              <a:rPr dirty="0" sz="14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25211C"/>
                </a:solidFill>
                <a:latin typeface="Calibri"/>
                <a:cs typeface="Calibri"/>
              </a:rPr>
              <a:t>India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89320" y="1828800"/>
            <a:ext cx="0" cy="3749040"/>
          </a:xfrm>
          <a:custGeom>
            <a:avLst/>
            <a:gdLst/>
            <a:ahLst/>
            <a:cxnLst/>
            <a:rect l="l" t="t" r="r" b="b"/>
            <a:pathLst>
              <a:path w="0" h="3749040">
                <a:moveTo>
                  <a:pt x="0" y="0"/>
                </a:moveTo>
                <a:lnTo>
                  <a:pt x="0" y="374904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343269" y="4872990"/>
            <a:ext cx="928369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5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>
                <a:solidFill>
                  <a:srgbClr val="9F7D45"/>
                </a:solidFill>
                <a:latin typeface="Bookman Old Style"/>
                <a:cs typeface="Bookman Old Style"/>
              </a:rPr>
              <a:t>of</a:t>
            </a:r>
            <a:r>
              <a:rPr dirty="0" sz="2100" spc="-10">
                <a:solidFill>
                  <a:srgbClr val="9F7D45"/>
                </a:solidFill>
                <a:latin typeface="Bookman Old Style"/>
                <a:cs typeface="Bookman Old Style"/>
              </a:rPr>
              <a:t> </a:t>
            </a:r>
            <a:r>
              <a:rPr dirty="0" sz="2100" spc="-25">
                <a:solidFill>
                  <a:srgbClr val="9F7D45"/>
                </a:solidFill>
                <a:latin typeface="Bookman Old Style"/>
                <a:cs typeface="Bookman Old Style"/>
              </a:rPr>
              <a:t>57</a:t>
            </a:r>
            <a:endParaRPr sz="21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34908" y="4950714"/>
            <a:ext cx="1930400" cy="417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25211C"/>
                </a:solidFill>
                <a:latin typeface="Calibri"/>
                <a:cs typeface="Calibri"/>
              </a:rPr>
              <a:t>materials</a:t>
            </a:r>
            <a:r>
              <a:rPr dirty="0" sz="1350" spc="-30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in</a:t>
            </a:r>
            <a:r>
              <a:rPr dirty="0" sz="1350" spc="-3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5211C"/>
                </a:solidFill>
                <a:latin typeface="Calibri"/>
                <a:cs typeface="Calibri"/>
              </a:rPr>
              <a:t>Spanish</a:t>
            </a:r>
            <a:r>
              <a:rPr dirty="0" sz="1350" spc="-25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25211C"/>
                </a:solidFill>
                <a:latin typeface="Calibri"/>
                <a:cs typeface="Calibri"/>
              </a:rPr>
              <a:t>only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→</a:t>
            </a:r>
            <a:r>
              <a:rPr dirty="0" sz="1200" spc="-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bilingual</a:t>
            </a:r>
            <a:r>
              <a:rPr dirty="0" sz="12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one-</a:t>
            </a:r>
            <a:r>
              <a:rPr dirty="0" sz="1200" spc="-25">
                <a:solidFill>
                  <a:srgbClr val="494338"/>
                </a:solidFill>
                <a:latin typeface="Calibri"/>
                <a:cs typeface="Calibri"/>
              </a:rPr>
              <a:t>pager,</a:t>
            </a:r>
            <a:r>
              <a:rPr dirty="0" sz="12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338"/>
                </a:solidFill>
                <a:latin typeface="Calibri"/>
                <a:cs typeface="Calibri"/>
              </a:rPr>
              <a:t>Phase </a:t>
            </a:r>
            <a:r>
              <a:rPr dirty="0" sz="1200" spc="-50">
                <a:solidFill>
                  <a:srgbClr val="49433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0259" y="5891276"/>
            <a:ext cx="44323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Numbers</a:t>
            </a:r>
            <a:r>
              <a:rPr dirty="0" sz="13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only,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never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names.</a:t>
            </a:r>
            <a:r>
              <a:rPr dirty="0" sz="13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own</a:t>
            </a:r>
            <a:r>
              <a:rPr dirty="0" sz="13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position</a:t>
            </a:r>
            <a:r>
              <a:rPr dirty="0" sz="13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is</a:t>
            </a:r>
            <a:r>
              <a:rPr dirty="0" sz="13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3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3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494338"/>
                </a:solidFill>
                <a:latin typeface="Calibri"/>
                <a:cs typeface="Calibri"/>
              </a:rPr>
              <a:t>briefing.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10756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 S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W E E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15"/>
              <a:t> </a:t>
            </a:r>
            <a:r>
              <a:rPr dirty="0"/>
              <a:t>reaches</a:t>
            </a:r>
            <a:r>
              <a:rPr dirty="0" spc="-15"/>
              <a:t> </a:t>
            </a:r>
            <a:r>
              <a:rPr dirty="0" spc="-25"/>
              <a:t>you</a:t>
            </a:r>
          </a:p>
        </p:txBody>
      </p:sp>
      <p:sp>
        <p:nvSpPr>
          <p:cNvPr id="4" name="object 4"/>
          <p:cNvSpPr/>
          <p:nvPr/>
        </p:nvSpPr>
        <p:spPr>
          <a:xfrm>
            <a:off x="822960" y="1874520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5">
                <a:moveTo>
                  <a:pt x="283464" y="0"/>
                </a:moveTo>
                <a:lnTo>
                  <a:pt x="237484" y="3709"/>
                </a:lnTo>
                <a:lnTo>
                  <a:pt x="193867" y="14447"/>
                </a:lnTo>
                <a:lnTo>
                  <a:pt x="153195" y="31632"/>
                </a:lnTo>
                <a:lnTo>
                  <a:pt x="116053" y="54681"/>
                </a:lnTo>
                <a:lnTo>
                  <a:pt x="83024" y="83010"/>
                </a:lnTo>
                <a:lnTo>
                  <a:pt x="54692" y="116037"/>
                </a:lnTo>
                <a:lnTo>
                  <a:pt x="31639" y="153179"/>
                </a:lnTo>
                <a:lnTo>
                  <a:pt x="14451" y="193852"/>
                </a:lnTo>
                <a:lnTo>
                  <a:pt x="3710" y="237475"/>
                </a:lnTo>
                <a:lnTo>
                  <a:pt x="0" y="283463"/>
                </a:lnTo>
                <a:lnTo>
                  <a:pt x="3710" y="329452"/>
                </a:lnTo>
                <a:lnTo>
                  <a:pt x="14451" y="373075"/>
                </a:lnTo>
                <a:lnTo>
                  <a:pt x="31639" y="413748"/>
                </a:lnTo>
                <a:lnTo>
                  <a:pt x="54692" y="450890"/>
                </a:lnTo>
                <a:lnTo>
                  <a:pt x="83024" y="483917"/>
                </a:lnTo>
                <a:lnTo>
                  <a:pt x="116053" y="512246"/>
                </a:lnTo>
                <a:lnTo>
                  <a:pt x="153195" y="535295"/>
                </a:lnTo>
                <a:lnTo>
                  <a:pt x="193867" y="552480"/>
                </a:lnTo>
                <a:lnTo>
                  <a:pt x="237484" y="563218"/>
                </a:lnTo>
                <a:lnTo>
                  <a:pt x="283464" y="566927"/>
                </a:lnTo>
                <a:lnTo>
                  <a:pt x="329443" y="563218"/>
                </a:lnTo>
                <a:lnTo>
                  <a:pt x="373060" y="552480"/>
                </a:lnTo>
                <a:lnTo>
                  <a:pt x="413732" y="535295"/>
                </a:lnTo>
                <a:lnTo>
                  <a:pt x="450874" y="512246"/>
                </a:lnTo>
                <a:lnTo>
                  <a:pt x="483903" y="483917"/>
                </a:lnTo>
                <a:lnTo>
                  <a:pt x="512235" y="450890"/>
                </a:lnTo>
                <a:lnTo>
                  <a:pt x="535288" y="413748"/>
                </a:lnTo>
                <a:lnTo>
                  <a:pt x="552476" y="373075"/>
                </a:lnTo>
                <a:lnTo>
                  <a:pt x="563217" y="329452"/>
                </a:lnTo>
                <a:lnTo>
                  <a:pt x="566928" y="283463"/>
                </a:lnTo>
                <a:lnTo>
                  <a:pt x="563217" y="237475"/>
                </a:lnTo>
                <a:lnTo>
                  <a:pt x="552476" y="193852"/>
                </a:lnTo>
                <a:lnTo>
                  <a:pt x="535288" y="153179"/>
                </a:lnTo>
                <a:lnTo>
                  <a:pt x="512235" y="116037"/>
                </a:lnTo>
                <a:lnTo>
                  <a:pt x="483903" y="83010"/>
                </a:lnTo>
                <a:lnTo>
                  <a:pt x="450874" y="54681"/>
                </a:lnTo>
                <a:lnTo>
                  <a:pt x="413732" y="31632"/>
                </a:lnTo>
                <a:lnTo>
                  <a:pt x="373060" y="14447"/>
                </a:lnTo>
                <a:lnTo>
                  <a:pt x="329443" y="3709"/>
                </a:lnTo>
                <a:lnTo>
                  <a:pt x="28346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4780" y="1978279"/>
            <a:ext cx="1847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 b="1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3473" y="1994075"/>
            <a:ext cx="6501130" cy="6915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Your</a:t>
            </a:r>
            <a:r>
              <a:rPr dirty="0" sz="180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India</a:t>
            </a:r>
            <a:r>
              <a:rPr dirty="0" sz="1800" spc="-4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Opportunity</a:t>
            </a:r>
            <a:r>
              <a:rPr dirty="0" sz="180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 spc="-10">
                <a:solidFill>
                  <a:srgbClr val="6D552F"/>
                </a:solidFill>
                <a:latin typeface="Bookman Old Style"/>
                <a:cs typeface="Bookman Old Style"/>
              </a:rPr>
              <a:t>Briefing</a:t>
            </a:r>
            <a:endParaRPr sz="1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document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about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house: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ladder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position,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score,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fix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list,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first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states,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price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corridor.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4480" y="2971800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2960" y="3172967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4">
                <a:moveTo>
                  <a:pt x="283464" y="0"/>
                </a:moveTo>
                <a:lnTo>
                  <a:pt x="237484" y="3709"/>
                </a:lnTo>
                <a:lnTo>
                  <a:pt x="193867" y="14447"/>
                </a:lnTo>
                <a:lnTo>
                  <a:pt x="153195" y="31632"/>
                </a:lnTo>
                <a:lnTo>
                  <a:pt x="116053" y="54681"/>
                </a:lnTo>
                <a:lnTo>
                  <a:pt x="83024" y="83010"/>
                </a:lnTo>
                <a:lnTo>
                  <a:pt x="54692" y="116037"/>
                </a:lnTo>
                <a:lnTo>
                  <a:pt x="31639" y="153179"/>
                </a:lnTo>
                <a:lnTo>
                  <a:pt x="14451" y="193852"/>
                </a:lnTo>
                <a:lnTo>
                  <a:pt x="3710" y="237475"/>
                </a:lnTo>
                <a:lnTo>
                  <a:pt x="0" y="283464"/>
                </a:lnTo>
                <a:lnTo>
                  <a:pt x="3710" y="329452"/>
                </a:lnTo>
                <a:lnTo>
                  <a:pt x="14451" y="373075"/>
                </a:lnTo>
                <a:lnTo>
                  <a:pt x="31639" y="413748"/>
                </a:lnTo>
                <a:lnTo>
                  <a:pt x="54692" y="450890"/>
                </a:lnTo>
                <a:lnTo>
                  <a:pt x="83024" y="483917"/>
                </a:lnTo>
                <a:lnTo>
                  <a:pt x="116053" y="512246"/>
                </a:lnTo>
                <a:lnTo>
                  <a:pt x="153195" y="535295"/>
                </a:lnTo>
                <a:lnTo>
                  <a:pt x="193867" y="552480"/>
                </a:lnTo>
                <a:lnTo>
                  <a:pt x="237484" y="563218"/>
                </a:lnTo>
                <a:lnTo>
                  <a:pt x="283464" y="566928"/>
                </a:lnTo>
                <a:lnTo>
                  <a:pt x="329443" y="563218"/>
                </a:lnTo>
                <a:lnTo>
                  <a:pt x="373060" y="552480"/>
                </a:lnTo>
                <a:lnTo>
                  <a:pt x="413732" y="535295"/>
                </a:lnTo>
                <a:lnTo>
                  <a:pt x="450874" y="512246"/>
                </a:lnTo>
                <a:lnTo>
                  <a:pt x="483903" y="483917"/>
                </a:lnTo>
                <a:lnTo>
                  <a:pt x="512235" y="450890"/>
                </a:lnTo>
                <a:lnTo>
                  <a:pt x="535288" y="413748"/>
                </a:lnTo>
                <a:lnTo>
                  <a:pt x="552476" y="373075"/>
                </a:lnTo>
                <a:lnTo>
                  <a:pt x="563217" y="329452"/>
                </a:lnTo>
                <a:lnTo>
                  <a:pt x="566928" y="283464"/>
                </a:lnTo>
                <a:lnTo>
                  <a:pt x="563217" y="237475"/>
                </a:lnTo>
                <a:lnTo>
                  <a:pt x="552476" y="193852"/>
                </a:lnTo>
                <a:lnTo>
                  <a:pt x="535288" y="153179"/>
                </a:lnTo>
                <a:lnTo>
                  <a:pt x="512235" y="116037"/>
                </a:lnTo>
                <a:lnTo>
                  <a:pt x="483903" y="83010"/>
                </a:lnTo>
                <a:lnTo>
                  <a:pt x="450874" y="54681"/>
                </a:lnTo>
                <a:lnTo>
                  <a:pt x="413732" y="31632"/>
                </a:lnTo>
                <a:lnTo>
                  <a:pt x="373060" y="14447"/>
                </a:lnTo>
                <a:lnTo>
                  <a:pt x="329443" y="3709"/>
                </a:lnTo>
                <a:lnTo>
                  <a:pt x="28346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14780" y="3276980"/>
            <a:ext cx="1847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 b="1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3473" y="3292904"/>
            <a:ext cx="8616315" cy="6915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The</a:t>
            </a:r>
            <a:r>
              <a:rPr dirty="0" sz="1800" spc="-1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India</a:t>
            </a:r>
            <a:r>
              <a:rPr dirty="0" sz="1800" spc="-4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Files,</a:t>
            </a:r>
            <a:r>
              <a:rPr dirty="0" sz="1800" spc="-4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one</a:t>
            </a:r>
            <a:r>
              <a:rPr dirty="0" sz="1800" spc="-1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to</a:t>
            </a:r>
            <a:r>
              <a:rPr dirty="0" sz="1800" spc="-2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 spc="-25">
                <a:solidFill>
                  <a:srgbClr val="6D552F"/>
                </a:solidFill>
                <a:latin typeface="Bookman Old Style"/>
                <a:cs typeface="Bookman Old Style"/>
              </a:rPr>
              <a:t>ten</a:t>
            </a:r>
            <a:endParaRPr sz="1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In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inbox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with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today's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recording: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every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topic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session,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page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each.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first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reading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set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of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programme.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54480" y="4270247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22960" y="4471415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4">
                <a:moveTo>
                  <a:pt x="283464" y="0"/>
                </a:moveTo>
                <a:lnTo>
                  <a:pt x="237484" y="3709"/>
                </a:lnTo>
                <a:lnTo>
                  <a:pt x="193867" y="14447"/>
                </a:lnTo>
                <a:lnTo>
                  <a:pt x="153195" y="31632"/>
                </a:lnTo>
                <a:lnTo>
                  <a:pt x="116053" y="54681"/>
                </a:lnTo>
                <a:lnTo>
                  <a:pt x="83024" y="83010"/>
                </a:lnTo>
                <a:lnTo>
                  <a:pt x="54692" y="116037"/>
                </a:lnTo>
                <a:lnTo>
                  <a:pt x="31639" y="153179"/>
                </a:lnTo>
                <a:lnTo>
                  <a:pt x="14451" y="193852"/>
                </a:lnTo>
                <a:lnTo>
                  <a:pt x="3710" y="237475"/>
                </a:lnTo>
                <a:lnTo>
                  <a:pt x="0" y="283463"/>
                </a:lnTo>
                <a:lnTo>
                  <a:pt x="3710" y="329452"/>
                </a:lnTo>
                <a:lnTo>
                  <a:pt x="14451" y="373075"/>
                </a:lnTo>
                <a:lnTo>
                  <a:pt x="31639" y="413748"/>
                </a:lnTo>
                <a:lnTo>
                  <a:pt x="54692" y="450890"/>
                </a:lnTo>
                <a:lnTo>
                  <a:pt x="83024" y="483917"/>
                </a:lnTo>
                <a:lnTo>
                  <a:pt x="116053" y="512246"/>
                </a:lnTo>
                <a:lnTo>
                  <a:pt x="153195" y="535295"/>
                </a:lnTo>
                <a:lnTo>
                  <a:pt x="193867" y="552480"/>
                </a:lnTo>
                <a:lnTo>
                  <a:pt x="237484" y="563218"/>
                </a:lnTo>
                <a:lnTo>
                  <a:pt x="283464" y="566927"/>
                </a:lnTo>
                <a:lnTo>
                  <a:pt x="329443" y="563218"/>
                </a:lnTo>
                <a:lnTo>
                  <a:pt x="373060" y="552480"/>
                </a:lnTo>
                <a:lnTo>
                  <a:pt x="413732" y="535295"/>
                </a:lnTo>
                <a:lnTo>
                  <a:pt x="450874" y="512246"/>
                </a:lnTo>
                <a:lnTo>
                  <a:pt x="483903" y="483917"/>
                </a:lnTo>
                <a:lnTo>
                  <a:pt x="512235" y="450890"/>
                </a:lnTo>
                <a:lnTo>
                  <a:pt x="535288" y="413748"/>
                </a:lnTo>
                <a:lnTo>
                  <a:pt x="552476" y="373075"/>
                </a:lnTo>
                <a:lnTo>
                  <a:pt x="563217" y="329452"/>
                </a:lnTo>
                <a:lnTo>
                  <a:pt x="566928" y="283463"/>
                </a:lnTo>
                <a:lnTo>
                  <a:pt x="563217" y="237475"/>
                </a:lnTo>
                <a:lnTo>
                  <a:pt x="552476" y="193852"/>
                </a:lnTo>
                <a:lnTo>
                  <a:pt x="535288" y="153179"/>
                </a:lnTo>
                <a:lnTo>
                  <a:pt x="512235" y="116037"/>
                </a:lnTo>
                <a:lnTo>
                  <a:pt x="483903" y="83010"/>
                </a:lnTo>
                <a:lnTo>
                  <a:pt x="450874" y="54681"/>
                </a:lnTo>
                <a:lnTo>
                  <a:pt x="413732" y="31632"/>
                </a:lnTo>
                <a:lnTo>
                  <a:pt x="373060" y="14447"/>
                </a:lnTo>
                <a:lnTo>
                  <a:pt x="329443" y="3709"/>
                </a:lnTo>
                <a:lnTo>
                  <a:pt x="28346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14780" y="4575809"/>
            <a:ext cx="1847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 b="1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3473" y="4591606"/>
            <a:ext cx="4914265" cy="6915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Your</a:t>
            </a:r>
            <a:r>
              <a:rPr dirty="0" sz="1800" spc="-4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consultation,</a:t>
            </a:r>
            <a:r>
              <a:rPr dirty="0" sz="180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if</a:t>
            </a:r>
            <a:r>
              <a:rPr dirty="0" sz="1800" spc="-4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 spc="-10">
                <a:solidFill>
                  <a:srgbClr val="6D552F"/>
                </a:solidFill>
                <a:latin typeface="Bookman Old Style"/>
                <a:cs typeface="Bookman Old Style"/>
              </a:rPr>
              <a:t>pending</a:t>
            </a:r>
            <a:endParaRPr sz="1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Four</a:t>
            </a:r>
            <a:r>
              <a:rPr dirty="0" sz="14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houses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remain: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we</a:t>
            </a:r>
            <a:r>
              <a:rPr dirty="0" sz="1400" spc="-5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close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them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week,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before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scores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go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out.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27049"/>
            <a:ext cx="186817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B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 F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300" spc="15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 E 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300" spc="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15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Three</a:t>
            </a:r>
            <a:r>
              <a:rPr dirty="0" spc="-15"/>
              <a:t> </a:t>
            </a:r>
            <a:r>
              <a:rPr dirty="0"/>
              <a:t>things</a:t>
            </a:r>
            <a:r>
              <a:rPr dirty="0" spc="-30"/>
              <a:t> </a:t>
            </a:r>
            <a:r>
              <a:rPr dirty="0"/>
              <a:t>on</a:t>
            </a:r>
            <a:r>
              <a:rPr dirty="0" spc="-30"/>
              <a:t> </a:t>
            </a:r>
            <a:r>
              <a:rPr dirty="0"/>
              <a:t>your</a:t>
            </a:r>
            <a:r>
              <a:rPr dirty="0" spc="-25"/>
              <a:t> </a:t>
            </a:r>
            <a:r>
              <a:rPr dirty="0" spc="-20"/>
              <a:t>side</a:t>
            </a:r>
          </a:p>
        </p:txBody>
      </p:sp>
      <p:sp>
        <p:nvSpPr>
          <p:cNvPr id="4" name="object 4"/>
          <p:cNvSpPr/>
          <p:nvPr/>
        </p:nvSpPr>
        <p:spPr>
          <a:xfrm>
            <a:off x="822960" y="1874520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5">
                <a:moveTo>
                  <a:pt x="283464" y="0"/>
                </a:moveTo>
                <a:lnTo>
                  <a:pt x="237484" y="3709"/>
                </a:lnTo>
                <a:lnTo>
                  <a:pt x="193867" y="14447"/>
                </a:lnTo>
                <a:lnTo>
                  <a:pt x="153195" y="31632"/>
                </a:lnTo>
                <a:lnTo>
                  <a:pt x="116053" y="54681"/>
                </a:lnTo>
                <a:lnTo>
                  <a:pt x="83024" y="83010"/>
                </a:lnTo>
                <a:lnTo>
                  <a:pt x="54692" y="116037"/>
                </a:lnTo>
                <a:lnTo>
                  <a:pt x="31639" y="153179"/>
                </a:lnTo>
                <a:lnTo>
                  <a:pt x="14451" y="193852"/>
                </a:lnTo>
                <a:lnTo>
                  <a:pt x="3710" y="237475"/>
                </a:lnTo>
                <a:lnTo>
                  <a:pt x="0" y="283463"/>
                </a:lnTo>
                <a:lnTo>
                  <a:pt x="3710" y="329452"/>
                </a:lnTo>
                <a:lnTo>
                  <a:pt x="14451" y="373075"/>
                </a:lnTo>
                <a:lnTo>
                  <a:pt x="31639" y="413748"/>
                </a:lnTo>
                <a:lnTo>
                  <a:pt x="54692" y="450890"/>
                </a:lnTo>
                <a:lnTo>
                  <a:pt x="83024" y="483917"/>
                </a:lnTo>
                <a:lnTo>
                  <a:pt x="116053" y="512246"/>
                </a:lnTo>
                <a:lnTo>
                  <a:pt x="153195" y="535295"/>
                </a:lnTo>
                <a:lnTo>
                  <a:pt x="193867" y="552480"/>
                </a:lnTo>
                <a:lnTo>
                  <a:pt x="237484" y="563218"/>
                </a:lnTo>
                <a:lnTo>
                  <a:pt x="283464" y="566927"/>
                </a:lnTo>
                <a:lnTo>
                  <a:pt x="329443" y="563218"/>
                </a:lnTo>
                <a:lnTo>
                  <a:pt x="373060" y="552480"/>
                </a:lnTo>
                <a:lnTo>
                  <a:pt x="413732" y="535295"/>
                </a:lnTo>
                <a:lnTo>
                  <a:pt x="450874" y="512246"/>
                </a:lnTo>
                <a:lnTo>
                  <a:pt x="483903" y="483917"/>
                </a:lnTo>
                <a:lnTo>
                  <a:pt x="512235" y="450890"/>
                </a:lnTo>
                <a:lnTo>
                  <a:pt x="535288" y="413748"/>
                </a:lnTo>
                <a:lnTo>
                  <a:pt x="552476" y="373075"/>
                </a:lnTo>
                <a:lnTo>
                  <a:pt x="563217" y="329452"/>
                </a:lnTo>
                <a:lnTo>
                  <a:pt x="566928" y="283463"/>
                </a:lnTo>
                <a:lnTo>
                  <a:pt x="563217" y="237475"/>
                </a:lnTo>
                <a:lnTo>
                  <a:pt x="552476" y="193852"/>
                </a:lnTo>
                <a:lnTo>
                  <a:pt x="535288" y="153179"/>
                </a:lnTo>
                <a:lnTo>
                  <a:pt x="512235" y="116037"/>
                </a:lnTo>
                <a:lnTo>
                  <a:pt x="483903" y="83010"/>
                </a:lnTo>
                <a:lnTo>
                  <a:pt x="450874" y="54681"/>
                </a:lnTo>
                <a:lnTo>
                  <a:pt x="413732" y="31632"/>
                </a:lnTo>
                <a:lnTo>
                  <a:pt x="373060" y="14447"/>
                </a:lnTo>
                <a:lnTo>
                  <a:pt x="329443" y="3709"/>
                </a:lnTo>
                <a:lnTo>
                  <a:pt x="28346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4780" y="1978279"/>
            <a:ext cx="1847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 b="1">
                <a:solidFill>
                  <a:srgbClr val="FFFFFF"/>
                </a:solidFill>
                <a:latin typeface="Bookman Old Style"/>
                <a:cs typeface="Bookman Old Style"/>
              </a:rPr>
              <a:t>1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3473" y="1994075"/>
            <a:ext cx="4656455" cy="6915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Finish</a:t>
            </a:r>
            <a:r>
              <a:rPr dirty="0" sz="1800" spc="-4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the</a:t>
            </a:r>
            <a:r>
              <a:rPr dirty="0" sz="1800" spc="-1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 spc="-10">
                <a:solidFill>
                  <a:srgbClr val="6D552F"/>
                </a:solidFill>
                <a:latin typeface="Bookman Old Style"/>
                <a:cs typeface="Bookman Old Style"/>
              </a:rPr>
              <a:t>questionnaire</a:t>
            </a:r>
            <a:endParaRPr sz="1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Tonight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if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possible.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Ten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minutes;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it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feeds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your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score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briefing.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4480" y="2971800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2960" y="3172967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4">
                <a:moveTo>
                  <a:pt x="283464" y="0"/>
                </a:moveTo>
                <a:lnTo>
                  <a:pt x="237484" y="3709"/>
                </a:lnTo>
                <a:lnTo>
                  <a:pt x="193867" y="14447"/>
                </a:lnTo>
                <a:lnTo>
                  <a:pt x="153195" y="31632"/>
                </a:lnTo>
                <a:lnTo>
                  <a:pt x="116053" y="54681"/>
                </a:lnTo>
                <a:lnTo>
                  <a:pt x="83024" y="83010"/>
                </a:lnTo>
                <a:lnTo>
                  <a:pt x="54692" y="116037"/>
                </a:lnTo>
                <a:lnTo>
                  <a:pt x="31639" y="153179"/>
                </a:lnTo>
                <a:lnTo>
                  <a:pt x="14451" y="193852"/>
                </a:lnTo>
                <a:lnTo>
                  <a:pt x="3710" y="237475"/>
                </a:lnTo>
                <a:lnTo>
                  <a:pt x="0" y="283464"/>
                </a:lnTo>
                <a:lnTo>
                  <a:pt x="3710" y="329452"/>
                </a:lnTo>
                <a:lnTo>
                  <a:pt x="14451" y="373075"/>
                </a:lnTo>
                <a:lnTo>
                  <a:pt x="31639" y="413748"/>
                </a:lnTo>
                <a:lnTo>
                  <a:pt x="54692" y="450890"/>
                </a:lnTo>
                <a:lnTo>
                  <a:pt x="83024" y="483917"/>
                </a:lnTo>
                <a:lnTo>
                  <a:pt x="116053" y="512246"/>
                </a:lnTo>
                <a:lnTo>
                  <a:pt x="153195" y="535295"/>
                </a:lnTo>
                <a:lnTo>
                  <a:pt x="193867" y="552480"/>
                </a:lnTo>
                <a:lnTo>
                  <a:pt x="237484" y="563218"/>
                </a:lnTo>
                <a:lnTo>
                  <a:pt x="283464" y="566928"/>
                </a:lnTo>
                <a:lnTo>
                  <a:pt x="329443" y="563218"/>
                </a:lnTo>
                <a:lnTo>
                  <a:pt x="373060" y="552480"/>
                </a:lnTo>
                <a:lnTo>
                  <a:pt x="413732" y="535295"/>
                </a:lnTo>
                <a:lnTo>
                  <a:pt x="450874" y="512246"/>
                </a:lnTo>
                <a:lnTo>
                  <a:pt x="483903" y="483917"/>
                </a:lnTo>
                <a:lnTo>
                  <a:pt x="512235" y="450890"/>
                </a:lnTo>
                <a:lnTo>
                  <a:pt x="535288" y="413748"/>
                </a:lnTo>
                <a:lnTo>
                  <a:pt x="552476" y="373075"/>
                </a:lnTo>
                <a:lnTo>
                  <a:pt x="563217" y="329452"/>
                </a:lnTo>
                <a:lnTo>
                  <a:pt x="566928" y="283464"/>
                </a:lnTo>
                <a:lnTo>
                  <a:pt x="563217" y="237475"/>
                </a:lnTo>
                <a:lnTo>
                  <a:pt x="552476" y="193852"/>
                </a:lnTo>
                <a:lnTo>
                  <a:pt x="535288" y="153179"/>
                </a:lnTo>
                <a:lnTo>
                  <a:pt x="512235" y="116037"/>
                </a:lnTo>
                <a:lnTo>
                  <a:pt x="483903" y="83010"/>
                </a:lnTo>
                <a:lnTo>
                  <a:pt x="450874" y="54681"/>
                </a:lnTo>
                <a:lnTo>
                  <a:pt x="413732" y="31632"/>
                </a:lnTo>
                <a:lnTo>
                  <a:pt x="373060" y="14447"/>
                </a:lnTo>
                <a:lnTo>
                  <a:pt x="329443" y="3709"/>
                </a:lnTo>
                <a:lnTo>
                  <a:pt x="28346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14780" y="3276980"/>
            <a:ext cx="1847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 b="1">
                <a:solidFill>
                  <a:srgbClr val="FFFFFF"/>
                </a:solidFill>
                <a:latin typeface="Bookman Old Style"/>
                <a:cs typeface="Bookman Old Style"/>
              </a:rPr>
              <a:t>2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3473" y="3292904"/>
            <a:ext cx="3394075" cy="6915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Complete</a:t>
            </a:r>
            <a:r>
              <a:rPr dirty="0" sz="1800" spc="-7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your</a:t>
            </a:r>
            <a:r>
              <a:rPr dirty="0" sz="1800" spc="-5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 spc="-10">
                <a:solidFill>
                  <a:srgbClr val="6D552F"/>
                </a:solidFill>
                <a:latin typeface="Bookman Old Style"/>
                <a:cs typeface="Bookman Old Style"/>
              </a:rPr>
              <a:t>consultation</a:t>
            </a:r>
            <a:endParaRPr sz="1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four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pending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houses: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pick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slot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this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week.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54480" y="4270247"/>
            <a:ext cx="9812020" cy="0"/>
          </a:xfrm>
          <a:custGeom>
            <a:avLst/>
            <a:gdLst/>
            <a:ahLst/>
            <a:cxnLst/>
            <a:rect l="l" t="t" r="r" b="b"/>
            <a:pathLst>
              <a:path w="9812020" h="0">
                <a:moveTo>
                  <a:pt x="0" y="0"/>
                </a:moveTo>
                <a:lnTo>
                  <a:pt x="9811512" y="0"/>
                </a:lnTo>
              </a:path>
            </a:pathLst>
          </a:custGeom>
          <a:ln w="12192">
            <a:solidFill>
              <a:srgbClr val="D7CD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22960" y="4471415"/>
            <a:ext cx="567055" cy="567055"/>
          </a:xfrm>
          <a:custGeom>
            <a:avLst/>
            <a:gdLst/>
            <a:ahLst/>
            <a:cxnLst/>
            <a:rect l="l" t="t" r="r" b="b"/>
            <a:pathLst>
              <a:path w="567055" h="567054">
                <a:moveTo>
                  <a:pt x="283464" y="0"/>
                </a:moveTo>
                <a:lnTo>
                  <a:pt x="237484" y="3709"/>
                </a:lnTo>
                <a:lnTo>
                  <a:pt x="193867" y="14447"/>
                </a:lnTo>
                <a:lnTo>
                  <a:pt x="153195" y="31632"/>
                </a:lnTo>
                <a:lnTo>
                  <a:pt x="116053" y="54681"/>
                </a:lnTo>
                <a:lnTo>
                  <a:pt x="83024" y="83010"/>
                </a:lnTo>
                <a:lnTo>
                  <a:pt x="54692" y="116037"/>
                </a:lnTo>
                <a:lnTo>
                  <a:pt x="31639" y="153179"/>
                </a:lnTo>
                <a:lnTo>
                  <a:pt x="14451" y="193852"/>
                </a:lnTo>
                <a:lnTo>
                  <a:pt x="3710" y="237475"/>
                </a:lnTo>
                <a:lnTo>
                  <a:pt x="0" y="283463"/>
                </a:lnTo>
                <a:lnTo>
                  <a:pt x="3710" y="329452"/>
                </a:lnTo>
                <a:lnTo>
                  <a:pt x="14451" y="373075"/>
                </a:lnTo>
                <a:lnTo>
                  <a:pt x="31639" y="413748"/>
                </a:lnTo>
                <a:lnTo>
                  <a:pt x="54692" y="450890"/>
                </a:lnTo>
                <a:lnTo>
                  <a:pt x="83024" y="483917"/>
                </a:lnTo>
                <a:lnTo>
                  <a:pt x="116053" y="512246"/>
                </a:lnTo>
                <a:lnTo>
                  <a:pt x="153195" y="535295"/>
                </a:lnTo>
                <a:lnTo>
                  <a:pt x="193867" y="552480"/>
                </a:lnTo>
                <a:lnTo>
                  <a:pt x="237484" y="563218"/>
                </a:lnTo>
                <a:lnTo>
                  <a:pt x="283464" y="566927"/>
                </a:lnTo>
                <a:lnTo>
                  <a:pt x="329443" y="563218"/>
                </a:lnTo>
                <a:lnTo>
                  <a:pt x="373060" y="552480"/>
                </a:lnTo>
                <a:lnTo>
                  <a:pt x="413732" y="535295"/>
                </a:lnTo>
                <a:lnTo>
                  <a:pt x="450874" y="512246"/>
                </a:lnTo>
                <a:lnTo>
                  <a:pt x="483903" y="483917"/>
                </a:lnTo>
                <a:lnTo>
                  <a:pt x="512235" y="450890"/>
                </a:lnTo>
                <a:lnTo>
                  <a:pt x="535288" y="413748"/>
                </a:lnTo>
                <a:lnTo>
                  <a:pt x="552476" y="373075"/>
                </a:lnTo>
                <a:lnTo>
                  <a:pt x="563217" y="329452"/>
                </a:lnTo>
                <a:lnTo>
                  <a:pt x="566928" y="283463"/>
                </a:lnTo>
                <a:lnTo>
                  <a:pt x="563217" y="237475"/>
                </a:lnTo>
                <a:lnTo>
                  <a:pt x="552476" y="193852"/>
                </a:lnTo>
                <a:lnTo>
                  <a:pt x="535288" y="153179"/>
                </a:lnTo>
                <a:lnTo>
                  <a:pt x="512235" y="116037"/>
                </a:lnTo>
                <a:lnTo>
                  <a:pt x="483903" y="83010"/>
                </a:lnTo>
                <a:lnTo>
                  <a:pt x="450874" y="54681"/>
                </a:lnTo>
                <a:lnTo>
                  <a:pt x="413732" y="31632"/>
                </a:lnTo>
                <a:lnTo>
                  <a:pt x="373060" y="14447"/>
                </a:lnTo>
                <a:lnTo>
                  <a:pt x="329443" y="3709"/>
                </a:lnTo>
                <a:lnTo>
                  <a:pt x="283464" y="0"/>
                </a:lnTo>
                <a:close/>
              </a:path>
            </a:pathLst>
          </a:custGeom>
          <a:solidFill>
            <a:srgbClr val="8A6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14780" y="4575809"/>
            <a:ext cx="1847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0" b="1">
                <a:solidFill>
                  <a:srgbClr val="FFFFFF"/>
                </a:solidFill>
                <a:latin typeface="Bookman Old Style"/>
                <a:cs typeface="Bookman Old Style"/>
              </a:rPr>
              <a:t>3</a:t>
            </a:r>
            <a:endParaRPr sz="19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3473" y="4591606"/>
            <a:ext cx="9453245" cy="6915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Start</a:t>
            </a:r>
            <a:r>
              <a:rPr dirty="0" sz="1800" spc="-2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your</a:t>
            </a:r>
            <a:r>
              <a:rPr dirty="0" sz="1800" spc="-30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>
                <a:solidFill>
                  <a:srgbClr val="6D552F"/>
                </a:solidFill>
                <a:latin typeface="Bookman Old Style"/>
                <a:cs typeface="Bookman Old Style"/>
              </a:rPr>
              <a:t>document</a:t>
            </a:r>
            <a:r>
              <a:rPr dirty="0" sz="1800" spc="-45">
                <a:solidFill>
                  <a:srgbClr val="6D552F"/>
                </a:solidFill>
                <a:latin typeface="Bookman Old Style"/>
                <a:cs typeface="Bookman Old Style"/>
              </a:rPr>
              <a:t> </a:t>
            </a:r>
            <a:r>
              <a:rPr dirty="0" sz="1800" spc="-10">
                <a:solidFill>
                  <a:srgbClr val="6D552F"/>
                </a:solidFill>
                <a:latin typeface="Bookman Old Style"/>
                <a:cs typeface="Bookman Old Style"/>
              </a:rPr>
              <a:t>folder</a:t>
            </a:r>
            <a:endParaRPr sz="18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CRT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94338"/>
                </a:solidFill>
                <a:latin typeface="Calibri"/>
                <a:cs typeface="Calibri"/>
              </a:rPr>
              <a:t>certificate,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NOM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label,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artwork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source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files,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one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CoA,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IMPI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papers.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Bring</a:t>
            </a:r>
            <a:r>
              <a:rPr dirty="0" sz="14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folder</a:t>
            </a:r>
            <a:r>
              <a:rPr dirty="0" sz="1400" spc="-4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Phase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2;</a:t>
            </a:r>
            <a:r>
              <a:rPr dirty="0" sz="140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Session</a:t>
            </a:r>
            <a:r>
              <a:rPr dirty="0" sz="1400" spc="-5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3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starts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working</a:t>
            </a:r>
            <a:r>
              <a:rPr dirty="0" sz="140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94338"/>
                </a:solidFill>
                <a:latin typeface="Calibri"/>
                <a:cs typeface="Calibri"/>
              </a:rPr>
              <a:t>with</a:t>
            </a:r>
            <a:r>
              <a:rPr dirty="0" sz="14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94338"/>
                </a:solidFill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0" y="5760720"/>
            <a:ext cx="10543540" cy="0"/>
          </a:xfrm>
          <a:custGeom>
            <a:avLst/>
            <a:gdLst/>
            <a:ahLst/>
            <a:cxnLst/>
            <a:rect l="l" t="t" r="r" b="b"/>
            <a:pathLst>
              <a:path w="10543540" h="0">
                <a:moveTo>
                  <a:pt x="0" y="0"/>
                </a:moveTo>
                <a:lnTo>
                  <a:pt x="10543032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10259" y="5946749"/>
            <a:ext cx="481330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Session</a:t>
            </a:r>
            <a:r>
              <a:rPr dirty="0" sz="1450" spc="-4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3</a:t>
            </a:r>
            <a:r>
              <a:rPr dirty="0" sz="1450" spc="30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450" spc="29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Compliance</a:t>
            </a:r>
            <a:r>
              <a:rPr dirty="0" sz="1450" spc="-2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&amp;</a:t>
            </a:r>
            <a:r>
              <a:rPr dirty="0" sz="1450" spc="-4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Licensing</a:t>
            </a:r>
            <a:r>
              <a:rPr dirty="0" sz="1450" spc="2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450" spc="30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8A6D3C"/>
                </a:solidFill>
                <a:latin typeface="Calibri"/>
                <a:cs typeface="Calibri"/>
              </a:rPr>
              <a:t>Wednesday</a:t>
            </a:r>
            <a:r>
              <a:rPr dirty="0" sz="1450" spc="-5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22</a:t>
            </a:r>
            <a:r>
              <a:rPr dirty="0" sz="145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8A6D3C"/>
                </a:solidFill>
                <a:latin typeface="Calibri"/>
                <a:cs typeface="Calibri"/>
              </a:rPr>
              <a:t>July</a:t>
            </a:r>
            <a:r>
              <a:rPr dirty="0" sz="1450" spc="-3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8A6D3C"/>
                </a:solidFill>
                <a:latin typeface="Calibri"/>
                <a:cs typeface="Calibri"/>
              </a:rPr>
              <a:t>2026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10259" y="527049"/>
            <a:ext cx="11576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300" spc="-1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H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300" spc="-1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K</a:t>
            </a:r>
            <a:r>
              <a:rPr dirty="0" sz="1300" spc="165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300" b="1">
                <a:solidFill>
                  <a:srgbClr val="8A6D3C"/>
                </a:solidFill>
                <a:latin typeface="Calibri"/>
                <a:cs typeface="Calibri"/>
              </a:rPr>
              <a:t>Y O</a:t>
            </a:r>
            <a:r>
              <a:rPr dirty="0" sz="1300" spc="-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8A6D3C"/>
                </a:solidFill>
                <a:latin typeface="Calibri"/>
                <a:cs typeface="Calibri"/>
              </a:rPr>
              <a:t>U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73683" y="1508251"/>
            <a:ext cx="4845050" cy="1189355"/>
          </a:xfrm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65"/>
              </a:spcBef>
            </a:pPr>
            <a:r>
              <a:rPr dirty="0" sz="3800"/>
              <a:t>See</a:t>
            </a:r>
            <a:r>
              <a:rPr dirty="0" sz="3800" spc="-15"/>
              <a:t> </a:t>
            </a:r>
            <a:r>
              <a:rPr dirty="0" sz="3800"/>
              <a:t>you</a:t>
            </a:r>
            <a:r>
              <a:rPr dirty="0" sz="3800" spc="-30"/>
              <a:t> </a:t>
            </a:r>
            <a:r>
              <a:rPr dirty="0" sz="3800" spc="-10"/>
              <a:t>Wednesday, </a:t>
            </a:r>
            <a:r>
              <a:rPr dirty="0" sz="3800"/>
              <a:t>22</a:t>
            </a:r>
            <a:r>
              <a:rPr dirty="0" sz="3800" spc="-55"/>
              <a:t> </a:t>
            </a:r>
            <a:r>
              <a:rPr dirty="0" sz="3800" spc="-10"/>
              <a:t>July.</a:t>
            </a:r>
            <a:endParaRPr sz="380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8159" y="457200"/>
            <a:ext cx="4053840" cy="42062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22960" y="3291840"/>
            <a:ext cx="2926080" cy="0"/>
          </a:xfrm>
          <a:custGeom>
            <a:avLst/>
            <a:gdLst/>
            <a:ahLst/>
            <a:cxnLst/>
            <a:rect l="l" t="t" r="r" b="b"/>
            <a:pathLst>
              <a:path w="2926079" h="0">
                <a:moveTo>
                  <a:pt x="0" y="0"/>
                </a:moveTo>
                <a:lnTo>
                  <a:pt x="2926079" y="0"/>
                </a:lnTo>
              </a:path>
            </a:pathLst>
          </a:custGeom>
          <a:ln w="15240">
            <a:solidFill>
              <a:srgbClr val="8A6D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10259" y="3612895"/>
            <a:ext cx="54756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Questions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494338"/>
                </a:solidFill>
                <a:latin typeface="Calibri"/>
                <a:cs typeface="Calibri"/>
              </a:rPr>
              <a:t>now,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or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any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time</a:t>
            </a:r>
            <a:r>
              <a:rPr dirty="0" sz="15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on</a:t>
            </a:r>
            <a:r>
              <a:rPr dirty="0" sz="1500" spc="-1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the</a:t>
            </a:r>
            <a:r>
              <a:rPr dirty="0" sz="150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group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and</a:t>
            </a:r>
            <a:r>
              <a:rPr dirty="0" sz="150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494338"/>
                </a:solidFill>
                <a:latin typeface="Calibri"/>
                <a:cs typeface="Calibri"/>
              </a:rPr>
              <a:t>at</a:t>
            </a:r>
            <a:r>
              <a:rPr dirty="0" sz="1500" spc="-2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  <a:hlinkClick r:id="rId3"/>
              </a:rPr>
              <a:t>ceo@mexicoindia.org</a:t>
            </a:r>
            <a:r>
              <a:rPr dirty="0" sz="1500" spc="-10">
                <a:solidFill>
                  <a:srgbClr val="494338"/>
                </a:solidFill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259" y="4398809"/>
            <a:ext cx="4991100" cy="95186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1500" b="1">
                <a:solidFill>
                  <a:srgbClr val="25211C"/>
                </a:solidFill>
                <a:latin typeface="Calibri"/>
                <a:cs typeface="Calibri"/>
              </a:rPr>
              <a:t>Ravi</a:t>
            </a:r>
            <a:r>
              <a:rPr dirty="0" sz="1500" spc="-3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25211C"/>
                </a:solidFill>
                <a:latin typeface="Calibri"/>
                <a:cs typeface="Calibri"/>
              </a:rPr>
              <a:t>K.</a:t>
            </a:r>
            <a:r>
              <a:rPr dirty="0" sz="1500" spc="-30" b="1">
                <a:solidFill>
                  <a:srgbClr val="25211C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25211C"/>
                </a:solidFill>
                <a:latin typeface="Calibri"/>
                <a:cs typeface="Calibri"/>
              </a:rPr>
              <a:t>Tiwari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Chief</a:t>
            </a:r>
            <a:r>
              <a:rPr dirty="0" sz="1150" spc="-3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Executive</a:t>
            </a:r>
            <a:r>
              <a:rPr dirty="0" sz="1150" spc="-2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Officer,</a:t>
            </a:r>
            <a:r>
              <a:rPr dirty="0" sz="11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México–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India</a:t>
            </a:r>
            <a:r>
              <a:rPr dirty="0" sz="1150" spc="-35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494338"/>
                </a:solidFill>
                <a:latin typeface="Calibri"/>
                <a:cs typeface="Calibri"/>
              </a:rPr>
              <a:t>Business</a:t>
            </a:r>
            <a:r>
              <a:rPr dirty="0" sz="1150" spc="-40">
                <a:solidFill>
                  <a:srgbClr val="49433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494338"/>
                </a:solidFill>
                <a:latin typeface="Calibri"/>
                <a:cs typeface="Calibri"/>
              </a:rPr>
              <a:t>Council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150">
                <a:solidFill>
                  <a:srgbClr val="8A6D3C"/>
                </a:solidFill>
                <a:latin typeface="Calibri"/>
                <a:cs typeface="Calibri"/>
                <a:hlinkClick r:id="rId3"/>
              </a:rPr>
              <a:t>ceo@mexicoindia.org</a:t>
            </a:r>
            <a:r>
              <a:rPr dirty="0" sz="1150" spc="440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150" spc="490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8A6D3C"/>
                </a:solidFill>
                <a:latin typeface="Calibri"/>
                <a:cs typeface="Calibri"/>
                <a:hlinkClick r:id="rId4"/>
              </a:rPr>
              <a:t>www.mexicoindia.org</a:t>
            </a:r>
            <a:r>
              <a:rPr dirty="0" sz="1150" spc="455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8A6D3C"/>
                </a:solidFill>
                <a:latin typeface="Calibri"/>
                <a:cs typeface="Calibri"/>
              </a:rPr>
              <a:t>·</a:t>
            </a:r>
            <a:r>
              <a:rPr dirty="0" sz="1150" spc="475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8A6D3C"/>
                </a:solidFill>
                <a:latin typeface="Calibri"/>
                <a:cs typeface="Calibri"/>
              </a:rPr>
              <a:t>linkedin.com/company/mibcorg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6004052"/>
            <a:ext cx="12382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600" spc="-7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600" spc="-8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S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C</a:t>
            </a:r>
            <a:r>
              <a:rPr dirty="0" sz="1600" spc="-8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V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600" spc="-7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spc="-50" b="1">
                <a:solidFill>
                  <a:srgbClr val="8A6D3C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7072" y="6004052"/>
            <a:ext cx="11639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C</a:t>
            </a:r>
            <a:r>
              <a:rPr dirty="0" sz="1600" spc="-7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60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60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E</a:t>
            </a:r>
            <a:r>
              <a:rPr dirty="0" sz="160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C</a:t>
            </a:r>
            <a:r>
              <a:rPr dirty="0" sz="1600" spc="-7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T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spc="-50" b="1">
                <a:solidFill>
                  <a:srgbClr val="8A6D3C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4834" y="6004052"/>
            <a:ext cx="191071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G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R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O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W</a:t>
            </a:r>
            <a:r>
              <a:rPr dirty="0" sz="1600" spc="114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600" spc="110" b="1">
                <a:solidFill>
                  <a:srgbClr val="8A6D3C"/>
                </a:solidFill>
                <a:latin typeface="Calibri"/>
                <a:cs typeface="Calibri"/>
              </a:rPr>
              <a:t> 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N</a:t>
            </a:r>
            <a:r>
              <a:rPr dirty="0" sz="1600" spc="-6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D</a:t>
            </a:r>
            <a:r>
              <a:rPr dirty="0" sz="1600" spc="-7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I</a:t>
            </a:r>
            <a:r>
              <a:rPr dirty="0" sz="1600" spc="-75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8A6D3C"/>
                </a:solidFill>
                <a:latin typeface="Calibri"/>
                <a:cs typeface="Calibri"/>
              </a:rPr>
              <a:t>A</a:t>
            </a:r>
            <a:r>
              <a:rPr dirty="0" sz="1600" spc="-60" b="1">
                <a:solidFill>
                  <a:srgbClr val="8A6D3C"/>
                </a:solidFill>
                <a:latin typeface="Calibri"/>
                <a:cs typeface="Calibri"/>
              </a:rPr>
              <a:t> </a:t>
            </a:r>
            <a:r>
              <a:rPr dirty="0" sz="1600" spc="-50" b="1">
                <a:solidFill>
                  <a:srgbClr val="8A6D3C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México–India Business Council</dc:creator>
  <dc:subject>PptxGenJS Presentation</dc:subject>
  <dc:title>Tequila Accelerator · Session 2</dc:title>
  <dcterms:created xsi:type="dcterms:W3CDTF">2026-07-18T07:47:33Z</dcterms:created>
  <dcterms:modified xsi:type="dcterms:W3CDTF">2026-07-18T07:47:33Z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2026-07-18T00:00:00Z</vt:filetime>
  </property>
  <property fmtid="{D5CDD505-2E9C-101B-9397-08002B2CF9AE}" pid="4" name="Creator">
    <vt:lpwstr>Microsoft® PowerPoint® 2013</vt:lpwstr>
  </property>
  <property fmtid="{D5CDD505-2E9C-101B-9397-08002B2CF9AE}" pid="5" name="LastSaved">
    <vt:filetime>2026-07-18T00:00:00Z</vt:filetime>
  </property>
  <property fmtid="{D5CDD505-2E9C-101B-9397-08002B2CF9AE}" pid="6" name="Producer">
    <vt:lpwstr>3-Heights(TM) PDF Security Shell 4.8.25.2 (http://www.pdf-tools.com)</vt:lpwstr>
  </property>
</Properties>
</file>